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sp>
      <p:sp>
        <p:nvSpPr>
          <p:cNvPr id="3" name="Shape 1"/>
          <p:cNvSpPr/>
          <p:nvPr/>
        </p:nvSpPr>
        <p:spPr>
          <a:xfrm>
            <a:off x="8778240" y="-1463040"/>
            <a:ext cx="5029200" cy="5029200"/>
          </a:xfrm>
          <a:prstGeom prst="ellipse">
            <a:avLst/>
          </a:prstGeom>
          <a:solidFill>
            <a:srgbClr val="0F3B5F"/>
          </a:solidFill>
          <a:ln/>
        </p:spPr>
      </p:sp>
      <p:sp>
        <p:nvSpPr>
          <p:cNvPr id="4" name="Shape 2"/>
          <p:cNvSpPr/>
          <p:nvPr/>
        </p:nvSpPr>
        <p:spPr>
          <a:xfrm>
            <a:off x="10058400" y="4023360"/>
            <a:ext cx="3840480" cy="3840480"/>
          </a:xfrm>
          <a:prstGeom prst="ellipse">
            <a:avLst/>
          </a:prstGeom>
          <a:solidFill>
            <a:srgbClr val="0E3555"/>
          </a:solidFill>
          <a:ln/>
        </p:spPr>
      </p:sp>
      <p:sp>
        <p:nvSpPr>
          <p:cNvPr id="5" name="Shape 3"/>
          <p:cNvSpPr/>
          <p:nvPr/>
        </p:nvSpPr>
        <p:spPr>
          <a:xfrm>
            <a:off x="-1280160" y="4754880"/>
            <a:ext cx="3291840" cy="3291840"/>
          </a:xfrm>
          <a:prstGeom prst="ellipse">
            <a:avLst/>
          </a:prstGeom>
          <a:solidFill>
            <a:srgbClr val="0F3B5F"/>
          </a:solidFill>
          <a:ln/>
        </p:spPr>
      </p:sp>
      <p:sp>
        <p:nvSpPr>
          <p:cNvPr id="6" name="Shape 4"/>
          <p:cNvSpPr/>
          <p:nvPr/>
        </p:nvSpPr>
        <p:spPr>
          <a:xfrm>
            <a:off x="640080" y="1234440"/>
            <a:ext cx="2331720" cy="384048"/>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640080" y="1234440"/>
            <a:ext cx="2331720" cy="384048"/>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HIRING PROJECT PRESENTATION</a:t>
            </a:r>
            <a:endParaRPr lang="en-US" sz="1100" dirty="0"/>
          </a:p>
        </p:txBody>
      </p:sp>
      <p:sp>
        <p:nvSpPr>
          <p:cNvPr id="8" name="Text 6"/>
          <p:cNvSpPr/>
          <p:nvPr/>
        </p:nvSpPr>
        <p:spPr>
          <a:xfrm>
            <a:off x="594360" y="1874520"/>
            <a:ext cx="10058400" cy="91440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HaboConnect</a:t>
            </a:r>
            <a:endParaRPr lang="en-US" sz="5000" dirty="0"/>
          </a:p>
        </p:txBody>
      </p:sp>
      <p:sp>
        <p:nvSpPr>
          <p:cNvPr id="9" name="Text 7"/>
          <p:cNvSpPr/>
          <p:nvPr/>
        </p:nvSpPr>
        <p:spPr>
          <a:xfrm>
            <a:off x="621792" y="2697480"/>
            <a:ext cx="9601200" cy="548640"/>
          </a:xfrm>
          <a:prstGeom prst="rect">
            <a:avLst/>
          </a:prstGeom>
          <a:noFill/>
          <a:ln/>
        </p:spPr>
        <p:txBody>
          <a:bodyPr wrap="square" rtlCol="0" anchor="ctr"/>
          <a:lstStyle/>
          <a:p>
            <a:pPr indent="0" marL="0">
              <a:buNone/>
            </a:pPr>
            <a:r>
              <a:rPr lang="en-US" sz="1800" dirty="0">
                <a:solidFill>
                  <a:srgbClr val="BFD8E0"/>
                </a:solidFill>
                <a:latin typeface="Calibri" pitchFamily="34" charset="0"/>
                <a:ea typeface="Calibri" pitchFamily="34" charset="-122"/>
                <a:cs typeface="Calibri" pitchFamily="34" charset="-120"/>
              </a:rPr>
              <a:t>LSA Booking &amp; Payments Backend — Python Backend Developer Assessment</a:t>
            </a:r>
            <a:endParaRPr lang="en-US" sz="1800" dirty="0"/>
          </a:p>
        </p:txBody>
      </p:sp>
      <p:sp>
        <p:nvSpPr>
          <p:cNvPr id="10" name="Shape 8"/>
          <p:cNvSpPr/>
          <p:nvPr/>
        </p:nvSpPr>
        <p:spPr>
          <a:xfrm>
            <a:off x="621792" y="3429000"/>
            <a:ext cx="3291840" cy="0"/>
          </a:xfrm>
          <a:prstGeom prst="line">
            <a:avLst/>
          </a:prstGeom>
          <a:noFill/>
          <a:ln w="25400">
            <a:solidFill>
              <a:srgbClr val="00A896"/>
            </a:solidFill>
            <a:prstDash val="solid"/>
          </a:ln>
        </p:spPr>
      </p:sp>
      <p:sp>
        <p:nvSpPr>
          <p:cNvPr id="11" name="Text 9"/>
          <p:cNvSpPr/>
          <p:nvPr/>
        </p:nvSpPr>
        <p:spPr>
          <a:xfrm>
            <a:off x="621792" y="3749040"/>
            <a:ext cx="3657600" cy="274320"/>
          </a:xfrm>
          <a:prstGeom prst="rect">
            <a:avLst/>
          </a:prstGeom>
          <a:noFill/>
          <a:ln/>
        </p:spPr>
        <p:txBody>
          <a:bodyPr wrap="square" rtlCol="0" anchor="ctr"/>
          <a:lstStyle/>
          <a:p>
            <a:pPr indent="0" marL="0">
              <a:buNone/>
            </a:pPr>
            <a:r>
              <a:rPr lang="en-US" sz="1200" dirty="0">
                <a:solidFill>
                  <a:srgbClr val="8FB0BC"/>
                </a:solidFill>
                <a:latin typeface="Calibri" pitchFamily="34" charset="0"/>
                <a:ea typeface="Calibri" pitchFamily="34" charset="-122"/>
                <a:cs typeface="Calibri" pitchFamily="34" charset="-120"/>
              </a:rPr>
              <a:t>Prepared by</a:t>
            </a:r>
            <a:endParaRPr lang="en-US" sz="1200" dirty="0"/>
          </a:p>
        </p:txBody>
      </p:sp>
      <p:sp>
        <p:nvSpPr>
          <p:cNvPr id="12" name="Text 10"/>
          <p:cNvSpPr/>
          <p:nvPr/>
        </p:nvSpPr>
        <p:spPr>
          <a:xfrm>
            <a:off x="621792" y="4023360"/>
            <a:ext cx="548640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Sakshi Bari</a:t>
            </a:r>
            <a:endParaRPr lang="en-US" sz="2200" dirty="0"/>
          </a:p>
        </p:txBody>
      </p:sp>
      <p:sp>
        <p:nvSpPr>
          <p:cNvPr id="13" name="Text 11"/>
          <p:cNvSpPr/>
          <p:nvPr/>
        </p:nvSpPr>
        <p:spPr>
          <a:xfrm>
            <a:off x="621792" y="4526280"/>
            <a:ext cx="8686800" cy="365760"/>
          </a:xfrm>
          <a:prstGeom prst="rect">
            <a:avLst/>
          </a:prstGeom>
          <a:noFill/>
          <a:ln/>
        </p:spPr>
        <p:txBody>
          <a:bodyPr wrap="square" rtlCol="0" anchor="ctr"/>
          <a:lstStyle/>
          <a:p>
            <a:pPr indent="0" marL="0">
              <a:buNone/>
            </a:pPr>
            <a:r>
              <a:rPr lang="en-US" sz="1300" dirty="0">
                <a:solidFill>
                  <a:srgbClr val="BFD8E0"/>
                </a:solidFill>
                <a:latin typeface="Calibri" pitchFamily="34" charset="0"/>
                <a:ea typeface="Calibri" pitchFamily="34" charset="-122"/>
                <a:cs typeface="Calibri" pitchFamily="34" charset="-120"/>
              </a:rPr>
              <a:t>sakshibari04@gmail.com   |   github.com/Sakshi04bari/HaboConnect</a:t>
            </a:r>
            <a:endParaRPr lang="en-US" sz="1300" dirty="0"/>
          </a:p>
        </p:txBody>
      </p:sp>
      <p:sp>
        <p:nvSpPr>
          <p:cNvPr id="14" name="Text 12"/>
          <p:cNvSpPr/>
          <p:nvPr/>
        </p:nvSpPr>
        <p:spPr>
          <a:xfrm>
            <a:off x="621792" y="6080760"/>
            <a:ext cx="7315200" cy="320040"/>
          </a:xfrm>
          <a:prstGeom prst="rect">
            <a:avLst/>
          </a:prstGeom>
          <a:noFill/>
          <a:ln/>
        </p:spPr>
        <p:txBody>
          <a:bodyPr wrap="square" rtlCol="0" anchor="ctr"/>
          <a:lstStyle/>
          <a:p>
            <a:pPr indent="0" marL="0">
              <a:buNone/>
            </a:pPr>
            <a:r>
              <a:rPr lang="en-US" sz="1100" dirty="0">
                <a:solidFill>
                  <a:srgbClr val="7FA0AC"/>
                </a:solidFill>
                <a:latin typeface="Calibri" pitchFamily="34" charset="0"/>
                <a:ea typeface="Calibri" pitchFamily="34" charset="-122"/>
                <a:cs typeface="Calibri" pitchFamily="34" charset="-120"/>
              </a:rPr>
              <a:t>Habot 1.0  •  Project Interview Presentation  •  13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Agenda</a:t>
            </a:r>
            <a:endParaRPr lang="en-US" sz="3200" dirty="0"/>
          </a:p>
        </p:txBody>
      </p:sp>
      <p:sp>
        <p:nvSpPr>
          <p:cNvPr id="4" name="Text 2"/>
          <p:cNvSpPr/>
          <p:nvPr/>
        </p:nvSpPr>
        <p:spPr>
          <a:xfrm>
            <a:off x="548640" y="1417320"/>
            <a:ext cx="82296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Fifteen slides walking through problem, design, and delivered solution.</a:t>
            </a:r>
            <a:endParaRPr lang="en-US" sz="1300" dirty="0"/>
          </a:p>
        </p:txBody>
      </p:sp>
      <p:sp>
        <p:nvSpPr>
          <p:cNvPr id="5" name="Text 3"/>
          <p:cNvSpPr/>
          <p:nvPr/>
        </p:nvSpPr>
        <p:spPr>
          <a:xfrm>
            <a:off x="548640" y="2057400"/>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1051560" y="2057400"/>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Project context &amp; problem statement</a:t>
            </a:r>
            <a:endParaRPr lang="en-US" sz="1350" dirty="0"/>
          </a:p>
        </p:txBody>
      </p:sp>
      <p:sp>
        <p:nvSpPr>
          <p:cNvPr id="7" name="Shape 5"/>
          <p:cNvSpPr/>
          <p:nvPr/>
        </p:nvSpPr>
        <p:spPr>
          <a:xfrm>
            <a:off x="548640" y="2569464"/>
            <a:ext cx="5074920" cy="0"/>
          </a:xfrm>
          <a:prstGeom prst="line">
            <a:avLst/>
          </a:prstGeom>
          <a:noFill/>
          <a:ln w="9525">
            <a:solidFill>
              <a:srgbClr val="D7E6E4"/>
            </a:solidFill>
            <a:prstDash val="solid"/>
          </a:ln>
        </p:spPr>
      </p:sp>
      <p:sp>
        <p:nvSpPr>
          <p:cNvPr id="8" name="Text 6"/>
          <p:cNvSpPr/>
          <p:nvPr/>
        </p:nvSpPr>
        <p:spPr>
          <a:xfrm>
            <a:off x="548640" y="2624328"/>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02</a:t>
            </a:r>
            <a:endParaRPr lang="en-US" sz="1600" dirty="0"/>
          </a:p>
        </p:txBody>
      </p:sp>
      <p:sp>
        <p:nvSpPr>
          <p:cNvPr id="9" name="Text 7"/>
          <p:cNvSpPr/>
          <p:nvPr/>
        </p:nvSpPr>
        <p:spPr>
          <a:xfrm>
            <a:off x="1051560" y="2624328"/>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Objectives &amp; evaluation criteria</a:t>
            </a:r>
            <a:endParaRPr lang="en-US" sz="1350" dirty="0"/>
          </a:p>
        </p:txBody>
      </p:sp>
      <p:sp>
        <p:nvSpPr>
          <p:cNvPr id="10" name="Shape 8"/>
          <p:cNvSpPr/>
          <p:nvPr/>
        </p:nvSpPr>
        <p:spPr>
          <a:xfrm>
            <a:off x="548640" y="3136392"/>
            <a:ext cx="5074920" cy="0"/>
          </a:xfrm>
          <a:prstGeom prst="line">
            <a:avLst/>
          </a:prstGeom>
          <a:noFill/>
          <a:ln w="9525">
            <a:solidFill>
              <a:srgbClr val="D7E6E4"/>
            </a:solidFill>
            <a:prstDash val="solid"/>
          </a:ln>
        </p:spPr>
      </p:sp>
      <p:sp>
        <p:nvSpPr>
          <p:cNvPr id="11" name="Text 9"/>
          <p:cNvSpPr/>
          <p:nvPr/>
        </p:nvSpPr>
        <p:spPr>
          <a:xfrm>
            <a:off x="548640" y="3191256"/>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03</a:t>
            </a:r>
            <a:endParaRPr lang="en-US" sz="1600" dirty="0"/>
          </a:p>
        </p:txBody>
      </p:sp>
      <p:sp>
        <p:nvSpPr>
          <p:cNvPr id="12" name="Text 10"/>
          <p:cNvSpPr/>
          <p:nvPr/>
        </p:nvSpPr>
        <p:spPr>
          <a:xfrm>
            <a:off x="1051560" y="3191256"/>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System architecture (MVC / layered FastAPI)</a:t>
            </a:r>
            <a:endParaRPr lang="en-US" sz="1350" dirty="0"/>
          </a:p>
        </p:txBody>
      </p:sp>
      <p:sp>
        <p:nvSpPr>
          <p:cNvPr id="13" name="Shape 11"/>
          <p:cNvSpPr/>
          <p:nvPr/>
        </p:nvSpPr>
        <p:spPr>
          <a:xfrm>
            <a:off x="548640" y="3703320"/>
            <a:ext cx="5074920" cy="0"/>
          </a:xfrm>
          <a:prstGeom prst="line">
            <a:avLst/>
          </a:prstGeom>
          <a:noFill/>
          <a:ln w="9525">
            <a:solidFill>
              <a:srgbClr val="D7E6E4"/>
            </a:solidFill>
            <a:prstDash val="solid"/>
          </a:ln>
        </p:spPr>
      </p:sp>
      <p:sp>
        <p:nvSpPr>
          <p:cNvPr id="14" name="Text 12"/>
          <p:cNvSpPr/>
          <p:nvPr/>
        </p:nvSpPr>
        <p:spPr>
          <a:xfrm>
            <a:off x="548640" y="3758184"/>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04</a:t>
            </a:r>
            <a:endParaRPr lang="en-US" sz="1600" dirty="0"/>
          </a:p>
        </p:txBody>
      </p:sp>
      <p:sp>
        <p:nvSpPr>
          <p:cNvPr id="15" name="Text 13"/>
          <p:cNvSpPr/>
          <p:nvPr/>
        </p:nvSpPr>
        <p:spPr>
          <a:xfrm>
            <a:off x="1051560" y="3758184"/>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Database schema design (ERD)</a:t>
            </a:r>
            <a:endParaRPr lang="en-US" sz="1350" dirty="0"/>
          </a:p>
        </p:txBody>
      </p:sp>
      <p:sp>
        <p:nvSpPr>
          <p:cNvPr id="16" name="Shape 14"/>
          <p:cNvSpPr/>
          <p:nvPr/>
        </p:nvSpPr>
        <p:spPr>
          <a:xfrm>
            <a:off x="548640" y="4270248"/>
            <a:ext cx="5074920" cy="0"/>
          </a:xfrm>
          <a:prstGeom prst="line">
            <a:avLst/>
          </a:prstGeom>
          <a:noFill/>
          <a:ln w="9525">
            <a:solidFill>
              <a:srgbClr val="D7E6E4"/>
            </a:solidFill>
            <a:prstDash val="solid"/>
          </a:ln>
        </p:spPr>
      </p:sp>
      <p:sp>
        <p:nvSpPr>
          <p:cNvPr id="17" name="Text 15"/>
          <p:cNvSpPr/>
          <p:nvPr/>
        </p:nvSpPr>
        <p:spPr>
          <a:xfrm>
            <a:off x="548640" y="4325112"/>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05</a:t>
            </a:r>
            <a:endParaRPr lang="en-US" sz="1600" dirty="0"/>
          </a:p>
        </p:txBody>
      </p:sp>
      <p:sp>
        <p:nvSpPr>
          <p:cNvPr id="18" name="Text 16"/>
          <p:cNvSpPr/>
          <p:nvPr/>
        </p:nvSpPr>
        <p:spPr>
          <a:xfrm>
            <a:off x="1051560" y="4325112"/>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Relationships, indexing &amp; security</a:t>
            </a:r>
            <a:endParaRPr lang="en-US" sz="1350" dirty="0"/>
          </a:p>
        </p:txBody>
      </p:sp>
      <p:sp>
        <p:nvSpPr>
          <p:cNvPr id="19" name="Shape 17"/>
          <p:cNvSpPr/>
          <p:nvPr/>
        </p:nvSpPr>
        <p:spPr>
          <a:xfrm>
            <a:off x="548640" y="4837176"/>
            <a:ext cx="5074920" cy="0"/>
          </a:xfrm>
          <a:prstGeom prst="line">
            <a:avLst/>
          </a:prstGeom>
          <a:noFill/>
          <a:ln w="9525">
            <a:solidFill>
              <a:srgbClr val="D7E6E4"/>
            </a:solidFill>
            <a:prstDash val="solid"/>
          </a:ln>
        </p:spPr>
      </p:sp>
      <p:sp>
        <p:nvSpPr>
          <p:cNvPr id="20" name="Text 18"/>
          <p:cNvSpPr/>
          <p:nvPr/>
        </p:nvSpPr>
        <p:spPr>
          <a:xfrm>
            <a:off x="548640" y="4892040"/>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06</a:t>
            </a:r>
            <a:endParaRPr lang="en-US" sz="1600" dirty="0"/>
          </a:p>
        </p:txBody>
      </p:sp>
      <p:sp>
        <p:nvSpPr>
          <p:cNvPr id="21" name="Text 19"/>
          <p:cNvSpPr/>
          <p:nvPr/>
        </p:nvSpPr>
        <p:spPr>
          <a:xfrm>
            <a:off x="1051560" y="4892040"/>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LSA search API design</a:t>
            </a:r>
            <a:endParaRPr lang="en-US" sz="1350" dirty="0"/>
          </a:p>
        </p:txBody>
      </p:sp>
      <p:sp>
        <p:nvSpPr>
          <p:cNvPr id="22" name="Shape 20"/>
          <p:cNvSpPr/>
          <p:nvPr/>
        </p:nvSpPr>
        <p:spPr>
          <a:xfrm>
            <a:off x="548640" y="5404104"/>
            <a:ext cx="5074920" cy="0"/>
          </a:xfrm>
          <a:prstGeom prst="line">
            <a:avLst/>
          </a:prstGeom>
          <a:noFill/>
          <a:ln w="9525">
            <a:solidFill>
              <a:srgbClr val="D7E6E4"/>
            </a:solidFill>
            <a:prstDash val="solid"/>
          </a:ln>
        </p:spPr>
      </p:sp>
      <p:sp>
        <p:nvSpPr>
          <p:cNvPr id="23" name="Text 21"/>
          <p:cNvSpPr/>
          <p:nvPr/>
        </p:nvSpPr>
        <p:spPr>
          <a:xfrm>
            <a:off x="548640" y="5458968"/>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07</a:t>
            </a:r>
            <a:endParaRPr lang="en-US" sz="1600" dirty="0"/>
          </a:p>
        </p:txBody>
      </p:sp>
      <p:sp>
        <p:nvSpPr>
          <p:cNvPr id="24" name="Text 22"/>
          <p:cNvSpPr/>
          <p:nvPr/>
        </p:nvSpPr>
        <p:spPr>
          <a:xfrm>
            <a:off x="1051560" y="5458968"/>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Query optimization — solving N+1</a:t>
            </a:r>
            <a:endParaRPr lang="en-US" sz="1350" dirty="0"/>
          </a:p>
        </p:txBody>
      </p:sp>
      <p:sp>
        <p:nvSpPr>
          <p:cNvPr id="25" name="Text 23"/>
          <p:cNvSpPr/>
          <p:nvPr/>
        </p:nvSpPr>
        <p:spPr>
          <a:xfrm>
            <a:off x="6080760" y="2057400"/>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08</a:t>
            </a:r>
            <a:endParaRPr lang="en-US" sz="1600" dirty="0"/>
          </a:p>
        </p:txBody>
      </p:sp>
      <p:sp>
        <p:nvSpPr>
          <p:cNvPr id="26" name="Text 24"/>
          <p:cNvSpPr/>
          <p:nvPr/>
        </p:nvSpPr>
        <p:spPr>
          <a:xfrm>
            <a:off x="6583680" y="2057400"/>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Booking API &amp; input validation</a:t>
            </a:r>
            <a:endParaRPr lang="en-US" sz="1350" dirty="0"/>
          </a:p>
        </p:txBody>
      </p:sp>
      <p:sp>
        <p:nvSpPr>
          <p:cNvPr id="27" name="Shape 25"/>
          <p:cNvSpPr/>
          <p:nvPr/>
        </p:nvSpPr>
        <p:spPr>
          <a:xfrm>
            <a:off x="6080760" y="2569464"/>
            <a:ext cx="5074920" cy="0"/>
          </a:xfrm>
          <a:prstGeom prst="line">
            <a:avLst/>
          </a:prstGeom>
          <a:noFill/>
          <a:ln w="9525">
            <a:solidFill>
              <a:srgbClr val="D7E6E4"/>
            </a:solidFill>
            <a:prstDash val="solid"/>
          </a:ln>
        </p:spPr>
      </p:sp>
      <p:sp>
        <p:nvSpPr>
          <p:cNvPr id="28" name="Text 26"/>
          <p:cNvSpPr/>
          <p:nvPr/>
        </p:nvSpPr>
        <p:spPr>
          <a:xfrm>
            <a:off x="6080760" y="2624328"/>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09</a:t>
            </a:r>
            <a:endParaRPr lang="en-US" sz="1600" dirty="0"/>
          </a:p>
        </p:txBody>
      </p:sp>
      <p:sp>
        <p:nvSpPr>
          <p:cNvPr id="29" name="Text 27"/>
          <p:cNvSpPr/>
          <p:nvPr/>
        </p:nvSpPr>
        <p:spPr>
          <a:xfrm>
            <a:off x="6583680" y="2624328"/>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Double-booking prevention (Poka-Yoke)</a:t>
            </a:r>
            <a:endParaRPr lang="en-US" sz="1350" dirty="0"/>
          </a:p>
        </p:txBody>
      </p:sp>
      <p:sp>
        <p:nvSpPr>
          <p:cNvPr id="30" name="Shape 28"/>
          <p:cNvSpPr/>
          <p:nvPr/>
        </p:nvSpPr>
        <p:spPr>
          <a:xfrm>
            <a:off x="6080760" y="3136392"/>
            <a:ext cx="5074920" cy="0"/>
          </a:xfrm>
          <a:prstGeom prst="line">
            <a:avLst/>
          </a:prstGeom>
          <a:noFill/>
          <a:ln w="9525">
            <a:solidFill>
              <a:srgbClr val="D7E6E4"/>
            </a:solidFill>
            <a:prstDash val="solid"/>
          </a:ln>
        </p:spPr>
      </p:sp>
      <p:sp>
        <p:nvSpPr>
          <p:cNvPr id="31" name="Text 29"/>
          <p:cNvSpPr/>
          <p:nvPr/>
        </p:nvSpPr>
        <p:spPr>
          <a:xfrm>
            <a:off x="6080760" y="3191256"/>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10</a:t>
            </a:r>
            <a:endParaRPr lang="en-US" sz="1600" dirty="0"/>
          </a:p>
        </p:txBody>
      </p:sp>
      <p:sp>
        <p:nvSpPr>
          <p:cNvPr id="32" name="Text 30"/>
          <p:cNvSpPr/>
          <p:nvPr/>
        </p:nvSpPr>
        <p:spPr>
          <a:xfrm>
            <a:off x="6583680" y="3191256"/>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Payment webhook &amp; state machine</a:t>
            </a:r>
            <a:endParaRPr lang="en-US" sz="1350" dirty="0"/>
          </a:p>
        </p:txBody>
      </p:sp>
      <p:sp>
        <p:nvSpPr>
          <p:cNvPr id="33" name="Shape 31"/>
          <p:cNvSpPr/>
          <p:nvPr/>
        </p:nvSpPr>
        <p:spPr>
          <a:xfrm>
            <a:off x="6080760" y="3703320"/>
            <a:ext cx="5074920" cy="0"/>
          </a:xfrm>
          <a:prstGeom prst="line">
            <a:avLst/>
          </a:prstGeom>
          <a:noFill/>
          <a:ln w="9525">
            <a:solidFill>
              <a:srgbClr val="D7E6E4"/>
            </a:solidFill>
            <a:prstDash val="solid"/>
          </a:ln>
        </p:spPr>
      </p:sp>
      <p:sp>
        <p:nvSpPr>
          <p:cNvPr id="34" name="Text 32"/>
          <p:cNvSpPr/>
          <p:nvPr/>
        </p:nvSpPr>
        <p:spPr>
          <a:xfrm>
            <a:off x="6080760" y="3758184"/>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11</a:t>
            </a:r>
            <a:endParaRPr lang="en-US" sz="1600" dirty="0"/>
          </a:p>
        </p:txBody>
      </p:sp>
      <p:sp>
        <p:nvSpPr>
          <p:cNvPr id="35" name="Text 33"/>
          <p:cNvSpPr/>
          <p:nvPr/>
        </p:nvSpPr>
        <p:spPr>
          <a:xfrm>
            <a:off x="6583680" y="3758184"/>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Automated testing strategy</a:t>
            </a:r>
            <a:endParaRPr lang="en-US" sz="1350" dirty="0"/>
          </a:p>
        </p:txBody>
      </p:sp>
      <p:sp>
        <p:nvSpPr>
          <p:cNvPr id="36" name="Shape 34"/>
          <p:cNvSpPr/>
          <p:nvPr/>
        </p:nvSpPr>
        <p:spPr>
          <a:xfrm>
            <a:off x="6080760" y="4270248"/>
            <a:ext cx="5074920" cy="0"/>
          </a:xfrm>
          <a:prstGeom prst="line">
            <a:avLst/>
          </a:prstGeom>
          <a:noFill/>
          <a:ln w="9525">
            <a:solidFill>
              <a:srgbClr val="D7E6E4"/>
            </a:solidFill>
            <a:prstDash val="solid"/>
          </a:ln>
        </p:spPr>
      </p:sp>
      <p:sp>
        <p:nvSpPr>
          <p:cNvPr id="37" name="Text 35"/>
          <p:cNvSpPr/>
          <p:nvPr/>
        </p:nvSpPr>
        <p:spPr>
          <a:xfrm>
            <a:off x="6080760" y="4325112"/>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12</a:t>
            </a:r>
            <a:endParaRPr lang="en-US" sz="1600" dirty="0"/>
          </a:p>
        </p:txBody>
      </p:sp>
      <p:sp>
        <p:nvSpPr>
          <p:cNvPr id="38" name="Text 36"/>
          <p:cNvSpPr/>
          <p:nvPr/>
        </p:nvSpPr>
        <p:spPr>
          <a:xfrm>
            <a:off x="6583680" y="4325112"/>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CI/CD pipeline &amp; tech stack</a:t>
            </a:r>
            <a:endParaRPr lang="en-US" sz="1350" dirty="0"/>
          </a:p>
        </p:txBody>
      </p:sp>
      <p:sp>
        <p:nvSpPr>
          <p:cNvPr id="39" name="Shape 37"/>
          <p:cNvSpPr/>
          <p:nvPr/>
        </p:nvSpPr>
        <p:spPr>
          <a:xfrm>
            <a:off x="6080760" y="4837176"/>
            <a:ext cx="5074920" cy="0"/>
          </a:xfrm>
          <a:prstGeom prst="line">
            <a:avLst/>
          </a:prstGeom>
          <a:noFill/>
          <a:ln w="9525">
            <a:solidFill>
              <a:srgbClr val="D7E6E4"/>
            </a:solidFill>
            <a:prstDash val="solid"/>
          </a:ln>
        </p:spPr>
      </p:sp>
      <p:sp>
        <p:nvSpPr>
          <p:cNvPr id="40" name="Text 38"/>
          <p:cNvSpPr/>
          <p:nvPr/>
        </p:nvSpPr>
        <p:spPr>
          <a:xfrm>
            <a:off x="6080760" y="4892040"/>
            <a:ext cx="502920" cy="475488"/>
          </a:xfrm>
          <a:prstGeom prst="rect">
            <a:avLst/>
          </a:prstGeom>
          <a:noFill/>
          <a:ln/>
        </p:spPr>
        <p:txBody>
          <a:bodyPr wrap="square" rtlCol="0" anchor="ctr"/>
          <a:lstStyle/>
          <a:p>
            <a:pPr indent="0" marL="0">
              <a:buNone/>
            </a:pPr>
            <a:r>
              <a:rPr lang="en-US" sz="1600" b="1" dirty="0">
                <a:solidFill>
                  <a:srgbClr val="00A896"/>
                </a:solidFill>
                <a:latin typeface="Cambria" pitchFamily="34" charset="0"/>
                <a:ea typeface="Cambria" pitchFamily="34" charset="-122"/>
                <a:cs typeface="Cambria" pitchFamily="34" charset="-120"/>
              </a:rPr>
              <a:t>13</a:t>
            </a:r>
            <a:endParaRPr lang="en-US" sz="1600" dirty="0"/>
          </a:p>
        </p:txBody>
      </p:sp>
      <p:sp>
        <p:nvSpPr>
          <p:cNvPr id="41" name="Text 39"/>
          <p:cNvSpPr/>
          <p:nvPr/>
        </p:nvSpPr>
        <p:spPr>
          <a:xfrm>
            <a:off x="6583680" y="4892040"/>
            <a:ext cx="4526280" cy="475488"/>
          </a:xfrm>
          <a:prstGeom prst="rect">
            <a:avLst/>
          </a:prstGeom>
          <a:noFill/>
          <a:ln/>
        </p:spPr>
        <p:txBody>
          <a:bodyPr wrap="square" rtlCol="0" anchor="ctr"/>
          <a:lstStyle/>
          <a:p>
            <a:pPr indent="0" marL="0">
              <a:buNone/>
            </a:pPr>
            <a:r>
              <a:rPr lang="en-US" sz="1350" dirty="0">
                <a:solidFill>
                  <a:srgbClr val="16323A"/>
                </a:solidFill>
                <a:latin typeface="Calibri" pitchFamily="34" charset="0"/>
                <a:ea typeface="Calibri" pitchFamily="34" charset="-122"/>
                <a:cs typeface="Calibri" pitchFamily="34" charset="-120"/>
              </a:rPr>
              <a:t>Repository, docs &amp; next steps</a:t>
            </a:r>
            <a:endParaRPr lang="en-US" sz="1350" dirty="0"/>
          </a:p>
        </p:txBody>
      </p:sp>
      <p:sp>
        <p:nvSpPr>
          <p:cNvPr id="42" name="Shape 40"/>
          <p:cNvSpPr/>
          <p:nvPr/>
        </p:nvSpPr>
        <p:spPr>
          <a:xfrm>
            <a:off x="6080760" y="5404104"/>
            <a:ext cx="5074920" cy="0"/>
          </a:xfrm>
          <a:prstGeom prst="line">
            <a:avLst/>
          </a:prstGeom>
          <a:noFill/>
          <a:ln w="9525">
            <a:solidFill>
              <a:srgbClr val="D7E6E4"/>
            </a:solidFill>
            <a:prstDash val="solid"/>
          </a:ln>
        </p:spPr>
      </p:sp>
      <p:sp>
        <p:nvSpPr>
          <p:cNvPr id="43" name="Text 41"/>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44" name="Text 4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01 · CONTEXT</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The Problem HaboConnect Solves</a:t>
            </a:r>
            <a:endParaRPr lang="en-US" sz="3200" dirty="0"/>
          </a:p>
        </p:txBody>
      </p:sp>
      <p:sp>
        <p:nvSpPr>
          <p:cNvPr id="4" name="Text 2"/>
          <p:cNvSpPr/>
          <p:nvPr/>
        </p:nvSpPr>
        <p:spPr>
          <a:xfrm>
            <a:off x="548640" y="1508760"/>
            <a:ext cx="5943600" cy="1828800"/>
          </a:xfrm>
          <a:prstGeom prst="rect">
            <a:avLst/>
          </a:prstGeom>
          <a:noFill/>
          <a:ln/>
        </p:spPr>
        <p:txBody>
          <a:bodyPr wrap="square" rtlCol="0" anchor="ctr"/>
          <a:lstStyle/>
          <a:p>
            <a:pPr indent="0" marL="0">
              <a:lnSpc>
                <a:spcPct val="125000"/>
              </a:lnSpc>
              <a:buNone/>
            </a:pPr>
            <a:r>
              <a:rPr lang="en-US" sz="1400" dirty="0">
                <a:solidFill>
                  <a:srgbClr val="16323A"/>
                </a:solidFill>
                <a:latin typeface="Calibri" pitchFamily="34" charset="0"/>
                <a:ea typeface="Calibri" pitchFamily="34" charset="-122"/>
                <a:cs typeface="Calibri" pitchFamily="34" charset="-120"/>
              </a:rPr>
              <a:t>HabotConnect is a 100% remote platform that connects parents of children with learning difficulties to vetted Learning Support Assistants (LSAs). The backend must stay reliable under real operating conditions: fast LSA discovery, mistake-proof scheduling, and trustworthy payment state — without a human double-checking every booking.</a:t>
            </a:r>
            <a:endParaRPr lang="en-US" sz="1400" dirty="0"/>
          </a:p>
        </p:txBody>
      </p:sp>
      <p:sp>
        <p:nvSpPr>
          <p:cNvPr id="5" name="Shape 3"/>
          <p:cNvSpPr/>
          <p:nvPr/>
        </p:nvSpPr>
        <p:spPr>
          <a:xfrm>
            <a:off x="548640" y="3657600"/>
            <a:ext cx="5943600" cy="868680"/>
          </a:xfrm>
          <a:prstGeom prst="roundRect">
            <a:avLst>
              <a:gd name="adj" fmla="val 10526"/>
            </a:avLst>
          </a:prstGeom>
          <a:solidFill>
            <a:srgbClr val="EEF5F4"/>
          </a:solidFill>
          <a:ln w="12700">
            <a:solidFill>
              <a:srgbClr val="EEF5F4"/>
            </a:solidFill>
            <a:prstDash val="solid"/>
          </a:ln>
        </p:spPr>
      </p:sp>
      <p:sp>
        <p:nvSpPr>
          <p:cNvPr id="6" name="Shape 4"/>
          <p:cNvSpPr/>
          <p:nvPr/>
        </p:nvSpPr>
        <p:spPr>
          <a:xfrm>
            <a:off x="731520" y="3858768"/>
            <a:ext cx="457200" cy="457200"/>
          </a:xfrm>
          <a:prstGeom prst="ellipse">
            <a:avLst/>
          </a:prstGeom>
          <a:solidFill>
            <a:srgbClr val="028090"/>
          </a:solidFill>
          <a:ln/>
        </p:spPr>
      </p:sp>
      <p:sp>
        <p:nvSpPr>
          <p:cNvPr id="7" name="Text 5"/>
          <p:cNvSpPr/>
          <p:nvPr/>
        </p:nvSpPr>
        <p:spPr>
          <a:xfrm>
            <a:off x="731520" y="385876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371600" y="3749040"/>
            <a:ext cx="4937760" cy="320040"/>
          </a:xfrm>
          <a:prstGeom prst="rect">
            <a:avLst/>
          </a:prstGeom>
          <a:noFill/>
          <a:ln/>
        </p:spPr>
        <p:txBody>
          <a:bodyPr wrap="square" rtlCol="0" anchor="ctr"/>
          <a:lstStyle/>
          <a:p>
            <a:pPr indent="0" marL="0">
              <a:buNone/>
            </a:pPr>
            <a:r>
              <a:rPr lang="en-US" sz="1350" b="1" dirty="0">
                <a:solidFill>
                  <a:srgbClr val="16323A"/>
                </a:solidFill>
                <a:latin typeface="Calibri" pitchFamily="34" charset="0"/>
                <a:ea typeface="Calibri" pitchFamily="34" charset="-122"/>
                <a:cs typeface="Calibri" pitchFamily="34" charset="-120"/>
              </a:rPr>
              <a:t>Reality-mimicking brief</a:t>
            </a:r>
            <a:endParaRPr lang="en-US" sz="1350" dirty="0"/>
          </a:p>
        </p:txBody>
      </p:sp>
      <p:sp>
        <p:nvSpPr>
          <p:cNvPr id="9" name="Text 7"/>
          <p:cNvSpPr/>
          <p:nvPr/>
        </p:nvSpPr>
        <p:spPr>
          <a:xfrm>
            <a:off x="1371600" y="4041648"/>
            <a:ext cx="4937760" cy="411480"/>
          </a:xfrm>
          <a:prstGeom prst="rect">
            <a:avLst/>
          </a:prstGeom>
          <a:noFill/>
          <a:ln/>
        </p:spPr>
        <p:txBody>
          <a:bodyPr wrap="square" rtlCol="0" anchor="ctr"/>
          <a:lstStyle/>
          <a:p>
            <a:pPr indent="0" marL="0">
              <a:buNone/>
            </a:pPr>
            <a:r>
              <a:rPr lang="en-US" sz="1150" dirty="0">
                <a:solidFill>
                  <a:srgbClr val="51707A"/>
                </a:solidFill>
                <a:latin typeface="Calibri" pitchFamily="34" charset="0"/>
                <a:ea typeface="Calibri" pitchFamily="34" charset="-122"/>
                <a:cs typeface="Calibri" pitchFamily="34" charset="-120"/>
              </a:rPr>
              <a:t>Simulates the hardest day on the job, not a theory quiz.</a:t>
            </a:r>
            <a:endParaRPr lang="en-US" sz="1150" dirty="0"/>
          </a:p>
        </p:txBody>
      </p:sp>
      <p:sp>
        <p:nvSpPr>
          <p:cNvPr id="10" name="Shape 8"/>
          <p:cNvSpPr/>
          <p:nvPr/>
        </p:nvSpPr>
        <p:spPr>
          <a:xfrm>
            <a:off x="548640" y="4663440"/>
            <a:ext cx="5943600" cy="868680"/>
          </a:xfrm>
          <a:prstGeom prst="roundRect">
            <a:avLst>
              <a:gd name="adj" fmla="val 10526"/>
            </a:avLst>
          </a:prstGeom>
          <a:solidFill>
            <a:srgbClr val="EEF5F4"/>
          </a:solidFill>
          <a:ln w="12700">
            <a:solidFill>
              <a:srgbClr val="EEF5F4"/>
            </a:solidFill>
            <a:prstDash val="solid"/>
          </a:ln>
        </p:spPr>
      </p:sp>
      <p:sp>
        <p:nvSpPr>
          <p:cNvPr id="11" name="Shape 9"/>
          <p:cNvSpPr/>
          <p:nvPr/>
        </p:nvSpPr>
        <p:spPr>
          <a:xfrm>
            <a:off x="731520" y="4864608"/>
            <a:ext cx="457200" cy="457200"/>
          </a:xfrm>
          <a:prstGeom prst="ellipse">
            <a:avLst/>
          </a:prstGeom>
          <a:solidFill>
            <a:srgbClr val="028090"/>
          </a:solidFill>
          <a:ln/>
        </p:spPr>
      </p:sp>
      <p:sp>
        <p:nvSpPr>
          <p:cNvPr id="12" name="Text 10"/>
          <p:cNvSpPr/>
          <p:nvPr/>
        </p:nvSpPr>
        <p:spPr>
          <a:xfrm>
            <a:off x="731520" y="486460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371600" y="4754880"/>
            <a:ext cx="4937760" cy="320040"/>
          </a:xfrm>
          <a:prstGeom prst="rect">
            <a:avLst/>
          </a:prstGeom>
          <a:noFill/>
          <a:ln/>
        </p:spPr>
        <p:txBody>
          <a:bodyPr wrap="square" rtlCol="0" anchor="ctr"/>
          <a:lstStyle/>
          <a:p>
            <a:pPr indent="0" marL="0">
              <a:buNone/>
            </a:pPr>
            <a:r>
              <a:rPr lang="en-US" sz="1350" b="1" dirty="0">
                <a:solidFill>
                  <a:srgbClr val="16323A"/>
                </a:solidFill>
                <a:latin typeface="Calibri" pitchFamily="34" charset="0"/>
                <a:ea typeface="Calibri" pitchFamily="34" charset="-122"/>
                <a:cs typeface="Calibri" pitchFamily="34" charset="-120"/>
              </a:rPr>
              <a:t>Ambiguity by design</a:t>
            </a:r>
            <a:endParaRPr lang="en-US" sz="1350" dirty="0"/>
          </a:p>
        </p:txBody>
      </p:sp>
      <p:sp>
        <p:nvSpPr>
          <p:cNvPr id="14" name="Text 12"/>
          <p:cNvSpPr/>
          <p:nvPr/>
        </p:nvSpPr>
        <p:spPr>
          <a:xfrm>
            <a:off x="1371600" y="5047488"/>
            <a:ext cx="4937760" cy="411480"/>
          </a:xfrm>
          <a:prstGeom prst="rect">
            <a:avLst/>
          </a:prstGeom>
          <a:noFill/>
          <a:ln/>
        </p:spPr>
        <p:txBody>
          <a:bodyPr wrap="square" rtlCol="0" anchor="ctr"/>
          <a:lstStyle/>
          <a:p>
            <a:pPr indent="0" marL="0">
              <a:buNone/>
            </a:pPr>
            <a:r>
              <a:rPr lang="en-US" sz="1150" dirty="0">
                <a:solidFill>
                  <a:srgbClr val="51707A"/>
                </a:solidFill>
                <a:latin typeface="Calibri" pitchFamily="34" charset="0"/>
                <a:ea typeface="Calibri" pitchFamily="34" charset="-122"/>
                <a:cs typeface="Calibri" pitchFamily="34" charset="-120"/>
              </a:rPr>
              <a:t>Requirements are resolved independently, using documentation and judgement.</a:t>
            </a:r>
            <a:endParaRPr lang="en-US" sz="1150" dirty="0"/>
          </a:p>
        </p:txBody>
      </p:sp>
      <p:sp>
        <p:nvSpPr>
          <p:cNvPr id="15" name="Shape 13"/>
          <p:cNvSpPr/>
          <p:nvPr/>
        </p:nvSpPr>
        <p:spPr>
          <a:xfrm>
            <a:off x="548640" y="5669280"/>
            <a:ext cx="5943600" cy="868680"/>
          </a:xfrm>
          <a:prstGeom prst="roundRect">
            <a:avLst>
              <a:gd name="adj" fmla="val 10526"/>
            </a:avLst>
          </a:prstGeom>
          <a:solidFill>
            <a:srgbClr val="EEF5F4"/>
          </a:solidFill>
          <a:ln w="12700">
            <a:solidFill>
              <a:srgbClr val="EEF5F4"/>
            </a:solidFill>
            <a:prstDash val="solid"/>
          </a:ln>
        </p:spPr>
      </p:sp>
      <p:sp>
        <p:nvSpPr>
          <p:cNvPr id="16" name="Shape 14"/>
          <p:cNvSpPr/>
          <p:nvPr/>
        </p:nvSpPr>
        <p:spPr>
          <a:xfrm>
            <a:off x="731520" y="5870448"/>
            <a:ext cx="457200" cy="457200"/>
          </a:xfrm>
          <a:prstGeom prst="ellipse">
            <a:avLst/>
          </a:prstGeom>
          <a:solidFill>
            <a:srgbClr val="028090"/>
          </a:solidFill>
          <a:ln/>
        </p:spPr>
      </p:sp>
      <p:sp>
        <p:nvSpPr>
          <p:cNvPr id="17" name="Text 15"/>
          <p:cNvSpPr/>
          <p:nvPr/>
        </p:nvSpPr>
        <p:spPr>
          <a:xfrm>
            <a:off x="731520" y="587044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371600" y="5760720"/>
            <a:ext cx="4937760" cy="320040"/>
          </a:xfrm>
          <a:prstGeom prst="rect">
            <a:avLst/>
          </a:prstGeom>
          <a:noFill/>
          <a:ln/>
        </p:spPr>
        <p:txBody>
          <a:bodyPr wrap="square" rtlCol="0" anchor="ctr"/>
          <a:lstStyle/>
          <a:p>
            <a:pPr indent="0" marL="0">
              <a:buNone/>
            </a:pPr>
            <a:r>
              <a:rPr lang="en-US" sz="1350" b="1" dirty="0">
                <a:solidFill>
                  <a:srgbClr val="16323A"/>
                </a:solidFill>
                <a:latin typeface="Calibri" pitchFamily="34" charset="0"/>
                <a:ea typeface="Calibri" pitchFamily="34" charset="-122"/>
                <a:cs typeface="Calibri" pitchFamily="34" charset="-120"/>
              </a:rPr>
              <a:t>Poka-Yoke first</a:t>
            </a:r>
            <a:endParaRPr lang="en-US" sz="1350" dirty="0"/>
          </a:p>
        </p:txBody>
      </p:sp>
      <p:sp>
        <p:nvSpPr>
          <p:cNvPr id="19" name="Text 17"/>
          <p:cNvSpPr/>
          <p:nvPr/>
        </p:nvSpPr>
        <p:spPr>
          <a:xfrm>
            <a:off x="1371600" y="6053328"/>
            <a:ext cx="4937760" cy="411480"/>
          </a:xfrm>
          <a:prstGeom prst="rect">
            <a:avLst/>
          </a:prstGeom>
          <a:noFill/>
          <a:ln/>
        </p:spPr>
        <p:txBody>
          <a:bodyPr wrap="square" rtlCol="0" anchor="ctr"/>
          <a:lstStyle/>
          <a:p>
            <a:pPr indent="0" marL="0">
              <a:buNone/>
            </a:pPr>
            <a:r>
              <a:rPr lang="en-US" sz="1150" dirty="0">
                <a:solidFill>
                  <a:srgbClr val="51707A"/>
                </a:solidFill>
                <a:latin typeface="Calibri" pitchFamily="34" charset="0"/>
                <a:ea typeface="Calibri" pitchFamily="34" charset="-122"/>
                <a:cs typeface="Calibri" pitchFamily="34" charset="-120"/>
              </a:rPr>
              <a:t>Data integrity is enforced by system design, not by human memory.</a:t>
            </a:r>
            <a:endParaRPr lang="en-US" sz="1150" dirty="0"/>
          </a:p>
        </p:txBody>
      </p:sp>
      <p:sp>
        <p:nvSpPr>
          <p:cNvPr id="20" name="Shape 18"/>
          <p:cNvSpPr/>
          <p:nvPr/>
        </p:nvSpPr>
        <p:spPr>
          <a:xfrm>
            <a:off x="6949440" y="1463040"/>
            <a:ext cx="4709160" cy="4846320"/>
          </a:xfrm>
          <a:prstGeom prst="roundRect">
            <a:avLst>
              <a:gd name="adj" fmla="val 2718"/>
            </a:avLst>
          </a:prstGeom>
          <a:solidFill>
            <a:srgbClr val="0B2545"/>
          </a:solidFill>
          <a:ln w="12700">
            <a:solidFill>
              <a:srgbClr val="0B2545"/>
            </a:solidFill>
            <a:prstDash val="solid"/>
          </a:ln>
        </p:spPr>
      </p:sp>
      <p:sp>
        <p:nvSpPr>
          <p:cNvPr id="21" name="Text 19"/>
          <p:cNvSpPr/>
          <p:nvPr/>
        </p:nvSpPr>
        <p:spPr>
          <a:xfrm>
            <a:off x="7269480" y="1691640"/>
            <a:ext cx="4069080" cy="274320"/>
          </a:xfrm>
          <a:prstGeom prst="rect">
            <a:avLst/>
          </a:prstGeom>
          <a:noFill/>
          <a:ln/>
        </p:spPr>
        <p:txBody>
          <a:bodyPr wrap="square" rtlCol="0" anchor="ctr"/>
          <a:lstStyle/>
          <a:p>
            <a:pPr indent="0" marL="0">
              <a:buNone/>
            </a:pPr>
            <a:r>
              <a:rPr lang="en-US" sz="1100" b="1" spc="150" kern="0" dirty="0">
                <a:solidFill>
                  <a:srgbClr val="8FD3C8"/>
                </a:solidFill>
                <a:latin typeface="Calibri" pitchFamily="34" charset="0"/>
                <a:ea typeface="Calibri" pitchFamily="34" charset="-122"/>
                <a:cs typeface="Calibri" pitchFamily="34" charset="-120"/>
              </a:rPr>
              <a:t>PLATFORM FLOW</a:t>
            </a:r>
            <a:endParaRPr lang="en-US" sz="1100" dirty="0"/>
          </a:p>
        </p:txBody>
      </p:sp>
      <p:sp>
        <p:nvSpPr>
          <p:cNvPr id="22" name="Shape 20"/>
          <p:cNvSpPr/>
          <p:nvPr/>
        </p:nvSpPr>
        <p:spPr>
          <a:xfrm>
            <a:off x="7269480" y="2148840"/>
            <a:ext cx="384048" cy="384048"/>
          </a:xfrm>
          <a:prstGeom prst="ellipse">
            <a:avLst/>
          </a:prstGeom>
          <a:solidFill>
            <a:srgbClr val="00A896"/>
          </a:solidFill>
          <a:ln/>
        </p:spPr>
      </p:sp>
      <p:sp>
        <p:nvSpPr>
          <p:cNvPr id="23" name="Text 21"/>
          <p:cNvSpPr/>
          <p:nvPr/>
        </p:nvSpPr>
        <p:spPr>
          <a:xfrm>
            <a:off x="7269480" y="2148840"/>
            <a:ext cx="384048" cy="384048"/>
          </a:xfrm>
          <a:prstGeom prst="rect">
            <a:avLst/>
          </a:prstGeom>
          <a:noFill/>
          <a:ln/>
        </p:spPr>
        <p:txBody>
          <a:bodyPr wrap="square" rtlCol="0" anchor="ctr"/>
          <a:lstStyle/>
          <a:p>
            <a:pPr algn="ctr" indent="0" marL="0">
              <a:buNone/>
            </a:pPr>
            <a:r>
              <a:rPr lang="en-US" sz="1092" b="1" dirty="0">
                <a:solidFill>
                  <a:srgbClr val="0B2545"/>
                </a:solidFill>
                <a:latin typeface="Calibri" pitchFamily="34" charset="0"/>
                <a:ea typeface="Calibri" pitchFamily="34" charset="-122"/>
                <a:cs typeface="Calibri" pitchFamily="34" charset="-120"/>
              </a:rPr>
              <a:t>1</a:t>
            </a:r>
            <a:endParaRPr lang="en-US" sz="1092" dirty="0"/>
          </a:p>
        </p:txBody>
      </p:sp>
      <p:sp>
        <p:nvSpPr>
          <p:cNvPr id="24" name="Text 22"/>
          <p:cNvSpPr/>
          <p:nvPr/>
        </p:nvSpPr>
        <p:spPr>
          <a:xfrm>
            <a:off x="7772400" y="2121408"/>
            <a:ext cx="3520440" cy="43891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Parent searches for an LSA by skill &amp; time</a:t>
            </a:r>
            <a:endParaRPr lang="en-US" sz="1150" dirty="0"/>
          </a:p>
        </p:txBody>
      </p:sp>
      <p:sp>
        <p:nvSpPr>
          <p:cNvPr id="25" name="Shape 23"/>
          <p:cNvSpPr/>
          <p:nvPr/>
        </p:nvSpPr>
        <p:spPr>
          <a:xfrm>
            <a:off x="7461504" y="2532888"/>
            <a:ext cx="0" cy="292608"/>
          </a:xfrm>
          <a:prstGeom prst="line">
            <a:avLst/>
          </a:prstGeom>
          <a:noFill/>
          <a:ln w="19050">
            <a:solidFill>
              <a:srgbClr val="2C6E7A"/>
            </a:solidFill>
            <a:prstDash val="dash"/>
          </a:ln>
        </p:spPr>
      </p:sp>
      <p:sp>
        <p:nvSpPr>
          <p:cNvPr id="26" name="Shape 24"/>
          <p:cNvSpPr/>
          <p:nvPr/>
        </p:nvSpPr>
        <p:spPr>
          <a:xfrm>
            <a:off x="7269480" y="2834640"/>
            <a:ext cx="384048" cy="384048"/>
          </a:xfrm>
          <a:prstGeom prst="ellipse">
            <a:avLst/>
          </a:prstGeom>
          <a:solidFill>
            <a:srgbClr val="00A896"/>
          </a:solidFill>
          <a:ln/>
        </p:spPr>
      </p:sp>
      <p:sp>
        <p:nvSpPr>
          <p:cNvPr id="27" name="Text 25"/>
          <p:cNvSpPr/>
          <p:nvPr/>
        </p:nvSpPr>
        <p:spPr>
          <a:xfrm>
            <a:off x="7269480" y="2834640"/>
            <a:ext cx="384048" cy="384048"/>
          </a:xfrm>
          <a:prstGeom prst="rect">
            <a:avLst/>
          </a:prstGeom>
          <a:noFill/>
          <a:ln/>
        </p:spPr>
        <p:txBody>
          <a:bodyPr wrap="square" rtlCol="0" anchor="ctr"/>
          <a:lstStyle/>
          <a:p>
            <a:pPr algn="ctr" indent="0" marL="0">
              <a:buNone/>
            </a:pPr>
            <a:r>
              <a:rPr lang="en-US" sz="1092" b="1" dirty="0">
                <a:solidFill>
                  <a:srgbClr val="0B2545"/>
                </a:solidFill>
                <a:latin typeface="Calibri" pitchFamily="34" charset="0"/>
                <a:ea typeface="Calibri" pitchFamily="34" charset="-122"/>
                <a:cs typeface="Calibri" pitchFamily="34" charset="-120"/>
              </a:rPr>
              <a:t>2</a:t>
            </a:r>
            <a:endParaRPr lang="en-US" sz="1092" dirty="0"/>
          </a:p>
        </p:txBody>
      </p:sp>
      <p:sp>
        <p:nvSpPr>
          <p:cNvPr id="28" name="Text 26"/>
          <p:cNvSpPr/>
          <p:nvPr/>
        </p:nvSpPr>
        <p:spPr>
          <a:xfrm>
            <a:off x="7772400" y="2807208"/>
            <a:ext cx="3520440" cy="43891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Backend runs an optimized availability query</a:t>
            </a:r>
            <a:endParaRPr lang="en-US" sz="1150" dirty="0"/>
          </a:p>
        </p:txBody>
      </p:sp>
      <p:sp>
        <p:nvSpPr>
          <p:cNvPr id="29" name="Shape 27"/>
          <p:cNvSpPr/>
          <p:nvPr/>
        </p:nvSpPr>
        <p:spPr>
          <a:xfrm>
            <a:off x="7461504" y="3218688"/>
            <a:ext cx="0" cy="292608"/>
          </a:xfrm>
          <a:prstGeom prst="line">
            <a:avLst/>
          </a:prstGeom>
          <a:noFill/>
          <a:ln w="19050">
            <a:solidFill>
              <a:srgbClr val="2C6E7A"/>
            </a:solidFill>
            <a:prstDash val="dash"/>
          </a:ln>
        </p:spPr>
      </p:sp>
      <p:sp>
        <p:nvSpPr>
          <p:cNvPr id="30" name="Shape 28"/>
          <p:cNvSpPr/>
          <p:nvPr/>
        </p:nvSpPr>
        <p:spPr>
          <a:xfrm>
            <a:off x="7269480" y="3520440"/>
            <a:ext cx="384048" cy="384048"/>
          </a:xfrm>
          <a:prstGeom prst="ellipse">
            <a:avLst/>
          </a:prstGeom>
          <a:solidFill>
            <a:srgbClr val="00A896"/>
          </a:solidFill>
          <a:ln/>
        </p:spPr>
      </p:sp>
      <p:sp>
        <p:nvSpPr>
          <p:cNvPr id="31" name="Text 29"/>
          <p:cNvSpPr/>
          <p:nvPr/>
        </p:nvSpPr>
        <p:spPr>
          <a:xfrm>
            <a:off x="7269480" y="3520440"/>
            <a:ext cx="384048" cy="384048"/>
          </a:xfrm>
          <a:prstGeom prst="rect">
            <a:avLst/>
          </a:prstGeom>
          <a:noFill/>
          <a:ln/>
        </p:spPr>
        <p:txBody>
          <a:bodyPr wrap="square" rtlCol="0" anchor="ctr"/>
          <a:lstStyle/>
          <a:p>
            <a:pPr algn="ctr" indent="0" marL="0">
              <a:buNone/>
            </a:pPr>
            <a:r>
              <a:rPr lang="en-US" sz="1092" b="1" dirty="0">
                <a:solidFill>
                  <a:srgbClr val="0B2545"/>
                </a:solidFill>
                <a:latin typeface="Calibri" pitchFamily="34" charset="0"/>
                <a:ea typeface="Calibri" pitchFamily="34" charset="-122"/>
                <a:cs typeface="Calibri" pitchFamily="34" charset="-120"/>
              </a:rPr>
              <a:t>3</a:t>
            </a:r>
            <a:endParaRPr lang="en-US" sz="1092" dirty="0"/>
          </a:p>
        </p:txBody>
      </p:sp>
      <p:sp>
        <p:nvSpPr>
          <p:cNvPr id="32" name="Text 30"/>
          <p:cNvSpPr/>
          <p:nvPr/>
        </p:nvSpPr>
        <p:spPr>
          <a:xfrm>
            <a:off x="7772400" y="3493008"/>
            <a:ext cx="3520440" cy="43891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Parent submits a booking request</a:t>
            </a:r>
            <a:endParaRPr lang="en-US" sz="1150" dirty="0"/>
          </a:p>
        </p:txBody>
      </p:sp>
      <p:sp>
        <p:nvSpPr>
          <p:cNvPr id="33" name="Shape 31"/>
          <p:cNvSpPr/>
          <p:nvPr/>
        </p:nvSpPr>
        <p:spPr>
          <a:xfrm>
            <a:off x="7461504" y="3904488"/>
            <a:ext cx="0" cy="292608"/>
          </a:xfrm>
          <a:prstGeom prst="line">
            <a:avLst/>
          </a:prstGeom>
          <a:noFill/>
          <a:ln w="19050">
            <a:solidFill>
              <a:srgbClr val="2C6E7A"/>
            </a:solidFill>
            <a:prstDash val="dash"/>
          </a:ln>
        </p:spPr>
      </p:sp>
      <p:sp>
        <p:nvSpPr>
          <p:cNvPr id="34" name="Shape 32"/>
          <p:cNvSpPr/>
          <p:nvPr/>
        </p:nvSpPr>
        <p:spPr>
          <a:xfrm>
            <a:off x="7269480" y="4206240"/>
            <a:ext cx="384048" cy="384048"/>
          </a:xfrm>
          <a:prstGeom prst="ellipse">
            <a:avLst/>
          </a:prstGeom>
          <a:solidFill>
            <a:srgbClr val="00A896"/>
          </a:solidFill>
          <a:ln/>
        </p:spPr>
      </p:sp>
      <p:sp>
        <p:nvSpPr>
          <p:cNvPr id="35" name="Text 33"/>
          <p:cNvSpPr/>
          <p:nvPr/>
        </p:nvSpPr>
        <p:spPr>
          <a:xfrm>
            <a:off x="7269480" y="4206240"/>
            <a:ext cx="384048" cy="384048"/>
          </a:xfrm>
          <a:prstGeom prst="rect">
            <a:avLst/>
          </a:prstGeom>
          <a:noFill/>
          <a:ln/>
        </p:spPr>
        <p:txBody>
          <a:bodyPr wrap="square" rtlCol="0" anchor="ctr"/>
          <a:lstStyle/>
          <a:p>
            <a:pPr algn="ctr" indent="0" marL="0">
              <a:buNone/>
            </a:pPr>
            <a:r>
              <a:rPr lang="en-US" sz="1092" b="1" dirty="0">
                <a:solidFill>
                  <a:srgbClr val="0B2545"/>
                </a:solidFill>
                <a:latin typeface="Calibri" pitchFamily="34" charset="0"/>
                <a:ea typeface="Calibri" pitchFamily="34" charset="-122"/>
                <a:cs typeface="Calibri" pitchFamily="34" charset="-120"/>
              </a:rPr>
              <a:t>4</a:t>
            </a:r>
            <a:endParaRPr lang="en-US" sz="1092" dirty="0"/>
          </a:p>
        </p:txBody>
      </p:sp>
      <p:sp>
        <p:nvSpPr>
          <p:cNvPr id="36" name="Text 34"/>
          <p:cNvSpPr/>
          <p:nvPr/>
        </p:nvSpPr>
        <p:spPr>
          <a:xfrm>
            <a:off x="7772400" y="4178808"/>
            <a:ext cx="3520440" cy="43891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System blocks any overlapping session</a:t>
            </a:r>
            <a:endParaRPr lang="en-US" sz="1150" dirty="0"/>
          </a:p>
        </p:txBody>
      </p:sp>
      <p:sp>
        <p:nvSpPr>
          <p:cNvPr id="37" name="Shape 35"/>
          <p:cNvSpPr/>
          <p:nvPr/>
        </p:nvSpPr>
        <p:spPr>
          <a:xfrm>
            <a:off x="7461504" y="4590288"/>
            <a:ext cx="0" cy="292608"/>
          </a:xfrm>
          <a:prstGeom prst="line">
            <a:avLst/>
          </a:prstGeom>
          <a:noFill/>
          <a:ln w="19050">
            <a:solidFill>
              <a:srgbClr val="2C6E7A"/>
            </a:solidFill>
            <a:prstDash val="dash"/>
          </a:ln>
        </p:spPr>
      </p:sp>
      <p:sp>
        <p:nvSpPr>
          <p:cNvPr id="38" name="Shape 36"/>
          <p:cNvSpPr/>
          <p:nvPr/>
        </p:nvSpPr>
        <p:spPr>
          <a:xfrm>
            <a:off x="7269480" y="4892040"/>
            <a:ext cx="384048" cy="384048"/>
          </a:xfrm>
          <a:prstGeom prst="ellipse">
            <a:avLst/>
          </a:prstGeom>
          <a:solidFill>
            <a:srgbClr val="00A896"/>
          </a:solidFill>
          <a:ln/>
        </p:spPr>
      </p:sp>
      <p:sp>
        <p:nvSpPr>
          <p:cNvPr id="39" name="Text 37"/>
          <p:cNvSpPr/>
          <p:nvPr/>
        </p:nvSpPr>
        <p:spPr>
          <a:xfrm>
            <a:off x="7269480" y="4892040"/>
            <a:ext cx="384048" cy="384048"/>
          </a:xfrm>
          <a:prstGeom prst="rect">
            <a:avLst/>
          </a:prstGeom>
          <a:noFill/>
          <a:ln/>
        </p:spPr>
        <p:txBody>
          <a:bodyPr wrap="square" rtlCol="0" anchor="ctr"/>
          <a:lstStyle/>
          <a:p>
            <a:pPr algn="ctr" indent="0" marL="0">
              <a:buNone/>
            </a:pPr>
            <a:r>
              <a:rPr lang="en-US" sz="1092" b="1" dirty="0">
                <a:solidFill>
                  <a:srgbClr val="0B2545"/>
                </a:solidFill>
                <a:latin typeface="Calibri" pitchFamily="34" charset="0"/>
                <a:ea typeface="Calibri" pitchFamily="34" charset="-122"/>
                <a:cs typeface="Calibri" pitchFamily="34" charset="-120"/>
              </a:rPr>
              <a:t>5</a:t>
            </a:r>
            <a:endParaRPr lang="en-US" sz="1092" dirty="0"/>
          </a:p>
        </p:txBody>
      </p:sp>
      <p:sp>
        <p:nvSpPr>
          <p:cNvPr id="40" name="Text 38"/>
          <p:cNvSpPr/>
          <p:nvPr/>
        </p:nvSpPr>
        <p:spPr>
          <a:xfrm>
            <a:off x="7772400" y="4864608"/>
            <a:ext cx="3520440" cy="43891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Payment gateway confirms via webhook</a:t>
            </a:r>
            <a:endParaRPr lang="en-US" sz="1150" dirty="0"/>
          </a:p>
        </p:txBody>
      </p:sp>
      <p:sp>
        <p:nvSpPr>
          <p:cNvPr id="41" name="Shape 39"/>
          <p:cNvSpPr/>
          <p:nvPr/>
        </p:nvSpPr>
        <p:spPr>
          <a:xfrm>
            <a:off x="7461504" y="5276088"/>
            <a:ext cx="0" cy="292608"/>
          </a:xfrm>
          <a:prstGeom prst="line">
            <a:avLst/>
          </a:prstGeom>
          <a:noFill/>
          <a:ln w="19050">
            <a:solidFill>
              <a:srgbClr val="2C6E7A"/>
            </a:solidFill>
            <a:prstDash val="dash"/>
          </a:ln>
        </p:spPr>
      </p:sp>
      <p:sp>
        <p:nvSpPr>
          <p:cNvPr id="42" name="Shape 40"/>
          <p:cNvSpPr/>
          <p:nvPr/>
        </p:nvSpPr>
        <p:spPr>
          <a:xfrm>
            <a:off x="7269480" y="5577840"/>
            <a:ext cx="384048" cy="384048"/>
          </a:xfrm>
          <a:prstGeom prst="ellipse">
            <a:avLst/>
          </a:prstGeom>
          <a:solidFill>
            <a:srgbClr val="00A896"/>
          </a:solidFill>
          <a:ln/>
        </p:spPr>
      </p:sp>
      <p:sp>
        <p:nvSpPr>
          <p:cNvPr id="43" name="Text 41"/>
          <p:cNvSpPr/>
          <p:nvPr/>
        </p:nvSpPr>
        <p:spPr>
          <a:xfrm>
            <a:off x="7269480" y="5577840"/>
            <a:ext cx="384048" cy="384048"/>
          </a:xfrm>
          <a:prstGeom prst="rect">
            <a:avLst/>
          </a:prstGeom>
          <a:noFill/>
          <a:ln/>
        </p:spPr>
        <p:txBody>
          <a:bodyPr wrap="square" rtlCol="0" anchor="ctr"/>
          <a:lstStyle/>
          <a:p>
            <a:pPr algn="ctr" indent="0" marL="0">
              <a:buNone/>
            </a:pPr>
            <a:r>
              <a:rPr lang="en-US" sz="1092" b="1" dirty="0">
                <a:solidFill>
                  <a:srgbClr val="0B2545"/>
                </a:solidFill>
                <a:latin typeface="Calibri" pitchFamily="34" charset="0"/>
                <a:ea typeface="Calibri" pitchFamily="34" charset="-122"/>
                <a:cs typeface="Calibri" pitchFamily="34" charset="-120"/>
              </a:rPr>
              <a:t>6</a:t>
            </a:r>
            <a:endParaRPr lang="en-US" sz="1092" dirty="0"/>
          </a:p>
        </p:txBody>
      </p:sp>
      <p:sp>
        <p:nvSpPr>
          <p:cNvPr id="44" name="Text 42"/>
          <p:cNvSpPr/>
          <p:nvPr/>
        </p:nvSpPr>
        <p:spPr>
          <a:xfrm>
            <a:off x="7772400" y="5550408"/>
            <a:ext cx="3520440" cy="43891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Booking auto-transitions to Confirmed</a:t>
            </a:r>
            <a:endParaRPr lang="en-US" sz="1150" dirty="0"/>
          </a:p>
        </p:txBody>
      </p:sp>
      <p:sp>
        <p:nvSpPr>
          <p:cNvPr id="45" name="Text 4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46" name="Text 4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02 · OBJECTIVES</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What This Project Is Assessed On</a:t>
            </a:r>
            <a:endParaRPr lang="en-US" sz="3200" dirty="0"/>
          </a:p>
        </p:txBody>
      </p:sp>
      <p:sp>
        <p:nvSpPr>
          <p:cNvPr id="4" name="Text 2"/>
          <p:cNvSpPr/>
          <p:nvPr/>
        </p:nvSpPr>
        <p:spPr>
          <a:xfrm>
            <a:off x="548640" y="1417320"/>
            <a:ext cx="82296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Five pillars from the hiring brief, mapped to the delivered prototype.</a:t>
            </a:r>
            <a:endParaRPr lang="en-US" sz="1300" dirty="0"/>
          </a:p>
        </p:txBody>
      </p:sp>
      <p:sp>
        <p:nvSpPr>
          <p:cNvPr id="5" name="Shape 3"/>
          <p:cNvSpPr/>
          <p:nvPr/>
        </p:nvSpPr>
        <p:spPr>
          <a:xfrm>
            <a:off x="548640" y="2057400"/>
            <a:ext cx="2084832" cy="3977640"/>
          </a:xfrm>
          <a:prstGeom prst="roundRect">
            <a:avLst>
              <a:gd name="adj" fmla="val 5263"/>
            </a:avLst>
          </a:prstGeom>
          <a:solidFill>
            <a:srgbClr val="EEF5F4"/>
          </a:solidFill>
          <a:ln w="12700">
            <a:solidFill>
              <a:srgbClr val="EEF5F4"/>
            </a:solidFill>
            <a:prstDash val="solid"/>
          </a:ln>
        </p:spPr>
      </p:sp>
      <p:sp>
        <p:nvSpPr>
          <p:cNvPr id="6" name="Shape 4"/>
          <p:cNvSpPr/>
          <p:nvPr/>
        </p:nvSpPr>
        <p:spPr>
          <a:xfrm>
            <a:off x="1335024" y="2377440"/>
            <a:ext cx="512064" cy="512064"/>
          </a:xfrm>
          <a:prstGeom prst="ellipse">
            <a:avLst/>
          </a:prstGeom>
          <a:solidFill>
            <a:srgbClr val="00A896"/>
          </a:solidFill>
          <a:ln/>
        </p:spPr>
      </p:sp>
      <p:sp>
        <p:nvSpPr>
          <p:cNvPr id="7" name="Text 5"/>
          <p:cNvSpPr/>
          <p:nvPr/>
        </p:nvSpPr>
        <p:spPr>
          <a:xfrm>
            <a:off x="1335024" y="2377440"/>
            <a:ext cx="512064" cy="512064"/>
          </a:xfrm>
          <a:prstGeom prst="rect">
            <a:avLst/>
          </a:prstGeom>
          <a:noFill/>
          <a:ln/>
        </p:spPr>
        <p:txBody>
          <a:bodyPr wrap="square" rtlCol="0" anchor="ctr"/>
          <a:lstStyle/>
          <a:p>
            <a:pPr algn="ctr" indent="0" marL="0">
              <a:buNone/>
            </a:pPr>
            <a:r>
              <a:rPr lang="en-US" sz="1456" b="1" dirty="0">
                <a:solidFill>
                  <a:srgbClr val="FFFFFF"/>
                </a:solidFill>
                <a:latin typeface="Calibri" pitchFamily="34" charset="0"/>
                <a:ea typeface="Calibri" pitchFamily="34" charset="-122"/>
                <a:cs typeface="Calibri" pitchFamily="34" charset="-120"/>
              </a:rPr>
              <a:t>1</a:t>
            </a:r>
            <a:endParaRPr lang="en-US" sz="1456" dirty="0"/>
          </a:p>
        </p:txBody>
      </p:sp>
      <p:sp>
        <p:nvSpPr>
          <p:cNvPr id="8" name="Text 6"/>
          <p:cNvSpPr/>
          <p:nvPr/>
        </p:nvSpPr>
        <p:spPr>
          <a:xfrm>
            <a:off x="713232" y="3108960"/>
            <a:ext cx="1755648" cy="914400"/>
          </a:xfrm>
          <a:prstGeom prst="rect">
            <a:avLst/>
          </a:prstGeom>
          <a:noFill/>
          <a:ln/>
        </p:spPr>
        <p:txBody>
          <a:bodyPr wrap="square" rtlCol="0" anchor="ctr"/>
          <a:lstStyle/>
          <a:p>
            <a:pPr algn="ctr" indent="0" marL="0">
              <a:buNone/>
            </a:pPr>
            <a:r>
              <a:rPr lang="en-US" sz="1300" b="1" dirty="0">
                <a:solidFill>
                  <a:srgbClr val="16323A"/>
                </a:solidFill>
                <a:latin typeface="Calibri" pitchFamily="34" charset="0"/>
                <a:ea typeface="Calibri" pitchFamily="34" charset="-122"/>
                <a:cs typeface="Calibri" pitchFamily="34" charset="-120"/>
              </a:rPr>
              <a:t>Core Python &amp; Framework</a:t>
            </a:r>
            <a:endParaRPr lang="en-US" sz="1300" dirty="0"/>
          </a:p>
        </p:txBody>
      </p:sp>
      <p:sp>
        <p:nvSpPr>
          <p:cNvPr id="9" name="Text 7"/>
          <p:cNvSpPr/>
          <p:nvPr/>
        </p:nvSpPr>
        <p:spPr>
          <a:xfrm>
            <a:off x="713232" y="3977640"/>
            <a:ext cx="1755648" cy="1920240"/>
          </a:xfrm>
          <a:prstGeom prst="rect">
            <a:avLst/>
          </a:prstGeom>
          <a:noFill/>
          <a:ln/>
        </p:spPr>
        <p:txBody>
          <a:bodyPr wrap="square" rtlCol="0" anchor="ctr"/>
          <a:lstStyle/>
          <a:p>
            <a:pPr algn="ctr" indent="0" marL="0">
              <a:buNone/>
            </a:pPr>
            <a:r>
              <a:rPr lang="en-US" sz="1100" dirty="0">
                <a:solidFill>
                  <a:srgbClr val="51707A"/>
                </a:solidFill>
                <a:latin typeface="Calibri" pitchFamily="34" charset="0"/>
                <a:ea typeface="Calibri" pitchFamily="34" charset="-122"/>
                <a:cs typeface="Calibri" pitchFamily="34" charset="-120"/>
              </a:rPr>
              <a:t>Clean OOP, exception handling, and FastAPI's layered architecture.</a:t>
            </a:r>
            <a:endParaRPr lang="en-US" sz="1100" dirty="0"/>
          </a:p>
        </p:txBody>
      </p:sp>
      <p:sp>
        <p:nvSpPr>
          <p:cNvPr id="10" name="Shape 8"/>
          <p:cNvSpPr/>
          <p:nvPr/>
        </p:nvSpPr>
        <p:spPr>
          <a:xfrm>
            <a:off x="2798064" y="2057400"/>
            <a:ext cx="2084832" cy="3977640"/>
          </a:xfrm>
          <a:prstGeom prst="roundRect">
            <a:avLst>
              <a:gd name="adj" fmla="val 5263"/>
            </a:avLst>
          </a:prstGeom>
          <a:solidFill>
            <a:srgbClr val="EEF5F4"/>
          </a:solidFill>
          <a:ln w="12700">
            <a:solidFill>
              <a:srgbClr val="EEF5F4"/>
            </a:solidFill>
            <a:prstDash val="solid"/>
          </a:ln>
        </p:spPr>
      </p:sp>
      <p:sp>
        <p:nvSpPr>
          <p:cNvPr id="11" name="Shape 9"/>
          <p:cNvSpPr/>
          <p:nvPr/>
        </p:nvSpPr>
        <p:spPr>
          <a:xfrm>
            <a:off x="3584448" y="2377440"/>
            <a:ext cx="512064" cy="512064"/>
          </a:xfrm>
          <a:prstGeom prst="ellipse">
            <a:avLst/>
          </a:prstGeom>
          <a:solidFill>
            <a:srgbClr val="00A896"/>
          </a:solidFill>
          <a:ln/>
        </p:spPr>
      </p:sp>
      <p:sp>
        <p:nvSpPr>
          <p:cNvPr id="12" name="Text 10"/>
          <p:cNvSpPr/>
          <p:nvPr/>
        </p:nvSpPr>
        <p:spPr>
          <a:xfrm>
            <a:off x="3584448" y="2377440"/>
            <a:ext cx="512064" cy="512064"/>
          </a:xfrm>
          <a:prstGeom prst="rect">
            <a:avLst/>
          </a:prstGeom>
          <a:noFill/>
          <a:ln/>
        </p:spPr>
        <p:txBody>
          <a:bodyPr wrap="square" rtlCol="0" anchor="ctr"/>
          <a:lstStyle/>
          <a:p>
            <a:pPr algn="ctr" indent="0" marL="0">
              <a:buNone/>
            </a:pPr>
            <a:r>
              <a:rPr lang="en-US" sz="1456" b="1" dirty="0">
                <a:solidFill>
                  <a:srgbClr val="FFFFFF"/>
                </a:solidFill>
                <a:latin typeface="Calibri" pitchFamily="34" charset="0"/>
                <a:ea typeface="Calibri" pitchFamily="34" charset="-122"/>
                <a:cs typeface="Calibri" pitchFamily="34" charset="-120"/>
              </a:rPr>
              <a:t>2</a:t>
            </a:r>
            <a:endParaRPr lang="en-US" sz="1456" dirty="0"/>
          </a:p>
        </p:txBody>
      </p:sp>
      <p:sp>
        <p:nvSpPr>
          <p:cNvPr id="13" name="Text 11"/>
          <p:cNvSpPr/>
          <p:nvPr/>
        </p:nvSpPr>
        <p:spPr>
          <a:xfrm>
            <a:off x="2962656" y="3108960"/>
            <a:ext cx="1755648" cy="914400"/>
          </a:xfrm>
          <a:prstGeom prst="rect">
            <a:avLst/>
          </a:prstGeom>
          <a:noFill/>
          <a:ln/>
        </p:spPr>
        <p:txBody>
          <a:bodyPr wrap="square" rtlCol="0" anchor="ctr"/>
          <a:lstStyle/>
          <a:p>
            <a:pPr algn="ctr" indent="0" marL="0">
              <a:buNone/>
            </a:pPr>
            <a:r>
              <a:rPr lang="en-US" sz="1300" b="1" dirty="0">
                <a:solidFill>
                  <a:srgbClr val="16323A"/>
                </a:solidFill>
                <a:latin typeface="Calibri" pitchFamily="34" charset="0"/>
                <a:ea typeface="Calibri" pitchFamily="34" charset="-122"/>
                <a:cs typeface="Calibri" pitchFamily="34" charset="-120"/>
              </a:rPr>
              <a:t>RESTful API Design</a:t>
            </a:r>
            <a:endParaRPr lang="en-US" sz="1300" dirty="0"/>
          </a:p>
        </p:txBody>
      </p:sp>
      <p:sp>
        <p:nvSpPr>
          <p:cNvPr id="14" name="Text 12"/>
          <p:cNvSpPr/>
          <p:nvPr/>
        </p:nvSpPr>
        <p:spPr>
          <a:xfrm>
            <a:off x="2962656" y="3977640"/>
            <a:ext cx="1755648" cy="1920240"/>
          </a:xfrm>
          <a:prstGeom prst="rect">
            <a:avLst/>
          </a:prstGeom>
          <a:noFill/>
          <a:ln/>
        </p:spPr>
        <p:txBody>
          <a:bodyPr wrap="square" rtlCol="0" anchor="ctr"/>
          <a:lstStyle/>
          <a:p>
            <a:pPr algn="ctr" indent="0" marL="0">
              <a:buNone/>
            </a:pPr>
            <a:r>
              <a:rPr lang="en-US" sz="1100" dirty="0">
                <a:solidFill>
                  <a:srgbClr val="51707A"/>
                </a:solidFill>
                <a:latin typeface="Calibri" pitchFamily="34" charset="0"/>
                <a:ea typeface="Calibri" pitchFamily="34" charset="-122"/>
                <a:cs typeface="Calibri" pitchFamily="34" charset="-120"/>
              </a:rPr>
              <a:t>Structured endpoints, correct status codes, validated payloads.</a:t>
            </a:r>
            <a:endParaRPr lang="en-US" sz="1100" dirty="0"/>
          </a:p>
        </p:txBody>
      </p:sp>
      <p:sp>
        <p:nvSpPr>
          <p:cNvPr id="15" name="Shape 13"/>
          <p:cNvSpPr/>
          <p:nvPr/>
        </p:nvSpPr>
        <p:spPr>
          <a:xfrm>
            <a:off x="5047488" y="2057400"/>
            <a:ext cx="2084832" cy="3977640"/>
          </a:xfrm>
          <a:prstGeom prst="roundRect">
            <a:avLst>
              <a:gd name="adj" fmla="val 5263"/>
            </a:avLst>
          </a:prstGeom>
          <a:solidFill>
            <a:srgbClr val="028090"/>
          </a:solidFill>
          <a:ln w="12700">
            <a:solidFill>
              <a:srgbClr val="028090"/>
            </a:solidFill>
            <a:prstDash val="solid"/>
          </a:ln>
        </p:spPr>
      </p:sp>
      <p:sp>
        <p:nvSpPr>
          <p:cNvPr id="16" name="Shape 14"/>
          <p:cNvSpPr/>
          <p:nvPr/>
        </p:nvSpPr>
        <p:spPr>
          <a:xfrm>
            <a:off x="5833872" y="2377440"/>
            <a:ext cx="512064" cy="512064"/>
          </a:xfrm>
          <a:prstGeom prst="ellipse">
            <a:avLst/>
          </a:prstGeom>
          <a:solidFill>
            <a:srgbClr val="FFFFFF"/>
          </a:solidFill>
          <a:ln/>
        </p:spPr>
      </p:sp>
      <p:sp>
        <p:nvSpPr>
          <p:cNvPr id="17" name="Text 15"/>
          <p:cNvSpPr/>
          <p:nvPr/>
        </p:nvSpPr>
        <p:spPr>
          <a:xfrm>
            <a:off x="5833872" y="2377440"/>
            <a:ext cx="512064" cy="512064"/>
          </a:xfrm>
          <a:prstGeom prst="rect">
            <a:avLst/>
          </a:prstGeom>
          <a:noFill/>
          <a:ln/>
        </p:spPr>
        <p:txBody>
          <a:bodyPr wrap="square" rtlCol="0" anchor="ctr"/>
          <a:lstStyle/>
          <a:p>
            <a:pPr algn="ctr" indent="0" marL="0">
              <a:buNone/>
            </a:pPr>
            <a:r>
              <a:rPr lang="en-US" sz="1456" b="1" dirty="0">
                <a:solidFill>
                  <a:srgbClr val="028090"/>
                </a:solidFill>
                <a:latin typeface="Calibri" pitchFamily="34" charset="0"/>
                <a:ea typeface="Calibri" pitchFamily="34" charset="-122"/>
                <a:cs typeface="Calibri" pitchFamily="34" charset="-120"/>
              </a:rPr>
              <a:t>3</a:t>
            </a:r>
            <a:endParaRPr lang="en-US" sz="1456" dirty="0"/>
          </a:p>
        </p:txBody>
      </p:sp>
      <p:sp>
        <p:nvSpPr>
          <p:cNvPr id="18" name="Text 16"/>
          <p:cNvSpPr/>
          <p:nvPr/>
        </p:nvSpPr>
        <p:spPr>
          <a:xfrm>
            <a:off x="5212080" y="3108960"/>
            <a:ext cx="1755648"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Schema &amp; Query Optimization</a:t>
            </a:r>
            <a:endParaRPr lang="en-US" sz="1300" dirty="0"/>
          </a:p>
        </p:txBody>
      </p:sp>
      <p:sp>
        <p:nvSpPr>
          <p:cNvPr id="19" name="Text 17"/>
          <p:cNvSpPr/>
          <p:nvPr/>
        </p:nvSpPr>
        <p:spPr>
          <a:xfrm>
            <a:off x="5212080" y="3977640"/>
            <a:ext cx="1755648" cy="1920240"/>
          </a:xfrm>
          <a:prstGeom prst="rect">
            <a:avLst/>
          </a:prstGeom>
          <a:noFill/>
          <a:ln/>
        </p:spPr>
        <p:txBody>
          <a:bodyPr wrap="square" rtlCol="0" anchor="ctr"/>
          <a:lstStyle/>
          <a:p>
            <a:pPr algn="ctr" indent="0" marL="0">
              <a:buNone/>
            </a:pPr>
            <a:r>
              <a:rPr lang="en-US" sz="1100" dirty="0">
                <a:solidFill>
                  <a:srgbClr val="E5F3F0"/>
                </a:solidFill>
                <a:latin typeface="Calibri" pitchFamily="34" charset="0"/>
                <a:ea typeface="Calibri" pitchFamily="34" charset="-122"/>
                <a:cs typeface="Calibri" pitchFamily="34" charset="-120"/>
              </a:rPr>
              <a:t>Normalized relational model with an N+1-free availability query.</a:t>
            </a:r>
            <a:endParaRPr lang="en-US" sz="1100" dirty="0"/>
          </a:p>
        </p:txBody>
      </p:sp>
      <p:sp>
        <p:nvSpPr>
          <p:cNvPr id="20" name="Shape 18"/>
          <p:cNvSpPr/>
          <p:nvPr/>
        </p:nvSpPr>
        <p:spPr>
          <a:xfrm>
            <a:off x="7296912" y="2057400"/>
            <a:ext cx="2084832" cy="3977640"/>
          </a:xfrm>
          <a:prstGeom prst="roundRect">
            <a:avLst>
              <a:gd name="adj" fmla="val 5263"/>
            </a:avLst>
          </a:prstGeom>
          <a:solidFill>
            <a:srgbClr val="EEF5F4"/>
          </a:solidFill>
          <a:ln w="12700">
            <a:solidFill>
              <a:srgbClr val="EEF5F4"/>
            </a:solidFill>
            <a:prstDash val="solid"/>
          </a:ln>
        </p:spPr>
      </p:sp>
      <p:sp>
        <p:nvSpPr>
          <p:cNvPr id="21" name="Shape 19"/>
          <p:cNvSpPr/>
          <p:nvPr/>
        </p:nvSpPr>
        <p:spPr>
          <a:xfrm>
            <a:off x="8083296" y="2377440"/>
            <a:ext cx="512064" cy="512064"/>
          </a:xfrm>
          <a:prstGeom prst="ellipse">
            <a:avLst/>
          </a:prstGeom>
          <a:solidFill>
            <a:srgbClr val="00A896"/>
          </a:solidFill>
          <a:ln/>
        </p:spPr>
      </p:sp>
      <p:sp>
        <p:nvSpPr>
          <p:cNvPr id="22" name="Text 20"/>
          <p:cNvSpPr/>
          <p:nvPr/>
        </p:nvSpPr>
        <p:spPr>
          <a:xfrm>
            <a:off x="8083296" y="2377440"/>
            <a:ext cx="512064" cy="512064"/>
          </a:xfrm>
          <a:prstGeom prst="rect">
            <a:avLst/>
          </a:prstGeom>
          <a:noFill/>
          <a:ln/>
        </p:spPr>
        <p:txBody>
          <a:bodyPr wrap="square" rtlCol="0" anchor="ctr"/>
          <a:lstStyle/>
          <a:p>
            <a:pPr algn="ctr" indent="0" marL="0">
              <a:buNone/>
            </a:pPr>
            <a:r>
              <a:rPr lang="en-US" sz="1456" b="1" dirty="0">
                <a:solidFill>
                  <a:srgbClr val="FFFFFF"/>
                </a:solidFill>
                <a:latin typeface="Calibri" pitchFamily="34" charset="0"/>
                <a:ea typeface="Calibri" pitchFamily="34" charset="-122"/>
                <a:cs typeface="Calibri" pitchFamily="34" charset="-120"/>
              </a:rPr>
              <a:t>4</a:t>
            </a:r>
            <a:endParaRPr lang="en-US" sz="1456" dirty="0"/>
          </a:p>
        </p:txBody>
      </p:sp>
      <p:sp>
        <p:nvSpPr>
          <p:cNvPr id="23" name="Text 21"/>
          <p:cNvSpPr/>
          <p:nvPr/>
        </p:nvSpPr>
        <p:spPr>
          <a:xfrm>
            <a:off x="7461504" y="3108960"/>
            <a:ext cx="1755648" cy="914400"/>
          </a:xfrm>
          <a:prstGeom prst="rect">
            <a:avLst/>
          </a:prstGeom>
          <a:noFill/>
          <a:ln/>
        </p:spPr>
        <p:txBody>
          <a:bodyPr wrap="square" rtlCol="0" anchor="ctr"/>
          <a:lstStyle/>
          <a:p>
            <a:pPr algn="ctr" indent="0" marL="0">
              <a:buNone/>
            </a:pPr>
            <a:r>
              <a:rPr lang="en-US" sz="1300" b="1" dirty="0">
                <a:solidFill>
                  <a:srgbClr val="16323A"/>
                </a:solidFill>
                <a:latin typeface="Calibri" pitchFamily="34" charset="0"/>
                <a:ea typeface="Calibri" pitchFamily="34" charset="-122"/>
                <a:cs typeface="Calibri" pitchFamily="34" charset="-120"/>
              </a:rPr>
              <a:t>Automated Testing</a:t>
            </a:r>
            <a:endParaRPr lang="en-US" sz="1300" dirty="0"/>
          </a:p>
        </p:txBody>
      </p:sp>
      <p:sp>
        <p:nvSpPr>
          <p:cNvPr id="24" name="Text 22"/>
          <p:cNvSpPr/>
          <p:nvPr/>
        </p:nvSpPr>
        <p:spPr>
          <a:xfrm>
            <a:off x="7461504" y="3977640"/>
            <a:ext cx="1755648" cy="1920240"/>
          </a:xfrm>
          <a:prstGeom prst="rect">
            <a:avLst/>
          </a:prstGeom>
          <a:noFill/>
          <a:ln/>
        </p:spPr>
        <p:txBody>
          <a:bodyPr wrap="square" rtlCol="0" anchor="ctr"/>
          <a:lstStyle/>
          <a:p>
            <a:pPr algn="ctr" indent="0" marL="0">
              <a:buNone/>
            </a:pPr>
            <a:r>
              <a:rPr lang="en-US" sz="1100" dirty="0">
                <a:solidFill>
                  <a:srgbClr val="51707A"/>
                </a:solidFill>
                <a:latin typeface="Calibri" pitchFamily="34" charset="0"/>
                <a:ea typeface="Calibri" pitchFamily="34" charset="-122"/>
                <a:cs typeface="Calibri" pitchFamily="34" charset="-120"/>
              </a:rPr>
              <a:t>Pytest suite covering success, edge, and failure paths.</a:t>
            </a:r>
            <a:endParaRPr lang="en-US" sz="1100" dirty="0"/>
          </a:p>
        </p:txBody>
      </p:sp>
      <p:sp>
        <p:nvSpPr>
          <p:cNvPr id="25" name="Shape 23"/>
          <p:cNvSpPr/>
          <p:nvPr/>
        </p:nvSpPr>
        <p:spPr>
          <a:xfrm>
            <a:off x="9546336" y="2057400"/>
            <a:ext cx="2084832" cy="3977640"/>
          </a:xfrm>
          <a:prstGeom prst="roundRect">
            <a:avLst>
              <a:gd name="adj" fmla="val 5263"/>
            </a:avLst>
          </a:prstGeom>
          <a:solidFill>
            <a:srgbClr val="EEF5F4"/>
          </a:solidFill>
          <a:ln w="12700">
            <a:solidFill>
              <a:srgbClr val="EEF5F4"/>
            </a:solidFill>
            <a:prstDash val="solid"/>
          </a:ln>
        </p:spPr>
      </p:sp>
      <p:sp>
        <p:nvSpPr>
          <p:cNvPr id="26" name="Shape 24"/>
          <p:cNvSpPr/>
          <p:nvPr/>
        </p:nvSpPr>
        <p:spPr>
          <a:xfrm>
            <a:off x="10332720" y="2377440"/>
            <a:ext cx="512064" cy="512064"/>
          </a:xfrm>
          <a:prstGeom prst="ellipse">
            <a:avLst/>
          </a:prstGeom>
          <a:solidFill>
            <a:srgbClr val="00A896"/>
          </a:solidFill>
          <a:ln/>
        </p:spPr>
      </p:sp>
      <p:sp>
        <p:nvSpPr>
          <p:cNvPr id="27" name="Text 25"/>
          <p:cNvSpPr/>
          <p:nvPr/>
        </p:nvSpPr>
        <p:spPr>
          <a:xfrm>
            <a:off x="10332720" y="2377440"/>
            <a:ext cx="512064" cy="512064"/>
          </a:xfrm>
          <a:prstGeom prst="rect">
            <a:avLst/>
          </a:prstGeom>
          <a:noFill/>
          <a:ln/>
        </p:spPr>
        <p:txBody>
          <a:bodyPr wrap="square" rtlCol="0" anchor="ctr"/>
          <a:lstStyle/>
          <a:p>
            <a:pPr algn="ctr" indent="0" marL="0">
              <a:buNone/>
            </a:pPr>
            <a:r>
              <a:rPr lang="en-US" sz="1456" b="1" dirty="0">
                <a:solidFill>
                  <a:srgbClr val="FFFFFF"/>
                </a:solidFill>
                <a:latin typeface="Calibri" pitchFamily="34" charset="0"/>
                <a:ea typeface="Calibri" pitchFamily="34" charset="-122"/>
                <a:cs typeface="Calibri" pitchFamily="34" charset="-120"/>
              </a:rPr>
              <a:t>5</a:t>
            </a:r>
            <a:endParaRPr lang="en-US" sz="1456" dirty="0"/>
          </a:p>
        </p:txBody>
      </p:sp>
      <p:sp>
        <p:nvSpPr>
          <p:cNvPr id="28" name="Text 26"/>
          <p:cNvSpPr/>
          <p:nvPr/>
        </p:nvSpPr>
        <p:spPr>
          <a:xfrm>
            <a:off x="9710928" y="3108960"/>
            <a:ext cx="1755648" cy="914400"/>
          </a:xfrm>
          <a:prstGeom prst="rect">
            <a:avLst/>
          </a:prstGeom>
          <a:noFill/>
          <a:ln/>
        </p:spPr>
        <p:txBody>
          <a:bodyPr wrap="square" rtlCol="0" anchor="ctr"/>
          <a:lstStyle/>
          <a:p>
            <a:pPr algn="ctr" indent="0" marL="0">
              <a:buNone/>
            </a:pPr>
            <a:r>
              <a:rPr lang="en-US" sz="1300" b="1" dirty="0">
                <a:solidFill>
                  <a:srgbClr val="16323A"/>
                </a:solidFill>
                <a:latin typeface="Calibri" pitchFamily="34" charset="0"/>
                <a:ea typeface="Calibri" pitchFamily="34" charset="-122"/>
                <a:cs typeface="Calibri" pitchFamily="34" charset="-120"/>
              </a:rPr>
              <a:t>Documentation &amp; Git Discipline</a:t>
            </a:r>
            <a:endParaRPr lang="en-US" sz="1300" dirty="0"/>
          </a:p>
        </p:txBody>
      </p:sp>
      <p:sp>
        <p:nvSpPr>
          <p:cNvPr id="29" name="Text 27"/>
          <p:cNvSpPr/>
          <p:nvPr/>
        </p:nvSpPr>
        <p:spPr>
          <a:xfrm>
            <a:off x="9710928" y="3977640"/>
            <a:ext cx="1755648" cy="1920240"/>
          </a:xfrm>
          <a:prstGeom prst="rect">
            <a:avLst/>
          </a:prstGeom>
          <a:noFill/>
          <a:ln/>
        </p:spPr>
        <p:txBody>
          <a:bodyPr wrap="square" rtlCol="0" anchor="ctr"/>
          <a:lstStyle/>
          <a:p>
            <a:pPr algn="ctr" indent="0" marL="0">
              <a:buNone/>
            </a:pPr>
            <a:r>
              <a:rPr lang="en-US" sz="1100" dirty="0">
                <a:solidFill>
                  <a:srgbClr val="51707A"/>
                </a:solidFill>
                <a:latin typeface="Calibri" pitchFamily="34" charset="0"/>
                <a:ea typeface="Calibri" pitchFamily="34" charset="-122"/>
                <a:cs typeface="Calibri" pitchFamily="34" charset="-120"/>
              </a:rPr>
              <a:t>READMEs, migration notes, and a CI-checked GitHub workflow.</a:t>
            </a:r>
            <a:endParaRPr lang="en-US" sz="1100" dirty="0"/>
          </a:p>
        </p:txBody>
      </p:sp>
      <p:sp>
        <p:nvSpPr>
          <p:cNvPr id="30" name="Text 2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31" name="Text 2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03 · ARCHITECTURE</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Layered Architecture — FastAPI as MVC</a:t>
            </a:r>
            <a:endParaRPr lang="en-US" sz="3200" dirty="0"/>
          </a:p>
        </p:txBody>
      </p:sp>
      <p:sp>
        <p:nvSpPr>
          <p:cNvPr id="4" name="Text 2"/>
          <p:cNvSpPr/>
          <p:nvPr/>
        </p:nvSpPr>
        <p:spPr>
          <a:xfrm>
            <a:off x="548640" y="1417320"/>
            <a:ext cx="10515600" cy="502920"/>
          </a:xfrm>
          <a:prstGeom prst="rect">
            <a:avLst/>
          </a:prstGeom>
          <a:noFill/>
          <a:ln/>
        </p:spPr>
        <p:txBody>
          <a:bodyPr wrap="square" rtlCol="0" anchor="ctr"/>
          <a:lstStyle/>
          <a:p>
            <a:pPr indent="0" marL="0">
              <a:buNone/>
            </a:pPr>
            <a:r>
              <a:rPr lang="en-US" sz="1300" dirty="0">
                <a:solidFill>
                  <a:srgbClr val="BFD8E0"/>
                </a:solidFill>
                <a:latin typeface="Calibri" pitchFamily="34" charset="0"/>
                <a:ea typeface="Calibri" pitchFamily="34" charset="-122"/>
                <a:cs typeface="Calibri" pitchFamily="34" charset="-120"/>
              </a:rPr>
              <a:t>Django's MVT terminology maps directly onto FastAPI's layers: routes act as the View, Pydantic schemas act as the Controller/Template contract, and SQLAlchemy models are the Model.</a:t>
            </a:r>
            <a:endParaRPr lang="en-US" sz="1300" dirty="0"/>
          </a:p>
        </p:txBody>
      </p:sp>
      <p:sp>
        <p:nvSpPr>
          <p:cNvPr id="5" name="Shape 3"/>
          <p:cNvSpPr/>
          <p:nvPr/>
        </p:nvSpPr>
        <p:spPr>
          <a:xfrm>
            <a:off x="548640" y="2148840"/>
            <a:ext cx="7863840" cy="749808"/>
          </a:xfrm>
          <a:prstGeom prst="roundRect">
            <a:avLst>
              <a:gd name="adj" fmla="val 12195"/>
            </a:avLst>
          </a:prstGeom>
          <a:solidFill>
            <a:srgbClr val="112C4A"/>
          </a:solidFill>
          <a:ln w="12700">
            <a:solidFill>
              <a:srgbClr val="112C4A"/>
            </a:solidFill>
            <a:prstDash val="solid"/>
          </a:ln>
        </p:spPr>
      </p:sp>
      <p:sp>
        <p:nvSpPr>
          <p:cNvPr id="6" name="Shape 4"/>
          <p:cNvSpPr/>
          <p:nvPr/>
        </p:nvSpPr>
        <p:spPr>
          <a:xfrm>
            <a:off x="548640" y="2148840"/>
            <a:ext cx="109728" cy="749808"/>
          </a:xfrm>
          <a:prstGeom prst="rect">
            <a:avLst/>
          </a:prstGeom>
          <a:solidFill>
            <a:srgbClr val="6E7FA8"/>
          </a:solidFill>
          <a:ln/>
        </p:spPr>
      </p:sp>
      <p:sp>
        <p:nvSpPr>
          <p:cNvPr id="7" name="Text 5"/>
          <p:cNvSpPr/>
          <p:nvPr/>
        </p:nvSpPr>
        <p:spPr>
          <a:xfrm>
            <a:off x="868680" y="2221992"/>
            <a:ext cx="292608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8" name="Text 6"/>
          <p:cNvSpPr/>
          <p:nvPr/>
        </p:nvSpPr>
        <p:spPr>
          <a:xfrm>
            <a:off x="868680" y="2532888"/>
            <a:ext cx="7315200" cy="320040"/>
          </a:xfrm>
          <a:prstGeom prst="rect">
            <a:avLst/>
          </a:prstGeom>
          <a:noFill/>
          <a:ln/>
        </p:spPr>
        <p:txBody>
          <a:bodyPr wrap="square" rtlCol="0" anchor="ctr"/>
          <a:lstStyle/>
          <a:p>
            <a:pPr indent="0" marL="0">
              <a:buNone/>
            </a:pPr>
            <a:r>
              <a:rPr lang="en-US" sz="1050" dirty="0">
                <a:solidFill>
                  <a:srgbClr val="9FB8C4"/>
                </a:solidFill>
                <a:latin typeface="Calibri" pitchFamily="34" charset="0"/>
                <a:ea typeface="Calibri" pitchFamily="34" charset="-122"/>
                <a:cs typeface="Calibri" pitchFamily="34" charset="-120"/>
              </a:rPr>
              <a:t>Web / mobile / Postman</a:t>
            </a:r>
            <a:endParaRPr lang="en-US" sz="1050" dirty="0"/>
          </a:p>
        </p:txBody>
      </p:sp>
      <p:sp>
        <p:nvSpPr>
          <p:cNvPr id="9" name="Shape 7"/>
          <p:cNvSpPr/>
          <p:nvPr/>
        </p:nvSpPr>
        <p:spPr>
          <a:xfrm>
            <a:off x="4480560" y="2898648"/>
            <a:ext cx="0" cy="137160"/>
          </a:xfrm>
          <a:prstGeom prst="line">
            <a:avLst/>
          </a:prstGeom>
          <a:noFill/>
          <a:ln w="19050">
            <a:solidFill>
              <a:srgbClr val="35597A"/>
            </a:solidFill>
            <a:prstDash val="solid"/>
          </a:ln>
        </p:spPr>
      </p:sp>
      <p:sp>
        <p:nvSpPr>
          <p:cNvPr id="10" name="Shape 8"/>
          <p:cNvSpPr/>
          <p:nvPr/>
        </p:nvSpPr>
        <p:spPr>
          <a:xfrm>
            <a:off x="548640" y="3035808"/>
            <a:ext cx="7863840" cy="749808"/>
          </a:xfrm>
          <a:prstGeom prst="roundRect">
            <a:avLst>
              <a:gd name="adj" fmla="val 12195"/>
            </a:avLst>
          </a:prstGeom>
          <a:solidFill>
            <a:srgbClr val="112C4A"/>
          </a:solidFill>
          <a:ln w="12700">
            <a:solidFill>
              <a:srgbClr val="112C4A"/>
            </a:solidFill>
            <a:prstDash val="solid"/>
          </a:ln>
        </p:spPr>
      </p:sp>
      <p:sp>
        <p:nvSpPr>
          <p:cNvPr id="11" name="Shape 9"/>
          <p:cNvSpPr/>
          <p:nvPr/>
        </p:nvSpPr>
        <p:spPr>
          <a:xfrm>
            <a:off x="548640" y="3035808"/>
            <a:ext cx="109728" cy="749808"/>
          </a:xfrm>
          <a:prstGeom prst="rect">
            <a:avLst/>
          </a:prstGeom>
          <a:solidFill>
            <a:srgbClr val="028090"/>
          </a:solidFill>
          <a:ln/>
        </p:spPr>
      </p:sp>
      <p:sp>
        <p:nvSpPr>
          <p:cNvPr id="12" name="Text 10"/>
          <p:cNvSpPr/>
          <p:nvPr/>
        </p:nvSpPr>
        <p:spPr>
          <a:xfrm>
            <a:off x="868680" y="3108960"/>
            <a:ext cx="292608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Routes — main.py</a:t>
            </a:r>
            <a:endParaRPr lang="en-US" sz="1300" dirty="0"/>
          </a:p>
        </p:txBody>
      </p:sp>
      <p:sp>
        <p:nvSpPr>
          <p:cNvPr id="13" name="Text 11"/>
          <p:cNvSpPr/>
          <p:nvPr/>
        </p:nvSpPr>
        <p:spPr>
          <a:xfrm>
            <a:off x="868680" y="3419856"/>
            <a:ext cx="7315200" cy="320040"/>
          </a:xfrm>
          <a:prstGeom prst="rect">
            <a:avLst/>
          </a:prstGeom>
          <a:noFill/>
          <a:ln/>
        </p:spPr>
        <p:txBody>
          <a:bodyPr wrap="square" rtlCol="0" anchor="ctr"/>
          <a:lstStyle/>
          <a:p>
            <a:pPr indent="0" marL="0">
              <a:buNone/>
            </a:pPr>
            <a:r>
              <a:rPr lang="en-US" sz="1050" dirty="0">
                <a:solidFill>
                  <a:srgbClr val="9FB8C4"/>
                </a:solidFill>
                <a:latin typeface="Calibri" pitchFamily="34" charset="0"/>
                <a:ea typeface="Calibri" pitchFamily="34" charset="-122"/>
                <a:cs typeface="Calibri" pitchFamily="34" charset="-120"/>
              </a:rPr>
              <a:t>FastAPI endpoints: /health, /lsas/search, /bookings, /payments/webhook</a:t>
            </a:r>
            <a:endParaRPr lang="en-US" sz="1050" dirty="0"/>
          </a:p>
        </p:txBody>
      </p:sp>
      <p:sp>
        <p:nvSpPr>
          <p:cNvPr id="14" name="Shape 12"/>
          <p:cNvSpPr/>
          <p:nvPr/>
        </p:nvSpPr>
        <p:spPr>
          <a:xfrm>
            <a:off x="4480560" y="3785616"/>
            <a:ext cx="0" cy="137160"/>
          </a:xfrm>
          <a:prstGeom prst="line">
            <a:avLst/>
          </a:prstGeom>
          <a:noFill/>
          <a:ln w="19050">
            <a:solidFill>
              <a:srgbClr val="35597A"/>
            </a:solidFill>
            <a:prstDash val="solid"/>
          </a:ln>
        </p:spPr>
      </p:sp>
      <p:sp>
        <p:nvSpPr>
          <p:cNvPr id="15" name="Shape 13"/>
          <p:cNvSpPr/>
          <p:nvPr/>
        </p:nvSpPr>
        <p:spPr>
          <a:xfrm>
            <a:off x="548640" y="3922776"/>
            <a:ext cx="7863840" cy="749808"/>
          </a:xfrm>
          <a:prstGeom prst="roundRect">
            <a:avLst>
              <a:gd name="adj" fmla="val 12195"/>
            </a:avLst>
          </a:prstGeom>
          <a:solidFill>
            <a:srgbClr val="112C4A"/>
          </a:solidFill>
          <a:ln w="12700">
            <a:solidFill>
              <a:srgbClr val="112C4A"/>
            </a:solidFill>
            <a:prstDash val="solid"/>
          </a:ln>
        </p:spPr>
      </p:sp>
      <p:sp>
        <p:nvSpPr>
          <p:cNvPr id="16" name="Shape 14"/>
          <p:cNvSpPr/>
          <p:nvPr/>
        </p:nvSpPr>
        <p:spPr>
          <a:xfrm>
            <a:off x="548640" y="3922776"/>
            <a:ext cx="109728" cy="749808"/>
          </a:xfrm>
          <a:prstGeom prst="rect">
            <a:avLst/>
          </a:prstGeom>
          <a:solidFill>
            <a:srgbClr val="00A896"/>
          </a:solidFill>
          <a:ln/>
        </p:spPr>
      </p:sp>
      <p:sp>
        <p:nvSpPr>
          <p:cNvPr id="17" name="Text 15"/>
          <p:cNvSpPr/>
          <p:nvPr/>
        </p:nvSpPr>
        <p:spPr>
          <a:xfrm>
            <a:off x="868680" y="3995928"/>
            <a:ext cx="292608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Schemas — schemas.py</a:t>
            </a:r>
            <a:endParaRPr lang="en-US" sz="1300" dirty="0"/>
          </a:p>
        </p:txBody>
      </p:sp>
      <p:sp>
        <p:nvSpPr>
          <p:cNvPr id="18" name="Text 16"/>
          <p:cNvSpPr/>
          <p:nvPr/>
        </p:nvSpPr>
        <p:spPr>
          <a:xfrm>
            <a:off x="868680" y="4306824"/>
            <a:ext cx="7315200" cy="320040"/>
          </a:xfrm>
          <a:prstGeom prst="rect">
            <a:avLst/>
          </a:prstGeom>
          <a:noFill/>
          <a:ln/>
        </p:spPr>
        <p:txBody>
          <a:bodyPr wrap="square" rtlCol="0" anchor="ctr"/>
          <a:lstStyle/>
          <a:p>
            <a:pPr indent="0" marL="0">
              <a:buNone/>
            </a:pPr>
            <a:r>
              <a:rPr lang="en-US" sz="1050" dirty="0">
                <a:solidFill>
                  <a:srgbClr val="9FB8C4"/>
                </a:solidFill>
                <a:latin typeface="Calibri" pitchFamily="34" charset="0"/>
                <a:ea typeface="Calibri" pitchFamily="34" charset="-122"/>
                <a:cs typeface="Calibri" pitchFamily="34" charset="-120"/>
              </a:rPr>
              <a:t>Pydantic v2 validation &amp; serialization (BookingCreate, LSARead...)</a:t>
            </a:r>
            <a:endParaRPr lang="en-US" sz="1050" dirty="0"/>
          </a:p>
        </p:txBody>
      </p:sp>
      <p:sp>
        <p:nvSpPr>
          <p:cNvPr id="19" name="Shape 17"/>
          <p:cNvSpPr/>
          <p:nvPr/>
        </p:nvSpPr>
        <p:spPr>
          <a:xfrm>
            <a:off x="4480560" y="4672584"/>
            <a:ext cx="0" cy="137160"/>
          </a:xfrm>
          <a:prstGeom prst="line">
            <a:avLst/>
          </a:prstGeom>
          <a:noFill/>
          <a:ln w="19050">
            <a:solidFill>
              <a:srgbClr val="35597A"/>
            </a:solidFill>
            <a:prstDash val="solid"/>
          </a:ln>
        </p:spPr>
      </p:sp>
      <p:sp>
        <p:nvSpPr>
          <p:cNvPr id="20" name="Shape 18"/>
          <p:cNvSpPr/>
          <p:nvPr/>
        </p:nvSpPr>
        <p:spPr>
          <a:xfrm>
            <a:off x="548640" y="4809744"/>
            <a:ext cx="7863840" cy="749808"/>
          </a:xfrm>
          <a:prstGeom prst="roundRect">
            <a:avLst>
              <a:gd name="adj" fmla="val 12195"/>
            </a:avLst>
          </a:prstGeom>
          <a:solidFill>
            <a:srgbClr val="112C4A"/>
          </a:solidFill>
          <a:ln w="12700">
            <a:solidFill>
              <a:srgbClr val="112C4A"/>
            </a:solidFill>
            <a:prstDash val="solid"/>
          </a:ln>
        </p:spPr>
      </p:sp>
      <p:sp>
        <p:nvSpPr>
          <p:cNvPr id="21" name="Shape 19"/>
          <p:cNvSpPr/>
          <p:nvPr/>
        </p:nvSpPr>
        <p:spPr>
          <a:xfrm>
            <a:off x="548640" y="4809744"/>
            <a:ext cx="109728" cy="749808"/>
          </a:xfrm>
          <a:prstGeom prst="rect">
            <a:avLst/>
          </a:prstGeom>
          <a:solidFill>
            <a:srgbClr val="02C39A"/>
          </a:solidFill>
          <a:ln/>
        </p:spPr>
      </p:sp>
      <p:sp>
        <p:nvSpPr>
          <p:cNvPr id="22" name="Text 20"/>
          <p:cNvSpPr/>
          <p:nvPr/>
        </p:nvSpPr>
        <p:spPr>
          <a:xfrm>
            <a:off x="868680" y="4882896"/>
            <a:ext cx="292608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Models — models.py</a:t>
            </a:r>
            <a:endParaRPr lang="en-US" sz="1300" dirty="0"/>
          </a:p>
        </p:txBody>
      </p:sp>
      <p:sp>
        <p:nvSpPr>
          <p:cNvPr id="23" name="Text 21"/>
          <p:cNvSpPr/>
          <p:nvPr/>
        </p:nvSpPr>
        <p:spPr>
          <a:xfrm>
            <a:off x="868680" y="5193792"/>
            <a:ext cx="7315200" cy="320040"/>
          </a:xfrm>
          <a:prstGeom prst="rect">
            <a:avLst/>
          </a:prstGeom>
          <a:noFill/>
          <a:ln/>
        </p:spPr>
        <p:txBody>
          <a:bodyPr wrap="square" rtlCol="0" anchor="ctr"/>
          <a:lstStyle/>
          <a:p>
            <a:pPr indent="0" marL="0">
              <a:buNone/>
            </a:pPr>
            <a:r>
              <a:rPr lang="en-US" sz="1050" dirty="0">
                <a:solidFill>
                  <a:srgbClr val="9FB8C4"/>
                </a:solidFill>
                <a:latin typeface="Calibri" pitchFamily="34" charset="0"/>
                <a:ea typeface="Calibri" pitchFamily="34" charset="-122"/>
                <a:cs typeface="Calibri" pitchFamily="34" charset="-120"/>
              </a:rPr>
              <a:t>SQLAlchemy ORM: Parent, LSA, Booking, Payment</a:t>
            </a:r>
            <a:endParaRPr lang="en-US" sz="1050" dirty="0"/>
          </a:p>
        </p:txBody>
      </p:sp>
      <p:sp>
        <p:nvSpPr>
          <p:cNvPr id="24" name="Shape 22"/>
          <p:cNvSpPr/>
          <p:nvPr/>
        </p:nvSpPr>
        <p:spPr>
          <a:xfrm>
            <a:off x="4480560" y="5559552"/>
            <a:ext cx="0" cy="137160"/>
          </a:xfrm>
          <a:prstGeom prst="line">
            <a:avLst/>
          </a:prstGeom>
          <a:noFill/>
          <a:ln w="19050">
            <a:solidFill>
              <a:srgbClr val="35597A"/>
            </a:solidFill>
            <a:prstDash val="solid"/>
          </a:ln>
        </p:spPr>
      </p:sp>
      <p:sp>
        <p:nvSpPr>
          <p:cNvPr id="25" name="Shape 23"/>
          <p:cNvSpPr/>
          <p:nvPr/>
        </p:nvSpPr>
        <p:spPr>
          <a:xfrm>
            <a:off x="548640" y="5696712"/>
            <a:ext cx="7863840" cy="749808"/>
          </a:xfrm>
          <a:prstGeom prst="roundRect">
            <a:avLst>
              <a:gd name="adj" fmla="val 12195"/>
            </a:avLst>
          </a:prstGeom>
          <a:solidFill>
            <a:srgbClr val="112C4A"/>
          </a:solidFill>
          <a:ln w="12700">
            <a:solidFill>
              <a:srgbClr val="112C4A"/>
            </a:solidFill>
            <a:prstDash val="solid"/>
          </a:ln>
        </p:spPr>
      </p:sp>
      <p:sp>
        <p:nvSpPr>
          <p:cNvPr id="26" name="Shape 24"/>
          <p:cNvSpPr/>
          <p:nvPr/>
        </p:nvSpPr>
        <p:spPr>
          <a:xfrm>
            <a:off x="548640" y="5696712"/>
            <a:ext cx="109728" cy="749808"/>
          </a:xfrm>
          <a:prstGeom prst="rect">
            <a:avLst/>
          </a:prstGeom>
          <a:solidFill>
            <a:srgbClr val="6E7FA8"/>
          </a:solidFill>
          <a:ln/>
        </p:spPr>
      </p:sp>
      <p:sp>
        <p:nvSpPr>
          <p:cNvPr id="27" name="Text 25"/>
          <p:cNvSpPr/>
          <p:nvPr/>
        </p:nvSpPr>
        <p:spPr>
          <a:xfrm>
            <a:off x="868680" y="5769864"/>
            <a:ext cx="292608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28" name="Text 26"/>
          <p:cNvSpPr/>
          <p:nvPr/>
        </p:nvSpPr>
        <p:spPr>
          <a:xfrm>
            <a:off x="868680" y="6080760"/>
            <a:ext cx="7315200" cy="320040"/>
          </a:xfrm>
          <a:prstGeom prst="rect">
            <a:avLst/>
          </a:prstGeom>
          <a:noFill/>
          <a:ln/>
        </p:spPr>
        <p:txBody>
          <a:bodyPr wrap="square" rtlCol="0" anchor="ctr"/>
          <a:lstStyle/>
          <a:p>
            <a:pPr indent="0" marL="0">
              <a:buNone/>
            </a:pPr>
            <a:r>
              <a:rPr lang="en-US" sz="1050" dirty="0">
                <a:solidFill>
                  <a:srgbClr val="9FB8C4"/>
                </a:solidFill>
                <a:latin typeface="Calibri" pitchFamily="34" charset="0"/>
                <a:ea typeface="Calibri" pitchFamily="34" charset="-122"/>
                <a:cs typeface="Calibri" pitchFamily="34" charset="-120"/>
              </a:rPr>
              <a:t>PostgreSQL (Supabase) in production · SQLite fallback locally</a:t>
            </a:r>
            <a:endParaRPr lang="en-US" sz="1050" dirty="0"/>
          </a:p>
        </p:txBody>
      </p:sp>
      <p:sp>
        <p:nvSpPr>
          <p:cNvPr id="29" name="Shape 27"/>
          <p:cNvSpPr/>
          <p:nvPr/>
        </p:nvSpPr>
        <p:spPr>
          <a:xfrm>
            <a:off x="8686800" y="2148840"/>
            <a:ext cx="2971800" cy="1417320"/>
          </a:xfrm>
          <a:prstGeom prst="roundRect">
            <a:avLst>
              <a:gd name="adj" fmla="val 7742"/>
            </a:avLst>
          </a:prstGeom>
          <a:solidFill>
            <a:srgbClr val="0F3B5F"/>
          </a:solidFill>
          <a:ln w="12700">
            <a:solidFill>
              <a:srgbClr val="0F3B5F"/>
            </a:solidFill>
            <a:prstDash val="solid"/>
          </a:ln>
        </p:spPr>
      </p:sp>
      <p:sp>
        <p:nvSpPr>
          <p:cNvPr id="30" name="Text 28"/>
          <p:cNvSpPr/>
          <p:nvPr/>
        </p:nvSpPr>
        <p:spPr>
          <a:xfrm>
            <a:off x="8915400" y="2313432"/>
            <a:ext cx="2514600" cy="292608"/>
          </a:xfrm>
          <a:prstGeom prst="rect">
            <a:avLst/>
          </a:prstGeom>
          <a:noFill/>
          <a:ln/>
        </p:spPr>
        <p:txBody>
          <a:bodyPr wrap="square"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MVT mapping</a:t>
            </a:r>
            <a:endParaRPr lang="en-US" sz="1250" dirty="0"/>
          </a:p>
        </p:txBody>
      </p:sp>
      <p:sp>
        <p:nvSpPr>
          <p:cNvPr id="31" name="Text 29"/>
          <p:cNvSpPr/>
          <p:nvPr/>
        </p:nvSpPr>
        <p:spPr>
          <a:xfrm>
            <a:off x="8915400" y="2651760"/>
            <a:ext cx="2514600" cy="82296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Model = ORM · View = route handler · Template = JSON schema</a:t>
            </a:r>
            <a:endParaRPr lang="en-US" sz="1050" dirty="0"/>
          </a:p>
        </p:txBody>
      </p:sp>
      <p:sp>
        <p:nvSpPr>
          <p:cNvPr id="32" name="Shape 30"/>
          <p:cNvSpPr/>
          <p:nvPr/>
        </p:nvSpPr>
        <p:spPr>
          <a:xfrm>
            <a:off x="8686800" y="3749040"/>
            <a:ext cx="2971800" cy="1417320"/>
          </a:xfrm>
          <a:prstGeom prst="roundRect">
            <a:avLst>
              <a:gd name="adj" fmla="val 7742"/>
            </a:avLst>
          </a:prstGeom>
          <a:solidFill>
            <a:srgbClr val="0F3B5F"/>
          </a:solidFill>
          <a:ln w="12700">
            <a:solidFill>
              <a:srgbClr val="0F3B5F"/>
            </a:solidFill>
            <a:prstDash val="solid"/>
          </a:ln>
        </p:spPr>
      </p:sp>
      <p:sp>
        <p:nvSpPr>
          <p:cNvPr id="33" name="Text 31"/>
          <p:cNvSpPr/>
          <p:nvPr/>
        </p:nvSpPr>
        <p:spPr>
          <a:xfrm>
            <a:off x="8915400" y="3913632"/>
            <a:ext cx="2514600" cy="292608"/>
          </a:xfrm>
          <a:prstGeom prst="rect">
            <a:avLst/>
          </a:prstGeom>
          <a:noFill/>
          <a:ln/>
        </p:spPr>
        <p:txBody>
          <a:bodyPr wrap="square"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Why FastAPI</a:t>
            </a:r>
            <a:endParaRPr lang="en-US" sz="1250" dirty="0"/>
          </a:p>
        </p:txBody>
      </p:sp>
      <p:sp>
        <p:nvSpPr>
          <p:cNvPr id="34" name="Text 32"/>
          <p:cNvSpPr/>
          <p:nvPr/>
        </p:nvSpPr>
        <p:spPr>
          <a:xfrm>
            <a:off x="8915400" y="4251960"/>
            <a:ext cx="2514600" cy="82296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Async-ready, native OpenAPI docs, first-class Pydantic validation</a:t>
            </a:r>
            <a:endParaRPr lang="en-US" sz="1050" dirty="0"/>
          </a:p>
        </p:txBody>
      </p:sp>
      <p:sp>
        <p:nvSpPr>
          <p:cNvPr id="35" name="Shape 33"/>
          <p:cNvSpPr/>
          <p:nvPr/>
        </p:nvSpPr>
        <p:spPr>
          <a:xfrm>
            <a:off x="8686800" y="5349240"/>
            <a:ext cx="2971800" cy="1417320"/>
          </a:xfrm>
          <a:prstGeom prst="roundRect">
            <a:avLst>
              <a:gd name="adj" fmla="val 7742"/>
            </a:avLst>
          </a:prstGeom>
          <a:solidFill>
            <a:srgbClr val="0F3B5F"/>
          </a:solidFill>
          <a:ln w="12700">
            <a:solidFill>
              <a:srgbClr val="0F3B5F"/>
            </a:solidFill>
            <a:prstDash val="solid"/>
          </a:ln>
        </p:spPr>
      </p:sp>
      <p:sp>
        <p:nvSpPr>
          <p:cNvPr id="36" name="Text 34"/>
          <p:cNvSpPr/>
          <p:nvPr/>
        </p:nvSpPr>
        <p:spPr>
          <a:xfrm>
            <a:off x="8915400" y="5513832"/>
            <a:ext cx="2514600" cy="292608"/>
          </a:xfrm>
          <a:prstGeom prst="rect">
            <a:avLst/>
          </a:prstGeom>
          <a:noFill/>
          <a:ln/>
        </p:spPr>
        <p:txBody>
          <a:bodyPr wrap="square"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Deployment</a:t>
            </a:r>
            <a:endParaRPr lang="en-US" sz="1250" dirty="0"/>
          </a:p>
        </p:txBody>
      </p:sp>
      <p:sp>
        <p:nvSpPr>
          <p:cNvPr id="37" name="Text 35"/>
          <p:cNvSpPr/>
          <p:nvPr/>
        </p:nvSpPr>
        <p:spPr>
          <a:xfrm>
            <a:off x="8915400" y="5852160"/>
            <a:ext cx="2514600" cy="82296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Uvicorn ASGI server; SUPABASE_DB_URL env var switches DB target</a:t>
            </a:r>
            <a:endParaRPr lang="en-US" sz="1050" dirty="0"/>
          </a:p>
        </p:txBody>
      </p:sp>
      <p:sp>
        <p:nvSpPr>
          <p:cNvPr id="38" name="Text 36"/>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FB8C4"/>
                </a:solidFill>
                <a:latin typeface="Calibri" pitchFamily="34" charset="0"/>
                <a:ea typeface="Calibri" pitchFamily="34" charset="-122"/>
                <a:cs typeface="Calibri" pitchFamily="34" charset="-120"/>
              </a:rPr>
              <a:t>HaboConnect — Python Backend Developer Project</a:t>
            </a:r>
            <a:endParaRPr lang="en-US" sz="900" dirty="0"/>
          </a:p>
        </p:txBody>
      </p:sp>
      <p:sp>
        <p:nvSpPr>
          <p:cNvPr id="39" name="Text 3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FB8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04 · DATA MODEL</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Database Schema — Four Core Entities</a:t>
            </a:r>
            <a:endParaRPr lang="en-US" sz="3200" dirty="0"/>
          </a:p>
        </p:txBody>
      </p:sp>
      <p:sp>
        <p:nvSpPr>
          <p:cNvPr id="4" name="Shape 2"/>
          <p:cNvSpPr/>
          <p:nvPr/>
        </p:nvSpPr>
        <p:spPr>
          <a:xfrm>
            <a:off x="457200" y="1600200"/>
            <a:ext cx="2514600" cy="1965960"/>
          </a:xfrm>
          <a:prstGeom prst="roundRect">
            <a:avLst>
              <a:gd name="adj" fmla="val 3721"/>
            </a:avLst>
          </a:prstGeom>
          <a:solidFill>
            <a:srgbClr val="FFFFFF"/>
          </a:solidFill>
          <a:ln w="12700">
            <a:solidFill>
              <a:srgbClr val="FFFFFF"/>
            </a:solidFill>
            <a:prstDash val="solid"/>
          </a:ln>
        </p:spPr>
      </p:sp>
      <p:sp>
        <p:nvSpPr>
          <p:cNvPr id="5" name="Shape 3"/>
          <p:cNvSpPr/>
          <p:nvPr/>
        </p:nvSpPr>
        <p:spPr>
          <a:xfrm>
            <a:off x="457200" y="1600200"/>
            <a:ext cx="2514600" cy="1965960"/>
          </a:xfrm>
          <a:prstGeom prst="rect">
            <a:avLst>
              <a:gd name="adj" fmla="val 3721"/>
            </a:avLst>
          </a:prstGeom>
          <a:ln w="12700">
            <a:solidFill>
              <a:srgbClr val="D7E6E4"/>
            </a:solidFill>
            <a:prstDash val="solid"/>
          </a:ln>
        </p:spPr>
      </p:sp>
      <p:sp>
        <p:nvSpPr>
          <p:cNvPr id="6" name="Shape 4"/>
          <p:cNvSpPr/>
          <p:nvPr/>
        </p:nvSpPr>
        <p:spPr>
          <a:xfrm>
            <a:off x="457200" y="1600200"/>
            <a:ext cx="2514600" cy="365760"/>
          </a:xfrm>
          <a:prstGeom prst="roundRect">
            <a:avLst>
              <a:gd name="adj" fmla="val 20000"/>
            </a:avLst>
          </a:prstGeom>
          <a:solidFill>
            <a:srgbClr val="0B2545"/>
          </a:solidFill>
          <a:ln w="12700">
            <a:solidFill>
              <a:srgbClr val="0B2545"/>
            </a:solidFill>
            <a:prstDash val="solid"/>
          </a:ln>
        </p:spPr>
      </p:sp>
      <p:sp>
        <p:nvSpPr>
          <p:cNvPr id="7" name="Shape 5"/>
          <p:cNvSpPr/>
          <p:nvPr/>
        </p:nvSpPr>
        <p:spPr>
          <a:xfrm>
            <a:off x="457200" y="1783080"/>
            <a:ext cx="2514600" cy="182880"/>
          </a:xfrm>
          <a:prstGeom prst="rect">
            <a:avLst/>
          </a:prstGeom>
          <a:solidFill>
            <a:srgbClr val="0B2545"/>
          </a:solidFill>
          <a:ln/>
        </p:spPr>
      </p:sp>
      <p:sp>
        <p:nvSpPr>
          <p:cNvPr id="8" name="Text 6"/>
          <p:cNvSpPr/>
          <p:nvPr/>
        </p:nvSpPr>
        <p:spPr>
          <a:xfrm>
            <a:off x="457200" y="1600200"/>
            <a:ext cx="2514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Parent</a:t>
            </a:r>
            <a:endParaRPr lang="en-US" sz="1300" dirty="0"/>
          </a:p>
        </p:txBody>
      </p:sp>
      <p:sp>
        <p:nvSpPr>
          <p:cNvPr id="9" name="Text 7"/>
          <p:cNvSpPr/>
          <p:nvPr/>
        </p:nvSpPr>
        <p:spPr>
          <a:xfrm>
            <a:off x="594360" y="2057400"/>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id (uuid) PK</a:t>
            </a:r>
            <a:endParaRPr lang="en-US" sz="1000" dirty="0"/>
          </a:p>
        </p:txBody>
      </p:sp>
      <p:sp>
        <p:nvSpPr>
          <p:cNvPr id="10" name="Text 8"/>
          <p:cNvSpPr/>
          <p:nvPr/>
        </p:nvSpPr>
        <p:spPr>
          <a:xfrm>
            <a:off x="594360" y="2304288"/>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name</a:t>
            </a:r>
            <a:endParaRPr lang="en-US" sz="1000" dirty="0"/>
          </a:p>
        </p:txBody>
      </p:sp>
      <p:sp>
        <p:nvSpPr>
          <p:cNvPr id="11" name="Text 9"/>
          <p:cNvSpPr/>
          <p:nvPr/>
        </p:nvSpPr>
        <p:spPr>
          <a:xfrm>
            <a:off x="594360" y="2551176"/>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email</a:t>
            </a:r>
            <a:endParaRPr lang="en-US" sz="1000" dirty="0"/>
          </a:p>
        </p:txBody>
      </p:sp>
      <p:sp>
        <p:nvSpPr>
          <p:cNvPr id="12" name="Text 10"/>
          <p:cNvSpPr/>
          <p:nvPr/>
        </p:nvSpPr>
        <p:spPr>
          <a:xfrm>
            <a:off x="594360" y="2798064"/>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phone</a:t>
            </a:r>
            <a:endParaRPr lang="en-US" sz="1000" dirty="0"/>
          </a:p>
        </p:txBody>
      </p:sp>
      <p:sp>
        <p:nvSpPr>
          <p:cNvPr id="13" name="Text 11"/>
          <p:cNvSpPr/>
          <p:nvPr/>
        </p:nvSpPr>
        <p:spPr>
          <a:xfrm>
            <a:off x="594360" y="3044952"/>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created_at</a:t>
            </a:r>
            <a:endParaRPr lang="en-US" sz="1000" dirty="0"/>
          </a:p>
        </p:txBody>
      </p:sp>
      <p:sp>
        <p:nvSpPr>
          <p:cNvPr id="14" name="Shape 12"/>
          <p:cNvSpPr/>
          <p:nvPr/>
        </p:nvSpPr>
        <p:spPr>
          <a:xfrm>
            <a:off x="3383280" y="1600200"/>
            <a:ext cx="2651760" cy="2468880"/>
          </a:xfrm>
          <a:prstGeom prst="roundRect">
            <a:avLst>
              <a:gd name="adj" fmla="val 2963"/>
            </a:avLst>
          </a:prstGeom>
          <a:solidFill>
            <a:srgbClr val="FFFFFF"/>
          </a:solidFill>
          <a:ln w="12700">
            <a:solidFill>
              <a:srgbClr val="FFFFFF"/>
            </a:solidFill>
            <a:prstDash val="solid"/>
          </a:ln>
        </p:spPr>
      </p:sp>
      <p:sp>
        <p:nvSpPr>
          <p:cNvPr id="15" name="Shape 13"/>
          <p:cNvSpPr/>
          <p:nvPr/>
        </p:nvSpPr>
        <p:spPr>
          <a:xfrm>
            <a:off x="3383280" y="1600200"/>
            <a:ext cx="2651760" cy="2468880"/>
          </a:xfrm>
          <a:prstGeom prst="rect">
            <a:avLst>
              <a:gd name="adj" fmla="val 2963"/>
            </a:avLst>
          </a:prstGeom>
          <a:ln w="12700">
            <a:solidFill>
              <a:srgbClr val="D7E6E4"/>
            </a:solidFill>
            <a:prstDash val="solid"/>
          </a:ln>
        </p:spPr>
      </p:sp>
      <p:sp>
        <p:nvSpPr>
          <p:cNvPr id="16" name="Shape 14"/>
          <p:cNvSpPr/>
          <p:nvPr/>
        </p:nvSpPr>
        <p:spPr>
          <a:xfrm>
            <a:off x="3383280" y="1600200"/>
            <a:ext cx="2651760" cy="365760"/>
          </a:xfrm>
          <a:prstGeom prst="roundRect">
            <a:avLst>
              <a:gd name="adj" fmla="val 20000"/>
            </a:avLst>
          </a:prstGeom>
          <a:solidFill>
            <a:srgbClr val="028090"/>
          </a:solidFill>
          <a:ln w="12700">
            <a:solidFill>
              <a:srgbClr val="028090"/>
            </a:solidFill>
            <a:prstDash val="solid"/>
          </a:ln>
        </p:spPr>
      </p:sp>
      <p:sp>
        <p:nvSpPr>
          <p:cNvPr id="17" name="Shape 15"/>
          <p:cNvSpPr/>
          <p:nvPr/>
        </p:nvSpPr>
        <p:spPr>
          <a:xfrm>
            <a:off x="3383280" y="1783080"/>
            <a:ext cx="2651760" cy="182880"/>
          </a:xfrm>
          <a:prstGeom prst="rect">
            <a:avLst/>
          </a:prstGeom>
          <a:solidFill>
            <a:srgbClr val="028090"/>
          </a:solidFill>
          <a:ln/>
        </p:spPr>
      </p:sp>
      <p:sp>
        <p:nvSpPr>
          <p:cNvPr id="18" name="Text 16"/>
          <p:cNvSpPr/>
          <p:nvPr/>
        </p:nvSpPr>
        <p:spPr>
          <a:xfrm>
            <a:off x="3383280" y="1600200"/>
            <a:ext cx="2651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Booking</a:t>
            </a:r>
            <a:endParaRPr lang="en-US" sz="1300" dirty="0"/>
          </a:p>
        </p:txBody>
      </p:sp>
      <p:sp>
        <p:nvSpPr>
          <p:cNvPr id="19" name="Text 17"/>
          <p:cNvSpPr/>
          <p:nvPr/>
        </p:nvSpPr>
        <p:spPr>
          <a:xfrm>
            <a:off x="3520440" y="2057400"/>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id (uuid) PK</a:t>
            </a:r>
            <a:endParaRPr lang="en-US" sz="1000" dirty="0"/>
          </a:p>
        </p:txBody>
      </p:sp>
      <p:sp>
        <p:nvSpPr>
          <p:cNvPr id="20" name="Text 18"/>
          <p:cNvSpPr/>
          <p:nvPr/>
        </p:nvSpPr>
        <p:spPr>
          <a:xfrm>
            <a:off x="3520440" y="2304288"/>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parent_id FK</a:t>
            </a:r>
            <a:endParaRPr lang="en-US" sz="1000" dirty="0"/>
          </a:p>
        </p:txBody>
      </p:sp>
      <p:sp>
        <p:nvSpPr>
          <p:cNvPr id="21" name="Text 19"/>
          <p:cNvSpPr/>
          <p:nvPr/>
        </p:nvSpPr>
        <p:spPr>
          <a:xfrm>
            <a:off x="3520440" y="2551176"/>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lsa_id FK</a:t>
            </a:r>
            <a:endParaRPr lang="en-US" sz="1000" dirty="0"/>
          </a:p>
        </p:txBody>
      </p:sp>
      <p:sp>
        <p:nvSpPr>
          <p:cNvPr id="22" name="Text 20"/>
          <p:cNvSpPr/>
          <p:nvPr/>
        </p:nvSpPr>
        <p:spPr>
          <a:xfrm>
            <a:off x="3520440" y="2798064"/>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child_name / skill</a:t>
            </a:r>
            <a:endParaRPr lang="en-US" sz="1000" dirty="0"/>
          </a:p>
        </p:txBody>
      </p:sp>
      <p:sp>
        <p:nvSpPr>
          <p:cNvPr id="23" name="Text 21"/>
          <p:cNvSpPr/>
          <p:nvPr/>
        </p:nvSpPr>
        <p:spPr>
          <a:xfrm>
            <a:off x="3520440" y="3044952"/>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starts_at / ends_at</a:t>
            </a:r>
            <a:endParaRPr lang="en-US" sz="1000" dirty="0"/>
          </a:p>
        </p:txBody>
      </p:sp>
      <p:sp>
        <p:nvSpPr>
          <p:cNvPr id="24" name="Text 22"/>
          <p:cNvSpPr/>
          <p:nvPr/>
        </p:nvSpPr>
        <p:spPr>
          <a:xfrm>
            <a:off x="3520440" y="3291840"/>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status / payment_status</a:t>
            </a:r>
            <a:endParaRPr lang="en-US" sz="1000" dirty="0"/>
          </a:p>
        </p:txBody>
      </p:sp>
      <p:sp>
        <p:nvSpPr>
          <p:cNvPr id="25" name="Text 23"/>
          <p:cNvSpPr/>
          <p:nvPr/>
        </p:nvSpPr>
        <p:spPr>
          <a:xfrm>
            <a:off x="3520440" y="3538728"/>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notes, created_at</a:t>
            </a:r>
            <a:endParaRPr lang="en-US" sz="1000" dirty="0"/>
          </a:p>
        </p:txBody>
      </p:sp>
      <p:sp>
        <p:nvSpPr>
          <p:cNvPr id="26" name="Shape 24"/>
          <p:cNvSpPr/>
          <p:nvPr/>
        </p:nvSpPr>
        <p:spPr>
          <a:xfrm>
            <a:off x="6446520" y="1600200"/>
            <a:ext cx="2514600" cy="1965960"/>
          </a:xfrm>
          <a:prstGeom prst="roundRect">
            <a:avLst>
              <a:gd name="adj" fmla="val 3721"/>
            </a:avLst>
          </a:prstGeom>
          <a:solidFill>
            <a:srgbClr val="FFFFFF"/>
          </a:solidFill>
          <a:ln w="12700">
            <a:solidFill>
              <a:srgbClr val="FFFFFF"/>
            </a:solidFill>
            <a:prstDash val="solid"/>
          </a:ln>
        </p:spPr>
      </p:sp>
      <p:sp>
        <p:nvSpPr>
          <p:cNvPr id="27" name="Shape 25"/>
          <p:cNvSpPr/>
          <p:nvPr/>
        </p:nvSpPr>
        <p:spPr>
          <a:xfrm>
            <a:off x="6446520" y="1600200"/>
            <a:ext cx="2514600" cy="1965960"/>
          </a:xfrm>
          <a:prstGeom prst="rect">
            <a:avLst>
              <a:gd name="adj" fmla="val 3721"/>
            </a:avLst>
          </a:prstGeom>
          <a:ln w="12700">
            <a:solidFill>
              <a:srgbClr val="D7E6E4"/>
            </a:solidFill>
            <a:prstDash val="solid"/>
          </a:ln>
        </p:spPr>
      </p:sp>
      <p:sp>
        <p:nvSpPr>
          <p:cNvPr id="28" name="Shape 26"/>
          <p:cNvSpPr/>
          <p:nvPr/>
        </p:nvSpPr>
        <p:spPr>
          <a:xfrm>
            <a:off x="6446520" y="1600200"/>
            <a:ext cx="2514600" cy="365760"/>
          </a:xfrm>
          <a:prstGeom prst="roundRect">
            <a:avLst>
              <a:gd name="adj" fmla="val 20000"/>
            </a:avLst>
          </a:prstGeom>
          <a:solidFill>
            <a:srgbClr val="00A896"/>
          </a:solidFill>
          <a:ln w="12700">
            <a:solidFill>
              <a:srgbClr val="00A896"/>
            </a:solidFill>
            <a:prstDash val="solid"/>
          </a:ln>
        </p:spPr>
      </p:sp>
      <p:sp>
        <p:nvSpPr>
          <p:cNvPr id="29" name="Shape 27"/>
          <p:cNvSpPr/>
          <p:nvPr/>
        </p:nvSpPr>
        <p:spPr>
          <a:xfrm>
            <a:off x="6446520" y="1783080"/>
            <a:ext cx="2514600" cy="182880"/>
          </a:xfrm>
          <a:prstGeom prst="rect">
            <a:avLst/>
          </a:prstGeom>
          <a:solidFill>
            <a:srgbClr val="00A896"/>
          </a:solidFill>
          <a:ln/>
        </p:spPr>
      </p:sp>
      <p:sp>
        <p:nvSpPr>
          <p:cNvPr id="30" name="Text 28"/>
          <p:cNvSpPr/>
          <p:nvPr/>
        </p:nvSpPr>
        <p:spPr>
          <a:xfrm>
            <a:off x="6446520" y="1600200"/>
            <a:ext cx="2514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LSA</a:t>
            </a:r>
            <a:endParaRPr lang="en-US" sz="1300" dirty="0"/>
          </a:p>
        </p:txBody>
      </p:sp>
      <p:sp>
        <p:nvSpPr>
          <p:cNvPr id="31" name="Text 29"/>
          <p:cNvSpPr/>
          <p:nvPr/>
        </p:nvSpPr>
        <p:spPr>
          <a:xfrm>
            <a:off x="6583680" y="2057400"/>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id (uuid) PK</a:t>
            </a:r>
            <a:endParaRPr lang="en-US" sz="1000" dirty="0"/>
          </a:p>
        </p:txBody>
      </p:sp>
      <p:sp>
        <p:nvSpPr>
          <p:cNvPr id="32" name="Text 30"/>
          <p:cNvSpPr/>
          <p:nvPr/>
        </p:nvSpPr>
        <p:spPr>
          <a:xfrm>
            <a:off x="6583680" y="2304288"/>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name / email</a:t>
            </a:r>
            <a:endParaRPr lang="en-US" sz="1000" dirty="0"/>
          </a:p>
        </p:txBody>
      </p:sp>
      <p:sp>
        <p:nvSpPr>
          <p:cNvPr id="33" name="Text 31"/>
          <p:cNvSpPr/>
          <p:nvPr/>
        </p:nvSpPr>
        <p:spPr>
          <a:xfrm>
            <a:off x="6583680" y="2551176"/>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skills (array)</a:t>
            </a:r>
            <a:endParaRPr lang="en-US" sz="1000" dirty="0"/>
          </a:p>
        </p:txBody>
      </p:sp>
      <p:sp>
        <p:nvSpPr>
          <p:cNvPr id="34" name="Text 32"/>
          <p:cNvSpPr/>
          <p:nvPr/>
        </p:nvSpPr>
        <p:spPr>
          <a:xfrm>
            <a:off x="6583680" y="2798064"/>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hourly_rate</a:t>
            </a:r>
            <a:endParaRPr lang="en-US" sz="1000" dirty="0"/>
          </a:p>
        </p:txBody>
      </p:sp>
      <p:sp>
        <p:nvSpPr>
          <p:cNvPr id="35" name="Text 33"/>
          <p:cNvSpPr/>
          <p:nvPr/>
        </p:nvSpPr>
        <p:spPr>
          <a:xfrm>
            <a:off x="6583680" y="3044952"/>
            <a:ext cx="224028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active, timezone</a:t>
            </a:r>
            <a:endParaRPr lang="en-US" sz="1000" dirty="0"/>
          </a:p>
        </p:txBody>
      </p:sp>
      <p:sp>
        <p:nvSpPr>
          <p:cNvPr id="36" name="Shape 34"/>
          <p:cNvSpPr/>
          <p:nvPr/>
        </p:nvSpPr>
        <p:spPr>
          <a:xfrm>
            <a:off x="3383280" y="4434840"/>
            <a:ext cx="2651760" cy="1828800"/>
          </a:xfrm>
          <a:prstGeom prst="roundRect">
            <a:avLst>
              <a:gd name="adj" fmla="val 4000"/>
            </a:avLst>
          </a:prstGeom>
          <a:solidFill>
            <a:srgbClr val="FFFFFF"/>
          </a:solidFill>
          <a:ln w="12700">
            <a:solidFill>
              <a:srgbClr val="FFFFFF"/>
            </a:solidFill>
            <a:prstDash val="solid"/>
          </a:ln>
        </p:spPr>
      </p:sp>
      <p:sp>
        <p:nvSpPr>
          <p:cNvPr id="37" name="Shape 35"/>
          <p:cNvSpPr/>
          <p:nvPr/>
        </p:nvSpPr>
        <p:spPr>
          <a:xfrm>
            <a:off x="3383280" y="4434840"/>
            <a:ext cx="2651760" cy="1828800"/>
          </a:xfrm>
          <a:prstGeom prst="rect">
            <a:avLst>
              <a:gd name="adj" fmla="val 4000"/>
            </a:avLst>
          </a:prstGeom>
          <a:ln w="12700">
            <a:solidFill>
              <a:srgbClr val="D7E6E4"/>
            </a:solidFill>
            <a:prstDash val="solid"/>
          </a:ln>
        </p:spPr>
      </p:sp>
      <p:sp>
        <p:nvSpPr>
          <p:cNvPr id="38" name="Shape 36"/>
          <p:cNvSpPr/>
          <p:nvPr/>
        </p:nvSpPr>
        <p:spPr>
          <a:xfrm>
            <a:off x="3383280" y="4434840"/>
            <a:ext cx="2651760" cy="365760"/>
          </a:xfrm>
          <a:prstGeom prst="roundRect">
            <a:avLst>
              <a:gd name="adj" fmla="val 20000"/>
            </a:avLst>
          </a:prstGeom>
          <a:solidFill>
            <a:srgbClr val="02C39A"/>
          </a:solidFill>
          <a:ln w="12700">
            <a:solidFill>
              <a:srgbClr val="02C39A"/>
            </a:solidFill>
            <a:prstDash val="solid"/>
          </a:ln>
        </p:spPr>
      </p:sp>
      <p:sp>
        <p:nvSpPr>
          <p:cNvPr id="39" name="Shape 37"/>
          <p:cNvSpPr/>
          <p:nvPr/>
        </p:nvSpPr>
        <p:spPr>
          <a:xfrm>
            <a:off x="3383280" y="4617720"/>
            <a:ext cx="2651760" cy="182880"/>
          </a:xfrm>
          <a:prstGeom prst="rect">
            <a:avLst/>
          </a:prstGeom>
          <a:solidFill>
            <a:srgbClr val="02C39A"/>
          </a:solidFill>
          <a:ln/>
        </p:spPr>
      </p:sp>
      <p:sp>
        <p:nvSpPr>
          <p:cNvPr id="40" name="Text 38"/>
          <p:cNvSpPr/>
          <p:nvPr/>
        </p:nvSpPr>
        <p:spPr>
          <a:xfrm>
            <a:off x="3383280" y="4434840"/>
            <a:ext cx="2651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Payment</a:t>
            </a:r>
            <a:endParaRPr lang="en-US" sz="1300" dirty="0"/>
          </a:p>
        </p:txBody>
      </p:sp>
      <p:sp>
        <p:nvSpPr>
          <p:cNvPr id="41" name="Text 39"/>
          <p:cNvSpPr/>
          <p:nvPr/>
        </p:nvSpPr>
        <p:spPr>
          <a:xfrm>
            <a:off x="3520440" y="4892040"/>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id (uuid) PK</a:t>
            </a:r>
            <a:endParaRPr lang="en-US" sz="1000" dirty="0"/>
          </a:p>
        </p:txBody>
      </p:sp>
      <p:sp>
        <p:nvSpPr>
          <p:cNvPr id="42" name="Text 40"/>
          <p:cNvSpPr/>
          <p:nvPr/>
        </p:nvSpPr>
        <p:spPr>
          <a:xfrm>
            <a:off x="3520440" y="5138928"/>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booking_id FK</a:t>
            </a:r>
            <a:endParaRPr lang="en-US" sz="1000" dirty="0"/>
          </a:p>
        </p:txBody>
      </p:sp>
      <p:sp>
        <p:nvSpPr>
          <p:cNvPr id="43" name="Text 41"/>
          <p:cNvSpPr/>
          <p:nvPr/>
        </p:nvSpPr>
        <p:spPr>
          <a:xfrm>
            <a:off x="3520440" y="5385816"/>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provider_event_id (unique)</a:t>
            </a:r>
            <a:endParaRPr lang="en-US" sz="1000" dirty="0"/>
          </a:p>
        </p:txBody>
      </p:sp>
      <p:sp>
        <p:nvSpPr>
          <p:cNvPr id="44" name="Text 42"/>
          <p:cNvSpPr/>
          <p:nvPr/>
        </p:nvSpPr>
        <p:spPr>
          <a:xfrm>
            <a:off x="3520440" y="5632704"/>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amount / currency</a:t>
            </a:r>
            <a:endParaRPr lang="en-US" sz="1000" dirty="0"/>
          </a:p>
        </p:txBody>
      </p:sp>
      <p:sp>
        <p:nvSpPr>
          <p:cNvPr id="45" name="Text 43"/>
          <p:cNvSpPr/>
          <p:nvPr/>
        </p:nvSpPr>
        <p:spPr>
          <a:xfrm>
            <a:off x="3520440" y="5879592"/>
            <a:ext cx="2377440" cy="237744"/>
          </a:xfrm>
          <a:prstGeom prst="rect">
            <a:avLst/>
          </a:prstGeom>
          <a:noFill/>
          <a:ln/>
        </p:spPr>
        <p:txBody>
          <a:bodyPr wrap="square" rtlCol="0" anchor="ctr"/>
          <a:lstStyle/>
          <a:p>
            <a:pPr indent="0" marL="0">
              <a:buNone/>
            </a:pPr>
            <a:r>
              <a:rPr lang="en-US" sz="1000" dirty="0">
                <a:solidFill>
                  <a:srgbClr val="16323A"/>
                </a:solidFill>
                <a:latin typeface="Calibri" pitchFamily="34" charset="0"/>
                <a:ea typeface="Calibri" pitchFamily="34" charset="-122"/>
                <a:cs typeface="Calibri" pitchFamily="34" charset="-120"/>
              </a:rPr>
              <a:t>status</a:t>
            </a:r>
            <a:endParaRPr lang="en-US" sz="1000" dirty="0"/>
          </a:p>
        </p:txBody>
      </p:sp>
      <p:sp>
        <p:nvSpPr>
          <p:cNvPr id="46" name="Shape 44"/>
          <p:cNvSpPr/>
          <p:nvPr/>
        </p:nvSpPr>
        <p:spPr>
          <a:xfrm>
            <a:off x="2971800" y="2560320"/>
            <a:ext cx="411480" cy="0"/>
          </a:xfrm>
          <a:prstGeom prst="line">
            <a:avLst/>
          </a:prstGeom>
          <a:noFill/>
          <a:ln w="15875">
            <a:solidFill>
              <a:srgbClr val="51707A"/>
            </a:solidFill>
            <a:prstDash val="solid"/>
          </a:ln>
        </p:spPr>
      </p:sp>
      <p:sp>
        <p:nvSpPr>
          <p:cNvPr id="47" name="Shape 45"/>
          <p:cNvSpPr/>
          <p:nvPr/>
        </p:nvSpPr>
        <p:spPr>
          <a:xfrm>
            <a:off x="6035040" y="2560320"/>
            <a:ext cx="411480" cy="0"/>
          </a:xfrm>
          <a:prstGeom prst="line">
            <a:avLst/>
          </a:prstGeom>
          <a:noFill/>
          <a:ln w="15875">
            <a:solidFill>
              <a:srgbClr val="51707A"/>
            </a:solidFill>
            <a:prstDash val="solid"/>
          </a:ln>
        </p:spPr>
      </p:sp>
      <p:sp>
        <p:nvSpPr>
          <p:cNvPr id="48" name="Shape 46"/>
          <p:cNvSpPr/>
          <p:nvPr/>
        </p:nvSpPr>
        <p:spPr>
          <a:xfrm>
            <a:off x="4709160" y="4069080"/>
            <a:ext cx="0" cy="365760"/>
          </a:xfrm>
          <a:prstGeom prst="line">
            <a:avLst/>
          </a:prstGeom>
          <a:noFill/>
          <a:ln w="15875">
            <a:solidFill>
              <a:srgbClr val="51707A"/>
            </a:solidFill>
            <a:prstDash val="solid"/>
          </a:ln>
        </p:spPr>
      </p:sp>
      <p:sp>
        <p:nvSpPr>
          <p:cNvPr id="49" name="Text 47"/>
          <p:cNvSpPr/>
          <p:nvPr/>
        </p:nvSpPr>
        <p:spPr>
          <a:xfrm>
            <a:off x="2743200" y="2286000"/>
            <a:ext cx="822960" cy="228600"/>
          </a:xfrm>
          <a:prstGeom prst="rect">
            <a:avLst/>
          </a:prstGeom>
          <a:noFill/>
          <a:ln/>
        </p:spPr>
        <p:txBody>
          <a:bodyPr wrap="square" rtlCol="0" anchor="ctr"/>
          <a:lstStyle/>
          <a:p>
            <a:pPr algn="ctr" indent="0" marL="0">
              <a:buNone/>
            </a:pPr>
            <a:r>
              <a:rPr lang="en-US" sz="950" dirty="0">
                <a:solidFill>
                  <a:srgbClr val="51707A"/>
                </a:solidFill>
                <a:latin typeface="Calibri" pitchFamily="34" charset="0"/>
                <a:ea typeface="Calibri" pitchFamily="34" charset="-122"/>
                <a:cs typeface="Calibri" pitchFamily="34" charset="-120"/>
              </a:rPr>
              <a:t>1—N</a:t>
            </a:r>
            <a:endParaRPr lang="en-US" sz="950" dirty="0"/>
          </a:p>
        </p:txBody>
      </p:sp>
      <p:sp>
        <p:nvSpPr>
          <p:cNvPr id="50" name="Text 48"/>
          <p:cNvSpPr/>
          <p:nvPr/>
        </p:nvSpPr>
        <p:spPr>
          <a:xfrm>
            <a:off x="5760720" y="2286000"/>
            <a:ext cx="822960" cy="228600"/>
          </a:xfrm>
          <a:prstGeom prst="rect">
            <a:avLst/>
          </a:prstGeom>
          <a:noFill/>
          <a:ln/>
        </p:spPr>
        <p:txBody>
          <a:bodyPr wrap="square" rtlCol="0" anchor="ctr"/>
          <a:lstStyle/>
          <a:p>
            <a:pPr algn="ctr" indent="0" marL="0">
              <a:buNone/>
            </a:pPr>
            <a:r>
              <a:rPr lang="en-US" sz="950" dirty="0">
                <a:solidFill>
                  <a:srgbClr val="51707A"/>
                </a:solidFill>
                <a:latin typeface="Calibri" pitchFamily="34" charset="0"/>
                <a:ea typeface="Calibri" pitchFamily="34" charset="-122"/>
                <a:cs typeface="Calibri" pitchFamily="34" charset="-120"/>
              </a:rPr>
              <a:t>N—1</a:t>
            </a:r>
            <a:endParaRPr lang="en-US" sz="950" dirty="0"/>
          </a:p>
        </p:txBody>
      </p:sp>
      <p:sp>
        <p:nvSpPr>
          <p:cNvPr id="51" name="Text 49"/>
          <p:cNvSpPr/>
          <p:nvPr/>
        </p:nvSpPr>
        <p:spPr>
          <a:xfrm>
            <a:off x="4434840" y="4114800"/>
            <a:ext cx="640080" cy="228600"/>
          </a:xfrm>
          <a:prstGeom prst="rect">
            <a:avLst/>
          </a:prstGeom>
          <a:noFill/>
          <a:ln/>
        </p:spPr>
        <p:txBody>
          <a:bodyPr wrap="square" rtlCol="0" anchor="ctr"/>
          <a:lstStyle/>
          <a:p>
            <a:pPr algn="ctr" indent="0" marL="0">
              <a:buNone/>
            </a:pPr>
            <a:r>
              <a:rPr lang="en-US" sz="950" dirty="0">
                <a:solidFill>
                  <a:srgbClr val="51707A"/>
                </a:solidFill>
                <a:latin typeface="Calibri" pitchFamily="34" charset="0"/>
                <a:ea typeface="Calibri" pitchFamily="34" charset="-122"/>
                <a:cs typeface="Calibri" pitchFamily="34" charset="-120"/>
              </a:rPr>
              <a:t>1—N</a:t>
            </a:r>
            <a:endParaRPr lang="en-US" sz="950" dirty="0"/>
          </a:p>
        </p:txBody>
      </p:sp>
      <p:sp>
        <p:nvSpPr>
          <p:cNvPr id="52" name="Shape 50"/>
          <p:cNvSpPr/>
          <p:nvPr/>
        </p:nvSpPr>
        <p:spPr>
          <a:xfrm>
            <a:off x="9281160" y="1600200"/>
            <a:ext cx="2377440" cy="4663440"/>
          </a:xfrm>
          <a:prstGeom prst="roundRect">
            <a:avLst>
              <a:gd name="adj" fmla="val 3846"/>
            </a:avLst>
          </a:prstGeom>
          <a:solidFill>
            <a:srgbClr val="EEF5F4"/>
          </a:solidFill>
          <a:ln w="12700">
            <a:solidFill>
              <a:srgbClr val="EEF5F4"/>
            </a:solidFill>
            <a:prstDash val="solid"/>
          </a:ln>
        </p:spPr>
      </p:sp>
      <p:sp>
        <p:nvSpPr>
          <p:cNvPr id="53" name="Text 51"/>
          <p:cNvSpPr/>
          <p:nvPr/>
        </p:nvSpPr>
        <p:spPr>
          <a:xfrm>
            <a:off x="9509760" y="1783080"/>
            <a:ext cx="1965960" cy="274320"/>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DESIGN NOTES</a:t>
            </a:r>
            <a:endParaRPr lang="en-US" sz="1050" dirty="0"/>
          </a:p>
        </p:txBody>
      </p:sp>
      <p:sp>
        <p:nvSpPr>
          <p:cNvPr id="54" name="Text 52"/>
          <p:cNvSpPr/>
          <p:nvPr/>
        </p:nvSpPr>
        <p:spPr>
          <a:xfrm>
            <a:off x="9509760" y="2103120"/>
            <a:ext cx="1965960" cy="4023360"/>
          </a:xfrm>
          <a:prstGeom prst="rect">
            <a:avLst/>
          </a:prstGeom>
          <a:noFill/>
          <a:ln/>
        </p:spPr>
        <p:txBody>
          <a:bodyPr wrap="square" rtlCol="0" anchor="ctr"/>
          <a:lstStyle/>
          <a:p>
            <a:pPr indent="0" marL="0">
              <a:lnSpc>
                <a:spcPct val="130000"/>
              </a:lnSpc>
              <a:buNone/>
            </a:pPr>
            <a:r>
              <a:rPr lang="en-US" sz="1000" dirty="0">
                <a:solidFill>
                  <a:srgbClr val="16323A"/>
                </a:solidFill>
                <a:latin typeface="Calibri" pitchFamily="34" charset="0"/>
                <a:ea typeface="Calibri" pitchFamily="34" charset="-122"/>
                <a:cs typeface="Calibri" pitchFamily="34" charset="-120"/>
              </a:rPr>
              <a:t>• Fully normalized — no repeated groups</a:t>
            </a:r>
            <a:endParaRPr lang="en-US" sz="1000" dirty="0"/>
          </a:p>
          <a:p>
            <a:pPr indent="0" marL="0">
              <a:lnSpc>
                <a:spcPct val="130000"/>
              </a:lnSpc>
              <a:buNone/>
            </a:pPr>
            <a:r>
              <a:rPr lang="en-US" sz="1000" dirty="0">
                <a:solidFill>
                  <a:srgbClr val="16323A"/>
                </a:solidFill>
                <a:latin typeface="Calibri" pitchFamily="34" charset="0"/>
                <a:ea typeface="Calibri" pitchFamily="34" charset="-122"/>
                <a:cs typeface="Calibri" pitchFamily="34" charset="-120"/>
              </a:rPr>
              <a:t>• UUID primary keys for safe distributed inserts</a:t>
            </a:r>
            <a:endParaRPr lang="en-US" sz="1000" dirty="0"/>
          </a:p>
          <a:p>
            <a:pPr indent="0" marL="0">
              <a:lnSpc>
                <a:spcPct val="130000"/>
              </a:lnSpc>
              <a:buNone/>
            </a:pPr>
            <a:r>
              <a:rPr lang="en-US" sz="1000" dirty="0">
                <a:solidFill>
                  <a:srgbClr val="16323A"/>
                </a:solidFill>
                <a:latin typeface="Calibri" pitchFamily="34" charset="0"/>
                <a:ea typeface="Calibri" pitchFamily="34" charset="-122"/>
                <a:cs typeface="Calibri" pitchFamily="34" charset="-120"/>
              </a:rPr>
              <a:t>• skills stored as a Postgres array on LSA for direct containment filtering</a:t>
            </a:r>
            <a:endParaRPr lang="en-US" sz="1000" dirty="0"/>
          </a:p>
          <a:p>
            <a:pPr indent="0" marL="0">
              <a:lnSpc>
                <a:spcPct val="130000"/>
              </a:lnSpc>
              <a:buNone/>
            </a:pPr>
            <a:r>
              <a:rPr lang="en-US" sz="1000" dirty="0">
                <a:solidFill>
                  <a:srgbClr val="16323A"/>
                </a:solidFill>
                <a:latin typeface="Calibri" pitchFamily="34" charset="0"/>
                <a:ea typeface="Calibri" pitchFamily="34" charset="-122"/>
                <a:cs typeface="Calibri" pitchFamily="34" charset="-120"/>
              </a:rPr>
              <a:t>• status enums enforced at both app and DB layers</a:t>
            </a:r>
            <a:endParaRPr lang="en-US" sz="1000" dirty="0"/>
          </a:p>
        </p:txBody>
      </p:sp>
      <p:sp>
        <p:nvSpPr>
          <p:cNvPr id="55" name="Text 5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56" name="Text 5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05 · INDEXING &amp; SECURITY</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Indexes, Constraints &amp; Row-Level Security</a:t>
            </a:r>
            <a:endParaRPr lang="en-US" sz="3200" dirty="0"/>
          </a:p>
        </p:txBody>
      </p:sp>
      <p:sp>
        <p:nvSpPr>
          <p:cNvPr id="4" name="Shape 2"/>
          <p:cNvSpPr/>
          <p:nvPr/>
        </p:nvSpPr>
        <p:spPr>
          <a:xfrm>
            <a:off x="548640" y="1554480"/>
            <a:ext cx="5852160" cy="4480560"/>
          </a:xfrm>
          <a:prstGeom prst="roundRect">
            <a:avLst>
              <a:gd name="adj" fmla="val 2041"/>
            </a:avLst>
          </a:prstGeom>
          <a:solidFill>
            <a:srgbClr val="FFFFFF"/>
          </a:solidFill>
          <a:ln w="12700">
            <a:solidFill>
              <a:srgbClr val="FFFFFF"/>
            </a:solidFill>
            <a:prstDash val="solid"/>
          </a:ln>
        </p:spPr>
      </p:sp>
      <p:sp>
        <p:nvSpPr>
          <p:cNvPr id="5" name="Text 3"/>
          <p:cNvSpPr/>
          <p:nvPr/>
        </p:nvSpPr>
        <p:spPr>
          <a:xfrm>
            <a:off x="822960" y="1737360"/>
            <a:ext cx="5303520" cy="274320"/>
          </a:xfrm>
          <a:prstGeom prst="rect">
            <a:avLst/>
          </a:prstGeom>
          <a:noFill/>
          <a:ln/>
        </p:spPr>
        <p:txBody>
          <a:bodyPr wrap="square" rtlCol="0" anchor="ctr"/>
          <a:lstStyle/>
          <a:p>
            <a:pPr indent="0" marL="0">
              <a:buNone/>
            </a:pPr>
            <a:r>
              <a:rPr lang="en-US" sz="1150" b="1" spc="100" kern="0" dirty="0">
                <a:solidFill>
                  <a:srgbClr val="028090"/>
                </a:solidFill>
                <a:latin typeface="Calibri" pitchFamily="34" charset="0"/>
                <a:ea typeface="Calibri" pitchFamily="34" charset="-122"/>
                <a:cs typeface="Calibri" pitchFamily="34" charset="-120"/>
              </a:rPr>
              <a:t>INDEXING STRATEGY</a:t>
            </a:r>
            <a:endParaRPr lang="en-US" sz="1150" dirty="0"/>
          </a:p>
        </p:txBody>
      </p:sp>
      <p:sp>
        <p:nvSpPr>
          <p:cNvPr id="6" name="Shape 4"/>
          <p:cNvSpPr/>
          <p:nvPr/>
        </p:nvSpPr>
        <p:spPr>
          <a:xfrm>
            <a:off x="822960" y="2148840"/>
            <a:ext cx="384048" cy="384048"/>
          </a:xfrm>
          <a:prstGeom prst="ellipse">
            <a:avLst/>
          </a:prstGeom>
          <a:solidFill>
            <a:srgbClr val="00A896"/>
          </a:solidFill>
          <a:ln/>
        </p:spPr>
      </p:sp>
      <p:sp>
        <p:nvSpPr>
          <p:cNvPr id="7" name="Text 5"/>
          <p:cNvSpPr/>
          <p:nvPr/>
        </p:nvSpPr>
        <p:spPr>
          <a:xfrm>
            <a:off x="822960" y="2148840"/>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8" name="Text 6"/>
          <p:cNvSpPr/>
          <p:nvPr/>
        </p:nvSpPr>
        <p:spPr>
          <a:xfrm>
            <a:off x="1371600" y="2121408"/>
            <a:ext cx="4846320" cy="292608"/>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GIN index on lsas.skills</a:t>
            </a:r>
            <a:endParaRPr lang="en-US" sz="1300" dirty="0"/>
          </a:p>
        </p:txBody>
      </p:sp>
      <p:sp>
        <p:nvSpPr>
          <p:cNvPr id="9" name="Text 7"/>
          <p:cNvSpPr/>
          <p:nvPr/>
        </p:nvSpPr>
        <p:spPr>
          <a:xfrm>
            <a:off x="1371600" y="2423160"/>
            <a:ext cx="4846320" cy="548640"/>
          </a:xfrm>
          <a:prstGeom prst="rect">
            <a:avLst/>
          </a:prstGeom>
          <a:noFill/>
          <a:ln/>
        </p:spPr>
        <p:txBody>
          <a:bodyPr wrap="square" rtlCol="0" anchor="ctr"/>
          <a:lstStyle/>
          <a:p>
            <a:pPr indent="0" marL="0">
              <a:buNone/>
            </a:pPr>
            <a:r>
              <a:rPr lang="en-US" sz="1050" dirty="0">
                <a:solidFill>
                  <a:srgbClr val="51707A"/>
                </a:solidFill>
                <a:latin typeface="Calibri" pitchFamily="34" charset="0"/>
                <a:ea typeface="Calibri" pitchFamily="34" charset="-122"/>
                <a:cs typeface="Calibri" pitchFamily="34" charset="-120"/>
              </a:rPr>
              <a:t>idx_lsas_active_skills — filtered on active = true, so skill search hits the index directly.</a:t>
            </a:r>
            <a:endParaRPr lang="en-US" sz="1050" dirty="0"/>
          </a:p>
        </p:txBody>
      </p:sp>
      <p:sp>
        <p:nvSpPr>
          <p:cNvPr id="10" name="Shape 8"/>
          <p:cNvSpPr/>
          <p:nvPr/>
        </p:nvSpPr>
        <p:spPr>
          <a:xfrm>
            <a:off x="822960" y="3108960"/>
            <a:ext cx="384048" cy="384048"/>
          </a:xfrm>
          <a:prstGeom prst="ellipse">
            <a:avLst/>
          </a:prstGeom>
          <a:solidFill>
            <a:srgbClr val="00A896"/>
          </a:solidFill>
          <a:ln/>
        </p:spPr>
      </p:sp>
      <p:sp>
        <p:nvSpPr>
          <p:cNvPr id="11" name="Text 9"/>
          <p:cNvSpPr/>
          <p:nvPr/>
        </p:nvSpPr>
        <p:spPr>
          <a:xfrm>
            <a:off x="822960" y="3108960"/>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12" name="Text 10"/>
          <p:cNvSpPr/>
          <p:nvPr/>
        </p:nvSpPr>
        <p:spPr>
          <a:xfrm>
            <a:off x="1371600" y="3081528"/>
            <a:ext cx="4846320" cy="292608"/>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Composite index on bookings</a:t>
            </a:r>
            <a:endParaRPr lang="en-US" sz="1300" dirty="0"/>
          </a:p>
        </p:txBody>
      </p:sp>
      <p:sp>
        <p:nvSpPr>
          <p:cNvPr id="13" name="Text 11"/>
          <p:cNvSpPr/>
          <p:nvPr/>
        </p:nvSpPr>
        <p:spPr>
          <a:xfrm>
            <a:off x="1371600" y="3383280"/>
            <a:ext cx="4846320" cy="548640"/>
          </a:xfrm>
          <a:prstGeom prst="rect">
            <a:avLst/>
          </a:prstGeom>
          <a:noFill/>
          <a:ln/>
        </p:spPr>
        <p:txBody>
          <a:bodyPr wrap="square" rtlCol="0" anchor="ctr"/>
          <a:lstStyle/>
          <a:p>
            <a:pPr indent="0" marL="0">
              <a:buNone/>
            </a:pPr>
            <a:r>
              <a:rPr lang="en-US" sz="1050" dirty="0">
                <a:solidFill>
                  <a:srgbClr val="51707A"/>
                </a:solidFill>
                <a:latin typeface="Calibri" pitchFamily="34" charset="0"/>
                <a:ea typeface="Calibri" pitchFamily="34" charset="-122"/>
                <a:cs typeface="Calibri" pitchFamily="34" charset="-120"/>
              </a:rPr>
              <a:t>idx_bookings_lsa_start (lsa_id, starts_at) and idx_bookings_status_start speed up availability lookups.</a:t>
            </a:r>
            <a:endParaRPr lang="en-US" sz="1050" dirty="0"/>
          </a:p>
        </p:txBody>
      </p:sp>
      <p:sp>
        <p:nvSpPr>
          <p:cNvPr id="14" name="Shape 12"/>
          <p:cNvSpPr/>
          <p:nvPr/>
        </p:nvSpPr>
        <p:spPr>
          <a:xfrm>
            <a:off x="822960" y="4069080"/>
            <a:ext cx="384048" cy="384048"/>
          </a:xfrm>
          <a:prstGeom prst="ellipse">
            <a:avLst/>
          </a:prstGeom>
          <a:solidFill>
            <a:srgbClr val="00A896"/>
          </a:solidFill>
          <a:ln/>
        </p:spPr>
      </p:sp>
      <p:sp>
        <p:nvSpPr>
          <p:cNvPr id="15" name="Text 13"/>
          <p:cNvSpPr/>
          <p:nvPr/>
        </p:nvSpPr>
        <p:spPr>
          <a:xfrm>
            <a:off x="822960" y="4069080"/>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16" name="Text 14"/>
          <p:cNvSpPr/>
          <p:nvPr/>
        </p:nvSpPr>
        <p:spPr>
          <a:xfrm>
            <a:off x="1371600" y="4041648"/>
            <a:ext cx="4846320" cy="292608"/>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Index on payments.booking_id</a:t>
            </a:r>
            <a:endParaRPr lang="en-US" sz="1300" dirty="0"/>
          </a:p>
        </p:txBody>
      </p:sp>
      <p:sp>
        <p:nvSpPr>
          <p:cNvPr id="17" name="Text 15"/>
          <p:cNvSpPr/>
          <p:nvPr/>
        </p:nvSpPr>
        <p:spPr>
          <a:xfrm>
            <a:off x="1371600" y="4343400"/>
            <a:ext cx="4846320" cy="548640"/>
          </a:xfrm>
          <a:prstGeom prst="rect">
            <a:avLst/>
          </a:prstGeom>
          <a:noFill/>
          <a:ln/>
        </p:spPr>
        <p:txBody>
          <a:bodyPr wrap="square" rtlCol="0" anchor="ctr"/>
          <a:lstStyle/>
          <a:p>
            <a:pPr indent="0" marL="0">
              <a:buNone/>
            </a:pPr>
            <a:r>
              <a:rPr lang="en-US" sz="1050" dirty="0">
                <a:solidFill>
                  <a:srgbClr val="51707A"/>
                </a:solidFill>
                <a:latin typeface="Calibri" pitchFamily="34" charset="0"/>
                <a:ea typeface="Calibri" pitchFamily="34" charset="-122"/>
                <a:cs typeface="Calibri" pitchFamily="34" charset="-120"/>
              </a:rPr>
              <a:t>idx_payments_booking keeps webhook lookups O(1) instead of a table scan.</a:t>
            </a:r>
            <a:endParaRPr lang="en-US" sz="1050" dirty="0"/>
          </a:p>
        </p:txBody>
      </p:sp>
      <p:sp>
        <p:nvSpPr>
          <p:cNvPr id="18" name="Shape 16"/>
          <p:cNvSpPr/>
          <p:nvPr/>
        </p:nvSpPr>
        <p:spPr>
          <a:xfrm>
            <a:off x="822960" y="5074920"/>
            <a:ext cx="5212080" cy="914400"/>
          </a:xfrm>
          <a:prstGeom prst="roundRect">
            <a:avLst>
              <a:gd name="adj" fmla="val 8000"/>
            </a:avLst>
          </a:prstGeom>
          <a:solidFill>
            <a:srgbClr val="EEF5F4"/>
          </a:solidFill>
          <a:ln w="12700">
            <a:solidFill>
              <a:srgbClr val="EEF5F4"/>
            </a:solidFill>
            <a:prstDash val="solid"/>
          </a:ln>
        </p:spPr>
      </p:sp>
      <p:sp>
        <p:nvSpPr>
          <p:cNvPr id="19" name="Text 17"/>
          <p:cNvSpPr/>
          <p:nvPr/>
        </p:nvSpPr>
        <p:spPr>
          <a:xfrm>
            <a:off x="1005840" y="5212080"/>
            <a:ext cx="4846320" cy="640080"/>
          </a:xfrm>
          <a:prstGeom prst="rect">
            <a:avLst/>
          </a:prstGeom>
          <a:noFill/>
          <a:ln/>
        </p:spPr>
        <p:txBody>
          <a:bodyPr wrap="square" rtlCol="0" anchor="ctr"/>
          <a:lstStyle/>
          <a:p>
            <a:pPr indent="0" marL="0">
              <a:buNone/>
            </a:pPr>
            <a:r>
              <a:rPr lang="en-US" sz="1050" i="1" dirty="0">
                <a:solidFill>
                  <a:srgbClr val="16323A"/>
                </a:solidFill>
                <a:latin typeface="Calibri" pitchFamily="34" charset="0"/>
                <a:ea typeface="Calibri" pitchFamily="34" charset="-122"/>
                <a:cs typeface="Calibri" pitchFamily="34" charset="-120"/>
              </a:rPr>
              <a:t>btree_gist extension enables a range-overlap EXCLUDE constraint — the mechanism behind double-booking prevention (next slide).</a:t>
            </a:r>
            <a:endParaRPr lang="en-US" sz="1050" dirty="0"/>
          </a:p>
        </p:txBody>
      </p:sp>
      <p:sp>
        <p:nvSpPr>
          <p:cNvPr id="20" name="Shape 18"/>
          <p:cNvSpPr/>
          <p:nvPr/>
        </p:nvSpPr>
        <p:spPr>
          <a:xfrm>
            <a:off x="6675120" y="1554480"/>
            <a:ext cx="4983480" cy="4480560"/>
          </a:xfrm>
          <a:prstGeom prst="roundRect">
            <a:avLst>
              <a:gd name="adj" fmla="val 2041"/>
            </a:avLst>
          </a:prstGeom>
          <a:solidFill>
            <a:srgbClr val="0B2545"/>
          </a:solidFill>
          <a:ln w="12700">
            <a:solidFill>
              <a:srgbClr val="0B2545"/>
            </a:solidFill>
            <a:prstDash val="solid"/>
          </a:ln>
        </p:spPr>
      </p:sp>
      <p:sp>
        <p:nvSpPr>
          <p:cNvPr id="21" name="Text 19"/>
          <p:cNvSpPr/>
          <p:nvPr/>
        </p:nvSpPr>
        <p:spPr>
          <a:xfrm>
            <a:off x="6949440" y="1737360"/>
            <a:ext cx="4480560" cy="27432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ROW-LEVEL SECURITY</a:t>
            </a:r>
            <a:endParaRPr lang="en-US" sz="1150" dirty="0"/>
          </a:p>
        </p:txBody>
      </p:sp>
      <p:sp>
        <p:nvSpPr>
          <p:cNvPr id="22" name="Text 20"/>
          <p:cNvSpPr/>
          <p:nvPr/>
        </p:nvSpPr>
        <p:spPr>
          <a:xfrm>
            <a:off x="6949440" y="2103120"/>
            <a:ext cx="4480560" cy="1371600"/>
          </a:xfrm>
          <a:prstGeom prst="rect">
            <a:avLst/>
          </a:prstGeom>
          <a:noFill/>
          <a:ln/>
        </p:spPr>
        <p:txBody>
          <a:bodyPr wrap="square" rtlCol="0" anchor="ctr"/>
          <a:lstStyle/>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RLS is enabled on all four tables (parents, lsas, bookings, payments). Each table carries four explicit CRUD policies rather than a single blanket rule, so access control is auditable table-by-table and ready to tighten from shared demo access to per-tenant rules as the platform grows.</a:t>
            </a:r>
            <a:endParaRPr lang="en-US" sz="1200" dirty="0"/>
          </a:p>
        </p:txBody>
      </p:sp>
      <p:sp>
        <p:nvSpPr>
          <p:cNvPr id="23" name="Shape 21"/>
          <p:cNvSpPr/>
          <p:nvPr/>
        </p:nvSpPr>
        <p:spPr>
          <a:xfrm>
            <a:off x="6949440" y="3657600"/>
            <a:ext cx="1005840" cy="457200"/>
          </a:xfrm>
          <a:prstGeom prst="roundRect">
            <a:avLst>
              <a:gd name="adj" fmla="val 50000"/>
            </a:avLst>
          </a:prstGeom>
          <a:solidFill>
            <a:srgbClr val="0F3B5F"/>
          </a:solidFill>
          <a:ln w="12700">
            <a:solidFill>
              <a:srgbClr val="0F3B5F"/>
            </a:solidFill>
            <a:prstDash val="solid"/>
          </a:ln>
        </p:spPr>
      </p:sp>
      <p:sp>
        <p:nvSpPr>
          <p:cNvPr id="24" name="Text 22"/>
          <p:cNvSpPr/>
          <p:nvPr/>
        </p:nvSpPr>
        <p:spPr>
          <a:xfrm>
            <a:off x="6949440" y="3657600"/>
            <a:ext cx="1005840" cy="457200"/>
          </a:xfrm>
          <a:prstGeom prst="rect">
            <a:avLst/>
          </a:prstGeom>
          <a:noFill/>
          <a:ln/>
        </p:spPr>
        <p:txBody>
          <a:bodyPr wrap="square" rtlCol="0" anchor="ctr"/>
          <a:lstStyle/>
          <a:p>
            <a:pPr algn="ctr" indent="0" marL="0">
              <a:buNone/>
            </a:pPr>
            <a:r>
              <a:rPr lang="en-US" sz="1000" b="1" dirty="0">
                <a:solidFill>
                  <a:srgbClr val="00A896"/>
                </a:solidFill>
                <a:latin typeface="Calibri" pitchFamily="34" charset="0"/>
                <a:ea typeface="Calibri" pitchFamily="34" charset="-122"/>
                <a:cs typeface="Calibri" pitchFamily="34" charset="-120"/>
              </a:rPr>
              <a:t>SELECT</a:t>
            </a:r>
            <a:endParaRPr lang="en-US" sz="1000" dirty="0"/>
          </a:p>
        </p:txBody>
      </p:sp>
      <p:sp>
        <p:nvSpPr>
          <p:cNvPr id="25" name="Shape 23"/>
          <p:cNvSpPr/>
          <p:nvPr/>
        </p:nvSpPr>
        <p:spPr>
          <a:xfrm>
            <a:off x="8065008" y="3657600"/>
            <a:ext cx="1005840" cy="457200"/>
          </a:xfrm>
          <a:prstGeom prst="roundRect">
            <a:avLst>
              <a:gd name="adj" fmla="val 50000"/>
            </a:avLst>
          </a:prstGeom>
          <a:solidFill>
            <a:srgbClr val="0F3B5F"/>
          </a:solidFill>
          <a:ln w="12700">
            <a:solidFill>
              <a:srgbClr val="0F3B5F"/>
            </a:solidFill>
            <a:prstDash val="solid"/>
          </a:ln>
        </p:spPr>
      </p:sp>
      <p:sp>
        <p:nvSpPr>
          <p:cNvPr id="26" name="Text 24"/>
          <p:cNvSpPr/>
          <p:nvPr/>
        </p:nvSpPr>
        <p:spPr>
          <a:xfrm>
            <a:off x="8065008" y="3657600"/>
            <a:ext cx="1005840" cy="457200"/>
          </a:xfrm>
          <a:prstGeom prst="rect">
            <a:avLst/>
          </a:prstGeom>
          <a:noFill/>
          <a:ln/>
        </p:spPr>
        <p:txBody>
          <a:bodyPr wrap="square" rtlCol="0" anchor="ctr"/>
          <a:lstStyle/>
          <a:p>
            <a:pPr algn="ctr" indent="0" marL="0">
              <a:buNone/>
            </a:pPr>
            <a:r>
              <a:rPr lang="en-US" sz="1000" b="1" dirty="0">
                <a:solidFill>
                  <a:srgbClr val="00A896"/>
                </a:solidFill>
                <a:latin typeface="Calibri" pitchFamily="34" charset="0"/>
                <a:ea typeface="Calibri" pitchFamily="34" charset="-122"/>
                <a:cs typeface="Calibri" pitchFamily="34" charset="-120"/>
              </a:rPr>
              <a:t>INSERT</a:t>
            </a:r>
            <a:endParaRPr lang="en-US" sz="1000" dirty="0"/>
          </a:p>
        </p:txBody>
      </p:sp>
      <p:sp>
        <p:nvSpPr>
          <p:cNvPr id="27" name="Shape 25"/>
          <p:cNvSpPr/>
          <p:nvPr/>
        </p:nvSpPr>
        <p:spPr>
          <a:xfrm>
            <a:off x="9180576" y="3657600"/>
            <a:ext cx="1005840" cy="457200"/>
          </a:xfrm>
          <a:prstGeom prst="roundRect">
            <a:avLst>
              <a:gd name="adj" fmla="val 50000"/>
            </a:avLst>
          </a:prstGeom>
          <a:solidFill>
            <a:srgbClr val="0F3B5F"/>
          </a:solidFill>
          <a:ln w="12700">
            <a:solidFill>
              <a:srgbClr val="0F3B5F"/>
            </a:solidFill>
            <a:prstDash val="solid"/>
          </a:ln>
        </p:spPr>
      </p:sp>
      <p:sp>
        <p:nvSpPr>
          <p:cNvPr id="28" name="Text 26"/>
          <p:cNvSpPr/>
          <p:nvPr/>
        </p:nvSpPr>
        <p:spPr>
          <a:xfrm>
            <a:off x="9180576" y="3657600"/>
            <a:ext cx="1005840" cy="457200"/>
          </a:xfrm>
          <a:prstGeom prst="rect">
            <a:avLst/>
          </a:prstGeom>
          <a:noFill/>
          <a:ln/>
        </p:spPr>
        <p:txBody>
          <a:bodyPr wrap="square" rtlCol="0" anchor="ctr"/>
          <a:lstStyle/>
          <a:p>
            <a:pPr algn="ctr" indent="0" marL="0">
              <a:buNone/>
            </a:pPr>
            <a:r>
              <a:rPr lang="en-US" sz="1000" b="1" dirty="0">
                <a:solidFill>
                  <a:srgbClr val="00A896"/>
                </a:solidFill>
                <a:latin typeface="Calibri" pitchFamily="34" charset="0"/>
                <a:ea typeface="Calibri" pitchFamily="34" charset="-122"/>
                <a:cs typeface="Calibri" pitchFamily="34" charset="-120"/>
              </a:rPr>
              <a:t>UPDATE</a:t>
            </a:r>
            <a:endParaRPr lang="en-US" sz="1000" dirty="0"/>
          </a:p>
        </p:txBody>
      </p:sp>
      <p:sp>
        <p:nvSpPr>
          <p:cNvPr id="29" name="Shape 27"/>
          <p:cNvSpPr/>
          <p:nvPr/>
        </p:nvSpPr>
        <p:spPr>
          <a:xfrm>
            <a:off x="10296144" y="3657600"/>
            <a:ext cx="1005840" cy="457200"/>
          </a:xfrm>
          <a:prstGeom prst="roundRect">
            <a:avLst>
              <a:gd name="adj" fmla="val 50000"/>
            </a:avLst>
          </a:prstGeom>
          <a:solidFill>
            <a:srgbClr val="0F3B5F"/>
          </a:solidFill>
          <a:ln w="12700">
            <a:solidFill>
              <a:srgbClr val="0F3B5F"/>
            </a:solidFill>
            <a:prstDash val="solid"/>
          </a:ln>
        </p:spPr>
      </p:sp>
      <p:sp>
        <p:nvSpPr>
          <p:cNvPr id="30" name="Text 28"/>
          <p:cNvSpPr/>
          <p:nvPr/>
        </p:nvSpPr>
        <p:spPr>
          <a:xfrm>
            <a:off x="10296144" y="3657600"/>
            <a:ext cx="1005840" cy="457200"/>
          </a:xfrm>
          <a:prstGeom prst="rect">
            <a:avLst/>
          </a:prstGeom>
          <a:noFill/>
          <a:ln/>
        </p:spPr>
        <p:txBody>
          <a:bodyPr wrap="square" rtlCol="0" anchor="ctr"/>
          <a:lstStyle/>
          <a:p>
            <a:pPr algn="ctr" indent="0" marL="0">
              <a:buNone/>
            </a:pPr>
            <a:r>
              <a:rPr lang="en-US" sz="1000" b="1" dirty="0">
                <a:solidFill>
                  <a:srgbClr val="00A896"/>
                </a:solidFill>
                <a:latin typeface="Calibri" pitchFamily="34" charset="0"/>
                <a:ea typeface="Calibri" pitchFamily="34" charset="-122"/>
                <a:cs typeface="Calibri" pitchFamily="34" charset="-120"/>
              </a:rPr>
              <a:t>DELETE</a:t>
            </a:r>
            <a:endParaRPr lang="en-US" sz="1000" dirty="0"/>
          </a:p>
        </p:txBody>
      </p:sp>
      <p:sp>
        <p:nvSpPr>
          <p:cNvPr id="31" name="Shape 29"/>
          <p:cNvSpPr/>
          <p:nvPr/>
        </p:nvSpPr>
        <p:spPr>
          <a:xfrm>
            <a:off x="6949440" y="4343400"/>
            <a:ext cx="4480560" cy="1280160"/>
          </a:xfrm>
          <a:prstGeom prst="roundRect">
            <a:avLst>
              <a:gd name="adj" fmla="val 7143"/>
            </a:avLst>
          </a:prstGeom>
          <a:solidFill>
            <a:srgbClr val="0F3B5F"/>
          </a:solidFill>
          <a:ln w="12700">
            <a:solidFill>
              <a:srgbClr val="0F3B5F"/>
            </a:solidFill>
            <a:prstDash val="solid"/>
          </a:ln>
        </p:spPr>
      </p:sp>
      <p:sp>
        <p:nvSpPr>
          <p:cNvPr id="32" name="Text 30"/>
          <p:cNvSpPr/>
          <p:nvPr/>
        </p:nvSpPr>
        <p:spPr>
          <a:xfrm>
            <a:off x="7178040" y="4453128"/>
            <a:ext cx="4023360" cy="274320"/>
          </a:xfrm>
          <a:prstGeom prst="rect">
            <a:avLst/>
          </a:prstGeom>
          <a:noFill/>
          <a:ln/>
        </p:spPr>
        <p:txBody>
          <a:bodyPr wrap="square" rtlCol="0" anchor="ctr"/>
          <a:lstStyle/>
          <a:p>
            <a:pPr indent="0" marL="0">
              <a:buNone/>
            </a:pPr>
            <a:r>
              <a:rPr lang="en-US" sz="1000" b="1" spc="100" kern="0" dirty="0">
                <a:solidFill>
                  <a:srgbClr val="02C39A"/>
                </a:solidFill>
                <a:latin typeface="Calibri" pitchFamily="34" charset="0"/>
                <a:ea typeface="Calibri" pitchFamily="34" charset="-122"/>
                <a:cs typeface="Calibri" pitchFamily="34" charset="-120"/>
              </a:rPr>
              <a:t>SAME PATTERN ON EVERY TABLE</a:t>
            </a:r>
            <a:endParaRPr lang="en-US" sz="1000" dirty="0"/>
          </a:p>
        </p:txBody>
      </p:sp>
      <p:sp>
        <p:nvSpPr>
          <p:cNvPr id="33" name="Text 31"/>
          <p:cNvSpPr/>
          <p:nvPr/>
        </p:nvSpPr>
        <p:spPr>
          <a:xfrm>
            <a:off x="7178040" y="4736592"/>
            <a:ext cx="4023360" cy="822960"/>
          </a:xfrm>
          <a:prstGeom prst="rect">
            <a:avLst/>
          </a:prstGeom>
          <a:noFill/>
          <a:ln/>
        </p:spPr>
        <p:txBody>
          <a:bodyPr wrap="square" rtlCol="0" anchor="ctr"/>
          <a:lstStyle/>
          <a:p>
            <a:pPr indent="0" marL="0">
              <a:lnSpc>
                <a:spcPct val="125000"/>
              </a:lnSpc>
              <a:buNone/>
            </a:pPr>
            <a:r>
              <a:rPr lang="en-US" sz="1000" dirty="0">
                <a:solidFill>
                  <a:srgbClr val="CADCFC"/>
                </a:solidFill>
                <a:latin typeface="Calibri" pitchFamily="34" charset="0"/>
                <a:ea typeface="Calibri" pitchFamily="34" charset="-122"/>
                <a:cs typeface="Calibri" pitchFamily="34" charset="-120"/>
              </a:rPr>
              <a:t>Each of the four CRUD policies is scoped to a single table and a single operation, granting access to the anon and authenticated roles for this single-tenant prototype.</a:t>
            </a:r>
            <a:endParaRPr lang="en-US" sz="1000" dirty="0"/>
          </a:p>
        </p:txBody>
      </p:sp>
      <p:sp>
        <p:nvSpPr>
          <p:cNvPr id="34" name="Text 32"/>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35" name="Text 3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06 · API DESIGN</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GET /api/v1/lsas/search</a:t>
            </a:r>
            <a:endParaRPr lang="en-US" sz="3200" dirty="0"/>
          </a:p>
        </p:txBody>
      </p:sp>
      <p:sp>
        <p:nvSpPr>
          <p:cNvPr id="4" name="Text 2"/>
          <p:cNvSpPr/>
          <p:nvPr/>
        </p:nvSpPr>
        <p:spPr>
          <a:xfrm>
            <a:off x="548640" y="1417320"/>
            <a:ext cx="91440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Retrieves active LSAs filtered by skill and time window in a single optimized query.</a:t>
            </a:r>
            <a:endParaRPr lang="en-US" sz="1300" dirty="0"/>
          </a:p>
        </p:txBody>
      </p:sp>
      <p:sp>
        <p:nvSpPr>
          <p:cNvPr id="5" name="Shape 3"/>
          <p:cNvSpPr/>
          <p:nvPr/>
        </p:nvSpPr>
        <p:spPr>
          <a:xfrm>
            <a:off x="548640" y="1965960"/>
            <a:ext cx="6675120" cy="4114800"/>
          </a:xfrm>
          <a:prstGeom prst="roundRect">
            <a:avLst>
              <a:gd name="adj" fmla="val 2222"/>
            </a:avLst>
          </a:prstGeom>
          <a:solidFill>
            <a:srgbClr val="0B2545"/>
          </a:solidFill>
          <a:ln w="12700">
            <a:solidFill>
              <a:srgbClr val="0B2545"/>
            </a:solidFill>
            <a:prstDash val="solid"/>
          </a:ln>
        </p:spPr>
      </p:sp>
      <p:sp>
        <p:nvSpPr>
          <p:cNvPr id="6" name="Text 4"/>
          <p:cNvSpPr/>
          <p:nvPr/>
        </p:nvSpPr>
        <p:spPr>
          <a:xfrm>
            <a:off x="822960" y="2148840"/>
            <a:ext cx="4572000" cy="274320"/>
          </a:xfrm>
          <a:prstGeom prst="rect">
            <a:avLst/>
          </a:prstGeom>
          <a:noFill/>
          <a:ln/>
        </p:spPr>
        <p:txBody>
          <a:bodyPr wrap="square" rtlCol="0" anchor="ctr"/>
          <a:lstStyle/>
          <a:p>
            <a:pPr indent="0" marL="0">
              <a:buNone/>
            </a:pPr>
            <a:r>
              <a:rPr lang="en-US" sz="1050" b="1" spc="100" kern="0" dirty="0">
                <a:solidFill>
                  <a:srgbClr val="02C39A"/>
                </a:solidFill>
                <a:latin typeface="Calibri" pitchFamily="34" charset="0"/>
                <a:ea typeface="Calibri" pitchFamily="34" charset="-122"/>
                <a:cs typeface="Calibri" pitchFamily="34" charset="-120"/>
              </a:rPr>
              <a:t>WHAT THE CALLER SENDS</a:t>
            </a:r>
            <a:endParaRPr lang="en-US" sz="1050" dirty="0"/>
          </a:p>
        </p:txBody>
      </p:sp>
      <p:sp>
        <p:nvSpPr>
          <p:cNvPr id="7" name="Text 5"/>
          <p:cNvSpPr/>
          <p:nvPr/>
        </p:nvSpPr>
        <p:spPr>
          <a:xfrm>
            <a:off x="822960" y="2468880"/>
            <a:ext cx="6126480" cy="502920"/>
          </a:xfrm>
          <a:prstGeom prst="rect">
            <a:avLst/>
          </a:prstGeom>
          <a:noFill/>
          <a:ln/>
        </p:spPr>
        <p:txBody>
          <a:bodyPr wrap="square" rtlCol="0" anchor="ctr"/>
          <a:lstStyle/>
          <a:p>
            <a:pPr indent="0" marL="0">
              <a:buNone/>
            </a:pPr>
            <a:r>
              <a:rPr lang="en-US" sz="1300" dirty="0">
                <a:solidFill>
                  <a:srgbClr val="E5F3F0"/>
                </a:solidFill>
                <a:latin typeface="Calibri" pitchFamily="34" charset="0"/>
                <a:ea typeface="Calibri" pitchFamily="34" charset="-122"/>
                <a:cs typeface="Calibri" pitchFamily="34" charset="-120"/>
              </a:rPr>
              <a:t>A skill name and an optional time window — e.g. “Dyslexia support, this Thursday 3–4pm.”</a:t>
            </a:r>
            <a:endParaRPr lang="en-US" sz="1300" dirty="0"/>
          </a:p>
        </p:txBody>
      </p:sp>
      <p:sp>
        <p:nvSpPr>
          <p:cNvPr id="8" name="Text 6"/>
          <p:cNvSpPr/>
          <p:nvPr/>
        </p:nvSpPr>
        <p:spPr>
          <a:xfrm>
            <a:off x="822960" y="3154680"/>
            <a:ext cx="6126480" cy="274320"/>
          </a:xfrm>
          <a:prstGeom prst="rect">
            <a:avLst/>
          </a:prstGeom>
          <a:noFill/>
          <a:ln/>
        </p:spPr>
        <p:txBody>
          <a:bodyPr wrap="square" rtlCol="0" anchor="ctr"/>
          <a:lstStyle/>
          <a:p>
            <a:pPr indent="0" marL="0">
              <a:buNone/>
            </a:pPr>
            <a:r>
              <a:rPr lang="en-US" sz="1050" b="1" spc="100" kern="0" dirty="0">
                <a:solidFill>
                  <a:srgbClr val="02C39A"/>
                </a:solidFill>
                <a:latin typeface="Calibri" pitchFamily="34" charset="0"/>
                <a:ea typeface="Calibri" pitchFamily="34" charset="-122"/>
                <a:cs typeface="Calibri" pitchFamily="34" charset="-120"/>
              </a:rPr>
              <a:t>HOW THE QUERY IS BUILT — THREE STEPS IN ONE ROUND TRIP</a:t>
            </a:r>
            <a:endParaRPr lang="en-US" sz="1050" dirty="0"/>
          </a:p>
        </p:txBody>
      </p:sp>
      <p:sp>
        <p:nvSpPr>
          <p:cNvPr id="9" name="Shape 7"/>
          <p:cNvSpPr/>
          <p:nvPr/>
        </p:nvSpPr>
        <p:spPr>
          <a:xfrm>
            <a:off x="822960" y="3520440"/>
            <a:ext cx="365760" cy="365760"/>
          </a:xfrm>
          <a:prstGeom prst="ellipse">
            <a:avLst/>
          </a:prstGeom>
          <a:solidFill>
            <a:srgbClr val="00A896"/>
          </a:solidFill>
          <a:ln/>
        </p:spPr>
      </p:sp>
      <p:sp>
        <p:nvSpPr>
          <p:cNvPr id="10" name="Text 8"/>
          <p:cNvSpPr/>
          <p:nvPr/>
        </p:nvSpPr>
        <p:spPr>
          <a:xfrm>
            <a:off x="822960" y="3520440"/>
            <a:ext cx="365760" cy="365760"/>
          </a:xfrm>
          <a:prstGeom prst="rect">
            <a:avLst/>
          </a:prstGeom>
          <a:noFill/>
          <a:ln/>
        </p:spPr>
        <p:txBody>
          <a:bodyPr wrap="square" rtlCol="0" anchor="ctr"/>
          <a:lstStyle/>
          <a:p>
            <a:pPr algn="ctr" indent="0" marL="0">
              <a:buNone/>
            </a:pPr>
            <a:r>
              <a:rPr lang="en-US" sz="1040" b="1" dirty="0">
                <a:solidFill>
                  <a:srgbClr val="0B2545"/>
                </a:solidFill>
                <a:latin typeface="Calibri" pitchFamily="34" charset="0"/>
                <a:ea typeface="Calibri" pitchFamily="34" charset="-122"/>
                <a:cs typeface="Calibri" pitchFamily="34" charset="-120"/>
              </a:rPr>
              <a:t>1</a:t>
            </a:r>
            <a:endParaRPr lang="en-US" sz="1040" dirty="0"/>
          </a:p>
        </p:txBody>
      </p:sp>
      <p:sp>
        <p:nvSpPr>
          <p:cNvPr id="11" name="Text 9"/>
          <p:cNvSpPr/>
          <p:nvPr/>
        </p:nvSpPr>
        <p:spPr>
          <a:xfrm>
            <a:off x="1325880" y="3474720"/>
            <a:ext cx="566928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Filter to active LSAs</a:t>
            </a:r>
            <a:endParaRPr lang="en-US" sz="1250" dirty="0"/>
          </a:p>
        </p:txBody>
      </p:sp>
      <p:sp>
        <p:nvSpPr>
          <p:cNvPr id="12" name="Text 10"/>
          <p:cNvSpPr/>
          <p:nvPr/>
        </p:nvSpPr>
        <p:spPr>
          <a:xfrm>
            <a:off x="1325880" y="3767328"/>
            <a:ext cx="5669280" cy="502920"/>
          </a:xfrm>
          <a:prstGeom prst="rect">
            <a:avLst/>
          </a:prstGeom>
          <a:noFill/>
          <a:ln/>
        </p:spPr>
        <p:txBody>
          <a:bodyPr wrap="square" rtlCol="0" anchor="ctr"/>
          <a:lstStyle/>
          <a:p>
            <a:pPr indent="0" marL="0">
              <a:buNone/>
            </a:pPr>
            <a:r>
              <a:rPr lang="en-US" sz="1050" dirty="0">
                <a:solidFill>
                  <a:srgbClr val="BFD8E0"/>
                </a:solidFill>
                <a:latin typeface="Calibri" pitchFamily="34" charset="0"/>
                <a:ea typeface="Calibri" pitchFamily="34" charset="-122"/>
                <a:cs typeface="Calibri" pitchFamily="34" charset="-120"/>
              </a:rPr>
              <a:t>Start from LSAs marked active.</a:t>
            </a:r>
            <a:endParaRPr lang="en-US" sz="1050" dirty="0"/>
          </a:p>
        </p:txBody>
      </p:sp>
      <p:sp>
        <p:nvSpPr>
          <p:cNvPr id="13" name="Shape 11"/>
          <p:cNvSpPr/>
          <p:nvPr/>
        </p:nvSpPr>
        <p:spPr>
          <a:xfrm>
            <a:off x="822960" y="4297680"/>
            <a:ext cx="365760" cy="365760"/>
          </a:xfrm>
          <a:prstGeom prst="ellipse">
            <a:avLst/>
          </a:prstGeom>
          <a:solidFill>
            <a:srgbClr val="00A896"/>
          </a:solidFill>
          <a:ln/>
        </p:spPr>
      </p:sp>
      <p:sp>
        <p:nvSpPr>
          <p:cNvPr id="14" name="Text 12"/>
          <p:cNvSpPr/>
          <p:nvPr/>
        </p:nvSpPr>
        <p:spPr>
          <a:xfrm>
            <a:off x="822960" y="4297680"/>
            <a:ext cx="365760" cy="365760"/>
          </a:xfrm>
          <a:prstGeom prst="rect">
            <a:avLst/>
          </a:prstGeom>
          <a:noFill/>
          <a:ln/>
        </p:spPr>
        <p:txBody>
          <a:bodyPr wrap="square" rtlCol="0" anchor="ctr"/>
          <a:lstStyle/>
          <a:p>
            <a:pPr algn="ctr" indent="0" marL="0">
              <a:buNone/>
            </a:pPr>
            <a:r>
              <a:rPr lang="en-US" sz="1040" b="1" dirty="0">
                <a:solidFill>
                  <a:srgbClr val="0B2545"/>
                </a:solidFill>
                <a:latin typeface="Calibri" pitchFamily="34" charset="0"/>
                <a:ea typeface="Calibri" pitchFamily="34" charset="-122"/>
                <a:cs typeface="Calibri" pitchFamily="34" charset="-120"/>
              </a:rPr>
              <a:t>2</a:t>
            </a:r>
            <a:endParaRPr lang="en-US" sz="1040" dirty="0"/>
          </a:p>
        </p:txBody>
      </p:sp>
      <p:sp>
        <p:nvSpPr>
          <p:cNvPr id="15" name="Text 13"/>
          <p:cNvSpPr/>
          <p:nvPr/>
        </p:nvSpPr>
        <p:spPr>
          <a:xfrm>
            <a:off x="1325880" y="4251960"/>
            <a:ext cx="566928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Match the requested skill</a:t>
            </a:r>
            <a:endParaRPr lang="en-US" sz="1250" dirty="0"/>
          </a:p>
        </p:txBody>
      </p:sp>
      <p:sp>
        <p:nvSpPr>
          <p:cNvPr id="16" name="Text 14"/>
          <p:cNvSpPr/>
          <p:nvPr/>
        </p:nvSpPr>
        <p:spPr>
          <a:xfrm>
            <a:off x="1325880" y="4544568"/>
            <a:ext cx="5669280" cy="502920"/>
          </a:xfrm>
          <a:prstGeom prst="rect">
            <a:avLst/>
          </a:prstGeom>
          <a:noFill/>
          <a:ln/>
        </p:spPr>
        <p:txBody>
          <a:bodyPr wrap="square" rtlCol="0" anchor="ctr"/>
          <a:lstStyle/>
          <a:p>
            <a:pPr indent="0" marL="0">
              <a:buNone/>
            </a:pPr>
            <a:r>
              <a:rPr lang="en-US" sz="1050" dirty="0">
                <a:solidFill>
                  <a:srgbClr val="BFD8E0"/>
                </a:solidFill>
                <a:latin typeface="Calibri" pitchFamily="34" charset="0"/>
                <a:ea typeface="Calibri" pitchFamily="34" charset="-122"/>
                <a:cs typeface="Calibri" pitchFamily="34" charset="-120"/>
              </a:rPr>
              <a:t>Keep only LSAs whose skill list contains the one asked for.</a:t>
            </a:r>
            <a:endParaRPr lang="en-US" sz="1050" dirty="0"/>
          </a:p>
        </p:txBody>
      </p:sp>
      <p:sp>
        <p:nvSpPr>
          <p:cNvPr id="17" name="Shape 15"/>
          <p:cNvSpPr/>
          <p:nvPr/>
        </p:nvSpPr>
        <p:spPr>
          <a:xfrm>
            <a:off x="822960" y="5074920"/>
            <a:ext cx="365760" cy="365760"/>
          </a:xfrm>
          <a:prstGeom prst="ellipse">
            <a:avLst/>
          </a:prstGeom>
          <a:solidFill>
            <a:srgbClr val="00A896"/>
          </a:solidFill>
          <a:ln/>
        </p:spPr>
      </p:sp>
      <p:sp>
        <p:nvSpPr>
          <p:cNvPr id="18" name="Text 16"/>
          <p:cNvSpPr/>
          <p:nvPr/>
        </p:nvSpPr>
        <p:spPr>
          <a:xfrm>
            <a:off x="822960" y="5074920"/>
            <a:ext cx="365760" cy="365760"/>
          </a:xfrm>
          <a:prstGeom prst="rect">
            <a:avLst/>
          </a:prstGeom>
          <a:noFill/>
          <a:ln/>
        </p:spPr>
        <p:txBody>
          <a:bodyPr wrap="square" rtlCol="0" anchor="ctr"/>
          <a:lstStyle/>
          <a:p>
            <a:pPr algn="ctr" indent="0" marL="0">
              <a:buNone/>
            </a:pPr>
            <a:r>
              <a:rPr lang="en-US" sz="1040" b="1" dirty="0">
                <a:solidFill>
                  <a:srgbClr val="0B2545"/>
                </a:solidFill>
                <a:latin typeface="Calibri" pitchFamily="34" charset="0"/>
                <a:ea typeface="Calibri" pitchFamily="34" charset="-122"/>
                <a:cs typeface="Calibri" pitchFamily="34" charset="-120"/>
              </a:rPr>
              <a:t>3</a:t>
            </a:r>
            <a:endParaRPr lang="en-US" sz="1040" dirty="0"/>
          </a:p>
        </p:txBody>
      </p:sp>
      <p:sp>
        <p:nvSpPr>
          <p:cNvPr id="19" name="Text 17"/>
          <p:cNvSpPr/>
          <p:nvPr/>
        </p:nvSpPr>
        <p:spPr>
          <a:xfrm>
            <a:off x="1325880" y="5029200"/>
            <a:ext cx="566928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Exclude time conflicts</a:t>
            </a:r>
            <a:endParaRPr lang="en-US" sz="1250" dirty="0"/>
          </a:p>
        </p:txBody>
      </p:sp>
      <p:sp>
        <p:nvSpPr>
          <p:cNvPr id="20" name="Text 18"/>
          <p:cNvSpPr/>
          <p:nvPr/>
        </p:nvSpPr>
        <p:spPr>
          <a:xfrm>
            <a:off x="1325880" y="5321808"/>
            <a:ext cx="5669280" cy="502920"/>
          </a:xfrm>
          <a:prstGeom prst="rect">
            <a:avLst/>
          </a:prstGeom>
          <a:noFill/>
          <a:ln/>
        </p:spPr>
        <p:txBody>
          <a:bodyPr wrap="square" rtlCol="0" anchor="ctr"/>
          <a:lstStyle/>
          <a:p>
            <a:pPr indent="0" marL="0">
              <a:buNone/>
            </a:pPr>
            <a:r>
              <a:rPr lang="en-US" sz="1050" dirty="0">
                <a:solidFill>
                  <a:srgbClr val="BFD8E0"/>
                </a:solidFill>
                <a:latin typeface="Calibri" pitchFamily="34" charset="0"/>
                <a:ea typeface="Calibri" pitchFamily="34" charset="-122"/>
                <a:cs typeface="Calibri" pitchFamily="34" charset="-120"/>
              </a:rPr>
              <a:t>Find LSAs with a pending/confirmed booking that overlaps the window, and drop them from the result — all inside the same database call.</a:t>
            </a:r>
            <a:endParaRPr lang="en-US" sz="1050" dirty="0"/>
          </a:p>
        </p:txBody>
      </p:sp>
      <p:sp>
        <p:nvSpPr>
          <p:cNvPr id="21" name="Shape 19"/>
          <p:cNvSpPr/>
          <p:nvPr/>
        </p:nvSpPr>
        <p:spPr>
          <a:xfrm>
            <a:off x="7498080" y="1965960"/>
            <a:ext cx="4114800" cy="4114800"/>
          </a:xfrm>
          <a:prstGeom prst="roundRect">
            <a:avLst>
              <a:gd name="adj" fmla="val 2222"/>
            </a:avLst>
          </a:prstGeom>
          <a:solidFill>
            <a:srgbClr val="EEF5F4"/>
          </a:solidFill>
          <a:ln w="12700">
            <a:solidFill>
              <a:srgbClr val="EEF5F4"/>
            </a:solidFill>
            <a:prstDash val="solid"/>
          </a:ln>
        </p:spPr>
      </p:sp>
      <p:sp>
        <p:nvSpPr>
          <p:cNvPr id="22" name="Text 20"/>
          <p:cNvSpPr/>
          <p:nvPr/>
        </p:nvSpPr>
        <p:spPr>
          <a:xfrm>
            <a:off x="7726680" y="2148840"/>
            <a:ext cx="365760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WHY IT'S SAFE &amp; FAST</a:t>
            </a:r>
            <a:endParaRPr lang="en-US" sz="1100" dirty="0"/>
          </a:p>
        </p:txBody>
      </p:sp>
      <p:sp>
        <p:nvSpPr>
          <p:cNvPr id="23" name="Shape 21"/>
          <p:cNvSpPr/>
          <p:nvPr/>
        </p:nvSpPr>
        <p:spPr>
          <a:xfrm>
            <a:off x="7726680" y="2560320"/>
            <a:ext cx="310896" cy="310896"/>
          </a:xfrm>
          <a:prstGeom prst="ellipse">
            <a:avLst/>
          </a:prstGeom>
          <a:solidFill>
            <a:srgbClr val="00A896"/>
          </a:solidFill>
          <a:ln/>
        </p:spPr>
      </p:sp>
      <p:sp>
        <p:nvSpPr>
          <p:cNvPr id="24" name="Text 22"/>
          <p:cNvSpPr/>
          <p:nvPr/>
        </p:nvSpPr>
        <p:spPr>
          <a:xfrm>
            <a:off x="7726680" y="2560320"/>
            <a:ext cx="310896" cy="310896"/>
          </a:xfrm>
          <a:prstGeom prst="rect">
            <a:avLst/>
          </a:prstGeom>
          <a:noFill/>
          <a:ln/>
        </p:spPr>
        <p:txBody>
          <a:bodyPr wrap="square" rtlCol="0" anchor="ctr"/>
          <a:lstStyle/>
          <a:p>
            <a:pPr algn="ctr" indent="0" marL="0">
              <a:buNone/>
            </a:pPr>
            <a:r>
              <a:rPr lang="en-US" sz="884" b="1" dirty="0">
                <a:solidFill>
                  <a:srgbClr val="FFFFFF"/>
                </a:solidFill>
                <a:latin typeface="Calibri" pitchFamily="34" charset="0"/>
                <a:ea typeface="Calibri" pitchFamily="34" charset="-122"/>
                <a:cs typeface="Calibri" pitchFamily="34" charset="-120"/>
              </a:rPr>
              <a:t>✓</a:t>
            </a:r>
            <a:endParaRPr lang="en-US" sz="884" dirty="0"/>
          </a:p>
        </p:txBody>
      </p:sp>
      <p:sp>
        <p:nvSpPr>
          <p:cNvPr id="25" name="Text 23"/>
          <p:cNvSpPr/>
          <p:nvPr/>
        </p:nvSpPr>
        <p:spPr>
          <a:xfrm>
            <a:off x="8138160" y="2505456"/>
            <a:ext cx="3291840" cy="640080"/>
          </a:xfrm>
          <a:prstGeom prst="rect">
            <a:avLst/>
          </a:prstGeom>
          <a:noFill/>
          <a:ln/>
        </p:spPr>
        <p:txBody>
          <a:bodyPr wrap="square" rtlCol="0" anchor="ctr"/>
          <a:lstStyle/>
          <a:p>
            <a:pPr indent="0" marL="0">
              <a:buNone/>
            </a:pPr>
            <a:r>
              <a:rPr lang="en-US" sz="1100" dirty="0">
                <a:solidFill>
                  <a:srgbClr val="16323A"/>
                </a:solidFill>
                <a:latin typeface="Calibri" pitchFamily="34" charset="0"/>
                <a:ea typeface="Calibri" pitchFamily="34" charset="-122"/>
                <a:cs typeface="Calibri" pitchFamily="34" charset="-120"/>
              </a:rPr>
              <a:t>One round trip to the database — no per-LSA loop.</a:t>
            </a:r>
            <a:endParaRPr lang="en-US" sz="1100" dirty="0"/>
          </a:p>
        </p:txBody>
      </p:sp>
      <p:sp>
        <p:nvSpPr>
          <p:cNvPr id="26" name="Shape 24"/>
          <p:cNvSpPr/>
          <p:nvPr/>
        </p:nvSpPr>
        <p:spPr>
          <a:xfrm>
            <a:off x="7726680" y="3337560"/>
            <a:ext cx="310896" cy="310896"/>
          </a:xfrm>
          <a:prstGeom prst="ellipse">
            <a:avLst/>
          </a:prstGeom>
          <a:solidFill>
            <a:srgbClr val="00A896"/>
          </a:solidFill>
          <a:ln/>
        </p:spPr>
      </p:sp>
      <p:sp>
        <p:nvSpPr>
          <p:cNvPr id="27" name="Text 25"/>
          <p:cNvSpPr/>
          <p:nvPr/>
        </p:nvSpPr>
        <p:spPr>
          <a:xfrm>
            <a:off x="7726680" y="3337560"/>
            <a:ext cx="310896" cy="310896"/>
          </a:xfrm>
          <a:prstGeom prst="rect">
            <a:avLst/>
          </a:prstGeom>
          <a:noFill/>
          <a:ln/>
        </p:spPr>
        <p:txBody>
          <a:bodyPr wrap="square" rtlCol="0" anchor="ctr"/>
          <a:lstStyle/>
          <a:p>
            <a:pPr algn="ctr" indent="0" marL="0">
              <a:buNone/>
            </a:pPr>
            <a:r>
              <a:rPr lang="en-US" sz="884" b="1" dirty="0">
                <a:solidFill>
                  <a:srgbClr val="FFFFFF"/>
                </a:solidFill>
                <a:latin typeface="Calibri" pitchFamily="34" charset="0"/>
                <a:ea typeface="Calibri" pitchFamily="34" charset="-122"/>
                <a:cs typeface="Calibri" pitchFamily="34" charset="-120"/>
              </a:rPr>
              <a:t>✓</a:t>
            </a:r>
            <a:endParaRPr lang="en-US" sz="884" dirty="0"/>
          </a:p>
        </p:txBody>
      </p:sp>
      <p:sp>
        <p:nvSpPr>
          <p:cNvPr id="28" name="Text 26"/>
          <p:cNvSpPr/>
          <p:nvPr/>
        </p:nvSpPr>
        <p:spPr>
          <a:xfrm>
            <a:off x="8138160" y="3282696"/>
            <a:ext cx="3291840" cy="640080"/>
          </a:xfrm>
          <a:prstGeom prst="rect">
            <a:avLst/>
          </a:prstGeom>
          <a:noFill/>
          <a:ln/>
        </p:spPr>
        <p:txBody>
          <a:bodyPr wrap="square" rtlCol="0" anchor="ctr"/>
          <a:lstStyle/>
          <a:p>
            <a:pPr indent="0" marL="0">
              <a:buNone/>
            </a:pPr>
            <a:r>
              <a:rPr lang="en-US" sz="1100" dirty="0">
                <a:solidFill>
                  <a:srgbClr val="16323A"/>
                </a:solidFill>
                <a:latin typeface="Calibri" pitchFamily="34" charset="0"/>
                <a:ea typeface="Calibri" pitchFamily="34" charset="-122"/>
                <a:cs typeface="Calibri" pitchFamily="34" charset="-120"/>
              </a:rPr>
              <a:t>GIN index on skills makes array-containment filtering fast.</a:t>
            </a:r>
            <a:endParaRPr lang="en-US" sz="1100" dirty="0"/>
          </a:p>
        </p:txBody>
      </p:sp>
      <p:sp>
        <p:nvSpPr>
          <p:cNvPr id="29" name="Shape 27"/>
          <p:cNvSpPr/>
          <p:nvPr/>
        </p:nvSpPr>
        <p:spPr>
          <a:xfrm>
            <a:off x="7726680" y="4114800"/>
            <a:ext cx="310896" cy="310896"/>
          </a:xfrm>
          <a:prstGeom prst="ellipse">
            <a:avLst/>
          </a:prstGeom>
          <a:solidFill>
            <a:srgbClr val="00A896"/>
          </a:solidFill>
          <a:ln/>
        </p:spPr>
      </p:sp>
      <p:sp>
        <p:nvSpPr>
          <p:cNvPr id="30" name="Text 28"/>
          <p:cNvSpPr/>
          <p:nvPr/>
        </p:nvSpPr>
        <p:spPr>
          <a:xfrm>
            <a:off x="7726680" y="4114800"/>
            <a:ext cx="310896" cy="310896"/>
          </a:xfrm>
          <a:prstGeom prst="rect">
            <a:avLst/>
          </a:prstGeom>
          <a:noFill/>
          <a:ln/>
        </p:spPr>
        <p:txBody>
          <a:bodyPr wrap="square" rtlCol="0" anchor="ctr"/>
          <a:lstStyle/>
          <a:p>
            <a:pPr algn="ctr" indent="0" marL="0">
              <a:buNone/>
            </a:pPr>
            <a:r>
              <a:rPr lang="en-US" sz="884" b="1" dirty="0">
                <a:solidFill>
                  <a:srgbClr val="FFFFFF"/>
                </a:solidFill>
                <a:latin typeface="Calibri" pitchFamily="34" charset="0"/>
                <a:ea typeface="Calibri" pitchFamily="34" charset="-122"/>
                <a:cs typeface="Calibri" pitchFamily="34" charset="-120"/>
              </a:rPr>
              <a:t>✓</a:t>
            </a:r>
            <a:endParaRPr lang="en-US" sz="884" dirty="0"/>
          </a:p>
        </p:txBody>
      </p:sp>
      <p:sp>
        <p:nvSpPr>
          <p:cNvPr id="31" name="Text 29"/>
          <p:cNvSpPr/>
          <p:nvPr/>
        </p:nvSpPr>
        <p:spPr>
          <a:xfrm>
            <a:off x="8138160" y="4059936"/>
            <a:ext cx="3291840" cy="640080"/>
          </a:xfrm>
          <a:prstGeom prst="rect">
            <a:avLst/>
          </a:prstGeom>
          <a:noFill/>
          <a:ln/>
        </p:spPr>
        <p:txBody>
          <a:bodyPr wrap="square" rtlCol="0" anchor="ctr"/>
          <a:lstStyle/>
          <a:p>
            <a:pPr indent="0" marL="0">
              <a:buNone/>
            </a:pPr>
            <a:r>
              <a:rPr lang="en-US" sz="1100" dirty="0">
                <a:solidFill>
                  <a:srgbClr val="16323A"/>
                </a:solidFill>
                <a:latin typeface="Calibri" pitchFamily="34" charset="0"/>
                <a:ea typeface="Calibri" pitchFamily="34" charset="-122"/>
                <a:cs typeface="Calibri" pitchFamily="34" charset="-120"/>
              </a:rPr>
              <a:t>Overlap check is a correlated subquery, not application code.</a:t>
            </a:r>
            <a:endParaRPr lang="en-US" sz="1100" dirty="0"/>
          </a:p>
        </p:txBody>
      </p:sp>
      <p:sp>
        <p:nvSpPr>
          <p:cNvPr id="32" name="Shape 30"/>
          <p:cNvSpPr/>
          <p:nvPr/>
        </p:nvSpPr>
        <p:spPr>
          <a:xfrm>
            <a:off x="7726680" y="4892040"/>
            <a:ext cx="310896" cy="310896"/>
          </a:xfrm>
          <a:prstGeom prst="ellipse">
            <a:avLst/>
          </a:prstGeom>
          <a:solidFill>
            <a:srgbClr val="00A896"/>
          </a:solidFill>
          <a:ln/>
        </p:spPr>
      </p:sp>
      <p:sp>
        <p:nvSpPr>
          <p:cNvPr id="33" name="Text 31"/>
          <p:cNvSpPr/>
          <p:nvPr/>
        </p:nvSpPr>
        <p:spPr>
          <a:xfrm>
            <a:off x="7726680" y="4892040"/>
            <a:ext cx="310896" cy="310896"/>
          </a:xfrm>
          <a:prstGeom prst="rect">
            <a:avLst/>
          </a:prstGeom>
          <a:noFill/>
          <a:ln/>
        </p:spPr>
        <p:txBody>
          <a:bodyPr wrap="square" rtlCol="0" anchor="ctr"/>
          <a:lstStyle/>
          <a:p>
            <a:pPr algn="ctr" indent="0" marL="0">
              <a:buNone/>
            </a:pPr>
            <a:r>
              <a:rPr lang="en-US" sz="884" b="1" dirty="0">
                <a:solidFill>
                  <a:srgbClr val="FFFFFF"/>
                </a:solidFill>
                <a:latin typeface="Calibri" pitchFamily="34" charset="0"/>
                <a:ea typeface="Calibri" pitchFamily="34" charset="-122"/>
                <a:cs typeface="Calibri" pitchFamily="34" charset="-120"/>
              </a:rPr>
              <a:t>✓</a:t>
            </a:r>
            <a:endParaRPr lang="en-US" sz="884" dirty="0"/>
          </a:p>
        </p:txBody>
      </p:sp>
      <p:sp>
        <p:nvSpPr>
          <p:cNvPr id="34" name="Text 32"/>
          <p:cNvSpPr/>
          <p:nvPr/>
        </p:nvSpPr>
        <p:spPr>
          <a:xfrm>
            <a:off x="8138160" y="4837176"/>
            <a:ext cx="3291840" cy="640080"/>
          </a:xfrm>
          <a:prstGeom prst="rect">
            <a:avLst/>
          </a:prstGeom>
          <a:noFill/>
          <a:ln/>
        </p:spPr>
        <p:txBody>
          <a:bodyPr wrap="square" rtlCol="0" anchor="ctr"/>
          <a:lstStyle/>
          <a:p>
            <a:pPr indent="0" marL="0">
              <a:buNone/>
            </a:pPr>
            <a:r>
              <a:rPr lang="en-US" sz="1100" dirty="0">
                <a:solidFill>
                  <a:srgbClr val="16323A"/>
                </a:solidFill>
                <a:latin typeface="Calibri" pitchFamily="34" charset="0"/>
                <a:ea typeface="Calibri" pitchFamily="34" charset="-122"/>
                <a:cs typeface="Calibri" pitchFamily="34" charset="-120"/>
              </a:rPr>
              <a:t>Response validated &amp; shaped by the LSARead Pydantic schema.</a:t>
            </a:r>
            <a:endParaRPr lang="en-US" sz="1100" dirty="0"/>
          </a:p>
        </p:txBody>
      </p:sp>
      <p:sp>
        <p:nvSpPr>
          <p:cNvPr id="35" name="Text 3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36" name="Text 3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07 · QUERY OPTIMIZATION</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Solving the N+1 Problem</a:t>
            </a:r>
            <a:endParaRPr lang="en-US" sz="3200" dirty="0"/>
          </a:p>
        </p:txBody>
      </p:sp>
      <p:sp>
        <p:nvSpPr>
          <p:cNvPr id="4" name="Text 2"/>
          <p:cNvSpPr/>
          <p:nvPr/>
        </p:nvSpPr>
        <p:spPr>
          <a:xfrm>
            <a:off x="548640" y="1417320"/>
            <a:ext cx="10058400" cy="365760"/>
          </a:xfrm>
          <a:prstGeom prst="rect">
            <a:avLst/>
          </a:prstGeom>
          <a:noFill/>
          <a:ln/>
        </p:spPr>
        <p:txBody>
          <a:bodyPr wrap="square" rtlCol="0" anchor="ctr"/>
          <a:lstStyle/>
          <a:p>
            <a:pPr indent="0" marL="0">
              <a:buNone/>
            </a:pPr>
            <a:r>
              <a:rPr lang="en-US" sz="1300" dirty="0">
                <a:solidFill>
                  <a:srgbClr val="BFD8E0"/>
                </a:solidFill>
                <a:latin typeface="Calibri" pitchFamily="34" charset="0"/>
                <a:ea typeface="Calibri" pitchFamily="34" charset="-122"/>
                <a:cs typeface="Calibri" pitchFamily="34" charset="-120"/>
              </a:rPr>
              <a:t>Fetching available LSAs never issues a query per row — the overlap check is pushed into SQL.</a:t>
            </a:r>
            <a:endParaRPr lang="en-US" sz="1300" dirty="0"/>
          </a:p>
        </p:txBody>
      </p:sp>
      <p:sp>
        <p:nvSpPr>
          <p:cNvPr id="5" name="Shape 3"/>
          <p:cNvSpPr/>
          <p:nvPr/>
        </p:nvSpPr>
        <p:spPr>
          <a:xfrm>
            <a:off x="548640" y="2011680"/>
            <a:ext cx="5394960" cy="4023360"/>
          </a:xfrm>
          <a:prstGeom prst="roundRect">
            <a:avLst>
              <a:gd name="adj" fmla="val 2273"/>
            </a:avLst>
          </a:prstGeom>
          <a:solidFill>
            <a:srgbClr val="3A1420"/>
          </a:solidFill>
          <a:ln w="12700">
            <a:solidFill>
              <a:srgbClr val="3A1420"/>
            </a:solidFill>
            <a:prstDash val="solid"/>
          </a:ln>
        </p:spPr>
      </p:sp>
      <p:sp>
        <p:nvSpPr>
          <p:cNvPr id="6" name="Text 4"/>
          <p:cNvSpPr/>
          <p:nvPr/>
        </p:nvSpPr>
        <p:spPr>
          <a:xfrm>
            <a:off x="822960" y="2194560"/>
            <a:ext cx="4846320" cy="274320"/>
          </a:xfrm>
          <a:prstGeom prst="rect">
            <a:avLst/>
          </a:prstGeom>
          <a:noFill/>
          <a:ln/>
        </p:spPr>
        <p:txBody>
          <a:bodyPr wrap="square" rtlCol="0" anchor="ctr"/>
          <a:lstStyle/>
          <a:p>
            <a:pPr indent="0" marL="0">
              <a:buNone/>
            </a:pPr>
            <a:r>
              <a:rPr lang="en-US" sz="1200" b="1" dirty="0">
                <a:solidFill>
                  <a:srgbClr val="F09AA6"/>
                </a:solidFill>
                <a:latin typeface="Calibri" pitchFamily="34" charset="0"/>
                <a:ea typeface="Calibri" pitchFamily="34" charset="-122"/>
                <a:cs typeface="Calibri" pitchFamily="34" charset="-120"/>
              </a:rPr>
              <a:t>BEFORE — Naive N+1</a:t>
            </a:r>
            <a:endParaRPr lang="en-US" sz="1200" dirty="0"/>
          </a:p>
        </p:txBody>
      </p:sp>
      <p:sp>
        <p:nvSpPr>
          <p:cNvPr id="7" name="Text 5"/>
          <p:cNvSpPr/>
          <p:nvPr/>
        </p:nvSpPr>
        <p:spPr>
          <a:xfrm>
            <a:off x="822960" y="2606040"/>
            <a:ext cx="4846320" cy="1188720"/>
          </a:xfrm>
          <a:prstGeom prst="rect">
            <a:avLst/>
          </a:prstGeom>
          <a:noFill/>
          <a:ln/>
        </p:spPr>
        <p:txBody>
          <a:bodyPr wrap="square" rtlCol="0" anchor="ctr"/>
          <a:lstStyle/>
          <a:p>
            <a:pPr indent="0" marL="0">
              <a:lnSpc>
                <a:spcPct val="130000"/>
              </a:lnSpc>
              <a:buNone/>
            </a:pPr>
            <a:r>
              <a:rPr lang="en-US" sz="1300" dirty="0">
                <a:solidFill>
                  <a:srgbClr val="F2C6CE"/>
                </a:solidFill>
                <a:latin typeface="Calibri" pitchFamily="34" charset="0"/>
                <a:ea typeface="Calibri" pitchFamily="34" charset="-122"/>
                <a:cs typeface="Calibri" pitchFamily="34" charset="-120"/>
              </a:rPr>
              <a:t>Loop over every active LSA one at a time, and for each one, run a separate database query to check whether they already have a conflicting booking.</a:t>
            </a:r>
            <a:endParaRPr lang="en-US" sz="1300" dirty="0"/>
          </a:p>
        </p:txBody>
      </p:sp>
      <p:sp>
        <p:nvSpPr>
          <p:cNvPr id="8" name="Text 6"/>
          <p:cNvSpPr/>
          <p:nvPr/>
        </p:nvSpPr>
        <p:spPr>
          <a:xfrm>
            <a:off x="822960" y="4023360"/>
            <a:ext cx="4846320" cy="731520"/>
          </a:xfrm>
          <a:prstGeom prst="rect">
            <a:avLst/>
          </a:prstGeom>
          <a:noFill/>
          <a:ln/>
        </p:spPr>
        <p:txBody>
          <a:bodyPr wrap="square" rtlCol="0" anchor="ctr"/>
          <a:lstStyle/>
          <a:p>
            <a:pPr indent="0" marL="0">
              <a:buNone/>
            </a:pPr>
            <a:r>
              <a:rPr lang="en-US" sz="1150" i="1" dirty="0">
                <a:solidFill>
                  <a:srgbClr val="F09AA6"/>
                </a:solidFill>
                <a:latin typeface="Calibri" pitchFamily="34" charset="0"/>
                <a:ea typeface="Calibri" pitchFamily="34" charset="-122"/>
                <a:cs typeface="Calibri" pitchFamily="34" charset="-120"/>
              </a:rPr>
              <a:t>1 query to list the LSAs + 1 query per LSA to check bookings</a:t>
            </a:r>
            <a:endParaRPr lang="en-US" sz="1150" dirty="0"/>
          </a:p>
          <a:p>
            <a:pPr indent="0" marL="0">
              <a:buNone/>
            </a:pPr>
            <a:r>
              <a:rPr lang="en-US" sz="1150" i="1" dirty="0">
                <a:solidFill>
                  <a:srgbClr val="F09AA6"/>
                </a:solidFill>
                <a:latin typeface="Calibri" pitchFamily="34" charset="0"/>
                <a:ea typeface="Calibri" pitchFamily="34" charset="-122"/>
                <a:cs typeface="Calibri" pitchFamily="34" charset="-120"/>
              </a:rPr>
              <a:t>= N+1 round trips as the LSA pool grows.</a:t>
            </a:r>
            <a:endParaRPr lang="en-US" sz="1150" dirty="0"/>
          </a:p>
        </p:txBody>
      </p:sp>
      <p:sp>
        <p:nvSpPr>
          <p:cNvPr id="9" name="Shape 7"/>
          <p:cNvSpPr/>
          <p:nvPr/>
        </p:nvSpPr>
        <p:spPr>
          <a:xfrm>
            <a:off x="5120640" y="5166360"/>
            <a:ext cx="502920" cy="502920"/>
          </a:xfrm>
          <a:prstGeom prst="ellipse">
            <a:avLst/>
          </a:prstGeom>
          <a:solidFill>
            <a:srgbClr val="5C1E2C"/>
          </a:solidFill>
          <a:ln/>
        </p:spPr>
      </p:sp>
      <p:sp>
        <p:nvSpPr>
          <p:cNvPr id="10" name="Text 8"/>
          <p:cNvSpPr/>
          <p:nvPr/>
        </p:nvSpPr>
        <p:spPr>
          <a:xfrm>
            <a:off x="5120640" y="5166360"/>
            <a:ext cx="502920" cy="502920"/>
          </a:xfrm>
          <a:prstGeom prst="rect">
            <a:avLst/>
          </a:prstGeom>
          <a:noFill/>
          <a:ln/>
        </p:spPr>
        <p:txBody>
          <a:bodyPr wrap="square" rtlCol="0" anchor="ctr"/>
          <a:lstStyle/>
          <a:p>
            <a:pPr algn="ctr" indent="0" marL="0">
              <a:buNone/>
            </a:pPr>
            <a:r>
              <a:rPr lang="en-US" sz="1430" b="1" dirty="0">
                <a:solidFill>
                  <a:srgbClr val="F09AA6"/>
                </a:solidFill>
                <a:latin typeface="Calibri" pitchFamily="34" charset="0"/>
                <a:ea typeface="Calibri" pitchFamily="34" charset="-122"/>
                <a:cs typeface="Calibri" pitchFamily="34" charset="-120"/>
              </a:rPr>
              <a:t>✗</a:t>
            </a:r>
            <a:endParaRPr lang="en-US" sz="1430" dirty="0"/>
          </a:p>
        </p:txBody>
      </p:sp>
      <p:sp>
        <p:nvSpPr>
          <p:cNvPr id="11" name="Shape 9"/>
          <p:cNvSpPr/>
          <p:nvPr/>
        </p:nvSpPr>
        <p:spPr>
          <a:xfrm>
            <a:off x="6217920" y="2011680"/>
            <a:ext cx="5394960" cy="4023360"/>
          </a:xfrm>
          <a:prstGeom prst="roundRect">
            <a:avLst>
              <a:gd name="adj" fmla="val 2273"/>
            </a:avLst>
          </a:prstGeom>
          <a:solidFill>
            <a:srgbClr val="0C3327"/>
          </a:solidFill>
          <a:ln w="12700">
            <a:solidFill>
              <a:srgbClr val="0C3327"/>
            </a:solidFill>
            <a:prstDash val="solid"/>
          </a:ln>
        </p:spPr>
      </p:sp>
      <p:sp>
        <p:nvSpPr>
          <p:cNvPr id="12" name="Text 10"/>
          <p:cNvSpPr/>
          <p:nvPr/>
        </p:nvSpPr>
        <p:spPr>
          <a:xfrm>
            <a:off x="6492240" y="2194560"/>
            <a:ext cx="4846320" cy="27432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AFTER — HaboConnect's approach</a:t>
            </a:r>
            <a:endParaRPr lang="en-US" sz="1200" dirty="0"/>
          </a:p>
        </p:txBody>
      </p:sp>
      <p:sp>
        <p:nvSpPr>
          <p:cNvPr id="13" name="Text 11"/>
          <p:cNvSpPr/>
          <p:nvPr/>
        </p:nvSpPr>
        <p:spPr>
          <a:xfrm>
            <a:off x="6492240" y="2606040"/>
            <a:ext cx="4846320" cy="1188720"/>
          </a:xfrm>
          <a:prstGeom prst="rect">
            <a:avLst/>
          </a:prstGeom>
          <a:noFill/>
          <a:ln/>
        </p:spPr>
        <p:txBody>
          <a:bodyPr wrap="square" rtlCol="0" anchor="ctr"/>
          <a:lstStyle/>
          <a:p>
            <a:pPr indent="0" marL="0">
              <a:lnSpc>
                <a:spcPct val="130000"/>
              </a:lnSpc>
              <a:buNone/>
            </a:pPr>
            <a:r>
              <a:rPr lang="en-US" sz="1300" dirty="0">
                <a:solidFill>
                  <a:srgbClr val="AEEBD6"/>
                </a:solidFill>
                <a:latin typeface="Calibri" pitchFamily="34" charset="0"/>
                <a:ea typeface="Calibri" pitchFamily="34" charset="-122"/>
                <a:cs typeface="Calibri" pitchFamily="34" charset="-120"/>
              </a:rPr>
              <a:t>Build one query that filters LSAs by skill and active status, and excludes any LSA whose id shows up in a subquery of conflicting bookings — all resolved by the database in a single statement.</a:t>
            </a:r>
            <a:endParaRPr lang="en-US" sz="1300" dirty="0"/>
          </a:p>
        </p:txBody>
      </p:sp>
      <p:sp>
        <p:nvSpPr>
          <p:cNvPr id="14" name="Text 12"/>
          <p:cNvSpPr/>
          <p:nvPr/>
        </p:nvSpPr>
        <p:spPr>
          <a:xfrm>
            <a:off x="6492240" y="4023360"/>
            <a:ext cx="4846320" cy="731520"/>
          </a:xfrm>
          <a:prstGeom prst="rect">
            <a:avLst/>
          </a:prstGeom>
          <a:noFill/>
          <a:ln/>
        </p:spPr>
        <p:txBody>
          <a:bodyPr wrap="square" rtlCol="0" anchor="ctr"/>
          <a:lstStyle/>
          <a:p>
            <a:pPr indent="0" marL="0">
              <a:buNone/>
            </a:pPr>
            <a:r>
              <a:rPr lang="en-US" sz="1150" i="1" dirty="0">
                <a:solidFill>
                  <a:srgbClr val="02C39A"/>
                </a:solidFill>
                <a:latin typeface="Calibri" pitchFamily="34" charset="0"/>
                <a:ea typeface="Calibri" pitchFamily="34" charset="-122"/>
                <a:cs typeface="Calibri" pitchFamily="34" charset="-120"/>
              </a:rPr>
              <a:t>Exactly one SQL statement — the overlap predicate and</a:t>
            </a:r>
            <a:endParaRPr lang="en-US" sz="1150" dirty="0"/>
          </a:p>
          <a:p>
            <a:pPr indent="0" marL="0">
              <a:buNone/>
            </a:pPr>
            <a:r>
              <a:rPr lang="en-US" sz="1150" i="1" dirty="0">
                <a:solidFill>
                  <a:srgbClr val="02C39A"/>
                </a:solidFill>
                <a:latin typeface="Calibri" pitchFamily="34" charset="0"/>
                <a:ea typeface="Calibri" pitchFamily="34" charset="-122"/>
                <a:cs typeface="Calibri" pitchFamily="34" charset="-120"/>
              </a:rPr>
              <a:t>skill filter both execute inside the database engine.</a:t>
            </a:r>
            <a:endParaRPr lang="en-US" sz="1150" dirty="0"/>
          </a:p>
        </p:txBody>
      </p:sp>
      <p:sp>
        <p:nvSpPr>
          <p:cNvPr id="15" name="Shape 13"/>
          <p:cNvSpPr/>
          <p:nvPr/>
        </p:nvSpPr>
        <p:spPr>
          <a:xfrm>
            <a:off x="10789920" y="5166360"/>
            <a:ext cx="502920" cy="502920"/>
          </a:xfrm>
          <a:prstGeom prst="ellipse">
            <a:avLst/>
          </a:prstGeom>
          <a:solidFill>
            <a:srgbClr val="13513F"/>
          </a:solidFill>
          <a:ln/>
        </p:spPr>
      </p:sp>
      <p:sp>
        <p:nvSpPr>
          <p:cNvPr id="16" name="Text 14"/>
          <p:cNvSpPr/>
          <p:nvPr/>
        </p:nvSpPr>
        <p:spPr>
          <a:xfrm>
            <a:off x="10789920" y="5166360"/>
            <a:ext cx="502920" cy="502920"/>
          </a:xfrm>
          <a:prstGeom prst="rect">
            <a:avLst/>
          </a:prstGeom>
          <a:noFill/>
          <a:ln/>
        </p:spPr>
        <p:txBody>
          <a:bodyPr wrap="square" rtlCol="0" anchor="ctr"/>
          <a:lstStyle/>
          <a:p>
            <a:pPr algn="ctr" indent="0" marL="0">
              <a:buNone/>
            </a:pPr>
            <a:r>
              <a:rPr lang="en-US" sz="1430" b="1" dirty="0">
                <a:solidFill>
                  <a:srgbClr val="02C39A"/>
                </a:solidFill>
                <a:latin typeface="Calibri" pitchFamily="34" charset="0"/>
                <a:ea typeface="Calibri" pitchFamily="34" charset="-122"/>
                <a:cs typeface="Calibri" pitchFamily="34" charset="-120"/>
              </a:rPr>
              <a:t>✓</a:t>
            </a:r>
            <a:endParaRPr lang="en-US" sz="1430" dirty="0"/>
          </a:p>
        </p:txBody>
      </p:sp>
      <p:sp>
        <p:nvSpPr>
          <p:cNvPr id="17" name="Text 15"/>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FB8C4"/>
                </a:solidFill>
                <a:latin typeface="Calibri" pitchFamily="34" charset="0"/>
                <a:ea typeface="Calibri" pitchFamily="34" charset="-122"/>
                <a:cs typeface="Calibri" pitchFamily="34" charset="-120"/>
              </a:rPr>
              <a:t>HaboConnect — Python Backend Developer Project</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FB8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08 · API DESIGN</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POST /api/v1/bookings</a:t>
            </a:r>
            <a:endParaRPr lang="en-US" sz="3200" dirty="0"/>
          </a:p>
        </p:txBody>
      </p:sp>
      <p:sp>
        <p:nvSpPr>
          <p:cNvPr id="4" name="Text 2"/>
          <p:cNvSpPr/>
          <p:nvPr/>
        </p:nvSpPr>
        <p:spPr>
          <a:xfrm>
            <a:off x="548640" y="1417320"/>
            <a:ext cx="82296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Validates the full payload before a row is ever written.</a:t>
            </a:r>
            <a:endParaRPr lang="en-US" sz="1300" dirty="0"/>
          </a:p>
        </p:txBody>
      </p:sp>
      <p:sp>
        <p:nvSpPr>
          <p:cNvPr id="5" name="Shape 3"/>
          <p:cNvSpPr/>
          <p:nvPr/>
        </p:nvSpPr>
        <p:spPr>
          <a:xfrm>
            <a:off x="548640" y="2103120"/>
            <a:ext cx="2606040" cy="2377440"/>
          </a:xfrm>
          <a:prstGeom prst="roundRect">
            <a:avLst>
              <a:gd name="adj" fmla="val 3846"/>
            </a:avLst>
          </a:prstGeom>
          <a:solidFill>
            <a:srgbClr val="FFFFFF"/>
          </a:solidFill>
          <a:ln w="12700">
            <a:solidFill>
              <a:srgbClr val="FFFFFF"/>
            </a:solidFill>
            <a:prstDash val="solid"/>
          </a:ln>
        </p:spPr>
      </p:sp>
      <p:sp>
        <p:nvSpPr>
          <p:cNvPr id="6" name="Shape 4"/>
          <p:cNvSpPr/>
          <p:nvPr/>
        </p:nvSpPr>
        <p:spPr>
          <a:xfrm>
            <a:off x="548640" y="2103120"/>
            <a:ext cx="2606040" cy="2377440"/>
          </a:xfrm>
          <a:prstGeom prst="rect">
            <a:avLst>
              <a:gd name="adj" fmla="val 3846"/>
            </a:avLst>
          </a:prstGeom>
          <a:ln w="12700">
            <a:solidFill>
              <a:srgbClr val="D7E6E4"/>
            </a:solidFill>
            <a:prstDash val="solid"/>
          </a:ln>
        </p:spPr>
      </p:sp>
      <p:sp>
        <p:nvSpPr>
          <p:cNvPr id="7" name="Shape 5"/>
          <p:cNvSpPr/>
          <p:nvPr/>
        </p:nvSpPr>
        <p:spPr>
          <a:xfrm>
            <a:off x="731520" y="2286000"/>
            <a:ext cx="411480" cy="411480"/>
          </a:xfrm>
          <a:prstGeom prst="ellipse">
            <a:avLst/>
          </a:prstGeom>
          <a:solidFill>
            <a:srgbClr val="00A896"/>
          </a:solidFill>
          <a:ln/>
        </p:spPr>
      </p:sp>
      <p:sp>
        <p:nvSpPr>
          <p:cNvPr id="8" name="Text 6"/>
          <p:cNvSpPr/>
          <p:nvPr/>
        </p:nvSpPr>
        <p:spPr>
          <a:xfrm>
            <a:off x="731520" y="2286000"/>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1</a:t>
            </a:r>
            <a:endParaRPr lang="en-US" sz="1170" dirty="0"/>
          </a:p>
        </p:txBody>
      </p:sp>
      <p:sp>
        <p:nvSpPr>
          <p:cNvPr id="9" name="Text 7"/>
          <p:cNvSpPr/>
          <p:nvPr/>
        </p:nvSpPr>
        <p:spPr>
          <a:xfrm>
            <a:off x="713232" y="2880360"/>
            <a:ext cx="2276856" cy="502920"/>
          </a:xfrm>
          <a:prstGeom prst="rect">
            <a:avLst/>
          </a:prstGeom>
          <a:noFill/>
          <a:ln/>
        </p:spPr>
        <p:txBody>
          <a:bodyPr wrap="square" rtlCol="0" anchor="ctr"/>
          <a:lstStyle/>
          <a:p>
            <a:pPr indent="0" marL="0">
              <a:buNone/>
            </a:pPr>
            <a:r>
              <a:rPr lang="en-US" sz="1250" b="1" dirty="0">
                <a:solidFill>
                  <a:srgbClr val="16323A"/>
                </a:solidFill>
                <a:latin typeface="Calibri" pitchFamily="34" charset="0"/>
                <a:ea typeface="Calibri" pitchFamily="34" charset="-122"/>
                <a:cs typeface="Calibri" pitchFamily="34" charset="-120"/>
              </a:rPr>
              <a:t>Pydantic schema</a:t>
            </a:r>
            <a:endParaRPr lang="en-US" sz="1250" dirty="0"/>
          </a:p>
        </p:txBody>
      </p:sp>
      <p:sp>
        <p:nvSpPr>
          <p:cNvPr id="10" name="Text 8"/>
          <p:cNvSpPr/>
          <p:nvPr/>
        </p:nvSpPr>
        <p:spPr>
          <a:xfrm>
            <a:off x="713232" y="3383280"/>
            <a:ext cx="2276856" cy="1005840"/>
          </a:xfrm>
          <a:prstGeom prst="rect">
            <a:avLst/>
          </a:prstGeom>
          <a:noFill/>
          <a:ln/>
        </p:spPr>
        <p:txBody>
          <a:bodyPr wrap="square" rtlCol="0" anchor="ctr"/>
          <a:lstStyle/>
          <a:p>
            <a:pPr indent="0" marL="0">
              <a:buNone/>
            </a:pPr>
            <a:r>
              <a:rPr lang="en-US" sz="1000" dirty="0">
                <a:solidFill>
                  <a:srgbClr val="51707A"/>
                </a:solidFill>
                <a:latin typeface="Calibri" pitchFamily="34" charset="0"/>
                <a:ea typeface="Calibri" pitchFamily="34" charset="-122"/>
                <a:cs typeface="Calibri" pitchFamily="34" charset="-120"/>
              </a:rPr>
              <a:t>BookingCreate enforces field lengths, valid email, and a custom validator: ends_at must be after starts_at.</a:t>
            </a:r>
            <a:endParaRPr lang="en-US" sz="1000" dirty="0"/>
          </a:p>
        </p:txBody>
      </p:sp>
      <p:sp>
        <p:nvSpPr>
          <p:cNvPr id="11" name="Text 9"/>
          <p:cNvSpPr/>
          <p:nvPr/>
        </p:nvSpPr>
        <p:spPr>
          <a:xfrm>
            <a:off x="3136392" y="3063240"/>
            <a:ext cx="274320" cy="457200"/>
          </a:xfrm>
          <a:prstGeom prst="rect">
            <a:avLst/>
          </a:prstGeom>
          <a:noFill/>
          <a:ln/>
        </p:spPr>
        <p:txBody>
          <a:bodyPr wrap="square"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291840" y="2103120"/>
            <a:ext cx="2606040" cy="2377440"/>
          </a:xfrm>
          <a:prstGeom prst="roundRect">
            <a:avLst>
              <a:gd name="adj" fmla="val 3846"/>
            </a:avLst>
          </a:prstGeom>
          <a:solidFill>
            <a:srgbClr val="FFFFFF"/>
          </a:solidFill>
          <a:ln w="12700">
            <a:solidFill>
              <a:srgbClr val="FFFFFF"/>
            </a:solidFill>
            <a:prstDash val="solid"/>
          </a:ln>
        </p:spPr>
      </p:sp>
      <p:sp>
        <p:nvSpPr>
          <p:cNvPr id="13" name="Shape 11"/>
          <p:cNvSpPr/>
          <p:nvPr/>
        </p:nvSpPr>
        <p:spPr>
          <a:xfrm>
            <a:off x="3291840" y="2103120"/>
            <a:ext cx="2606040" cy="2377440"/>
          </a:xfrm>
          <a:prstGeom prst="rect">
            <a:avLst>
              <a:gd name="adj" fmla="val 3846"/>
            </a:avLst>
          </a:prstGeom>
          <a:ln w="12700">
            <a:solidFill>
              <a:srgbClr val="D7E6E4"/>
            </a:solidFill>
            <a:prstDash val="solid"/>
          </a:ln>
        </p:spPr>
      </p:sp>
      <p:sp>
        <p:nvSpPr>
          <p:cNvPr id="14" name="Shape 12"/>
          <p:cNvSpPr/>
          <p:nvPr/>
        </p:nvSpPr>
        <p:spPr>
          <a:xfrm>
            <a:off x="3474720" y="2286000"/>
            <a:ext cx="411480" cy="411480"/>
          </a:xfrm>
          <a:prstGeom prst="ellipse">
            <a:avLst/>
          </a:prstGeom>
          <a:solidFill>
            <a:srgbClr val="00A896"/>
          </a:solidFill>
          <a:ln/>
        </p:spPr>
      </p:sp>
      <p:sp>
        <p:nvSpPr>
          <p:cNvPr id="15" name="Text 13"/>
          <p:cNvSpPr/>
          <p:nvPr/>
        </p:nvSpPr>
        <p:spPr>
          <a:xfrm>
            <a:off x="3474720" y="2286000"/>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2</a:t>
            </a:r>
            <a:endParaRPr lang="en-US" sz="1170" dirty="0"/>
          </a:p>
        </p:txBody>
      </p:sp>
      <p:sp>
        <p:nvSpPr>
          <p:cNvPr id="16" name="Text 14"/>
          <p:cNvSpPr/>
          <p:nvPr/>
        </p:nvSpPr>
        <p:spPr>
          <a:xfrm>
            <a:off x="3456432" y="2880360"/>
            <a:ext cx="2276856" cy="502920"/>
          </a:xfrm>
          <a:prstGeom prst="rect">
            <a:avLst/>
          </a:prstGeom>
          <a:noFill/>
          <a:ln/>
        </p:spPr>
        <p:txBody>
          <a:bodyPr wrap="square" rtlCol="0" anchor="ctr"/>
          <a:lstStyle/>
          <a:p>
            <a:pPr indent="0" marL="0">
              <a:buNone/>
            </a:pPr>
            <a:r>
              <a:rPr lang="en-US" sz="1250" b="1" dirty="0">
                <a:solidFill>
                  <a:srgbClr val="16323A"/>
                </a:solidFill>
                <a:latin typeface="Calibri" pitchFamily="34" charset="0"/>
                <a:ea typeface="Calibri" pitchFamily="34" charset="-122"/>
                <a:cs typeface="Calibri" pitchFamily="34" charset="-120"/>
              </a:rPr>
              <a:t>Lookup / create Parent</a:t>
            </a:r>
            <a:endParaRPr lang="en-US" sz="1250" dirty="0"/>
          </a:p>
        </p:txBody>
      </p:sp>
      <p:sp>
        <p:nvSpPr>
          <p:cNvPr id="17" name="Text 15"/>
          <p:cNvSpPr/>
          <p:nvPr/>
        </p:nvSpPr>
        <p:spPr>
          <a:xfrm>
            <a:off x="3456432" y="3383280"/>
            <a:ext cx="2276856" cy="1005840"/>
          </a:xfrm>
          <a:prstGeom prst="rect">
            <a:avLst/>
          </a:prstGeom>
          <a:noFill/>
          <a:ln/>
        </p:spPr>
        <p:txBody>
          <a:bodyPr wrap="square" rtlCol="0" anchor="ctr"/>
          <a:lstStyle/>
          <a:p>
            <a:pPr indent="0" marL="0">
              <a:buNone/>
            </a:pPr>
            <a:r>
              <a:rPr lang="en-US" sz="1000" dirty="0">
                <a:solidFill>
                  <a:srgbClr val="51707A"/>
                </a:solidFill>
                <a:latin typeface="Calibri" pitchFamily="34" charset="0"/>
                <a:ea typeface="Calibri" pitchFamily="34" charset="-122"/>
                <a:cs typeface="Calibri" pitchFamily="34" charset="-120"/>
              </a:rPr>
              <a:t>Existing parent matched by email; otherwise a new Parent row is created in the same transaction.</a:t>
            </a:r>
            <a:endParaRPr lang="en-US" sz="1000" dirty="0"/>
          </a:p>
        </p:txBody>
      </p:sp>
      <p:sp>
        <p:nvSpPr>
          <p:cNvPr id="18" name="Text 16"/>
          <p:cNvSpPr/>
          <p:nvPr/>
        </p:nvSpPr>
        <p:spPr>
          <a:xfrm>
            <a:off x="5879592" y="3063240"/>
            <a:ext cx="274320" cy="457200"/>
          </a:xfrm>
          <a:prstGeom prst="rect">
            <a:avLst/>
          </a:prstGeom>
          <a:noFill/>
          <a:ln/>
        </p:spPr>
        <p:txBody>
          <a:bodyPr wrap="square"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035040" y="2103120"/>
            <a:ext cx="2606040" cy="2377440"/>
          </a:xfrm>
          <a:prstGeom prst="roundRect">
            <a:avLst>
              <a:gd name="adj" fmla="val 3846"/>
            </a:avLst>
          </a:prstGeom>
          <a:solidFill>
            <a:srgbClr val="FFFFFF"/>
          </a:solidFill>
          <a:ln w="12700">
            <a:solidFill>
              <a:srgbClr val="FFFFFF"/>
            </a:solidFill>
            <a:prstDash val="solid"/>
          </a:ln>
        </p:spPr>
      </p:sp>
      <p:sp>
        <p:nvSpPr>
          <p:cNvPr id="20" name="Shape 18"/>
          <p:cNvSpPr/>
          <p:nvPr/>
        </p:nvSpPr>
        <p:spPr>
          <a:xfrm>
            <a:off x="6035040" y="2103120"/>
            <a:ext cx="2606040" cy="2377440"/>
          </a:xfrm>
          <a:prstGeom prst="rect">
            <a:avLst>
              <a:gd name="adj" fmla="val 3846"/>
            </a:avLst>
          </a:prstGeom>
          <a:ln w="12700">
            <a:solidFill>
              <a:srgbClr val="D7E6E4"/>
            </a:solidFill>
            <a:prstDash val="solid"/>
          </a:ln>
        </p:spPr>
      </p:sp>
      <p:sp>
        <p:nvSpPr>
          <p:cNvPr id="21" name="Shape 19"/>
          <p:cNvSpPr/>
          <p:nvPr/>
        </p:nvSpPr>
        <p:spPr>
          <a:xfrm>
            <a:off x="6217920" y="2286000"/>
            <a:ext cx="411480" cy="411480"/>
          </a:xfrm>
          <a:prstGeom prst="ellipse">
            <a:avLst/>
          </a:prstGeom>
          <a:solidFill>
            <a:srgbClr val="00A896"/>
          </a:solidFill>
          <a:ln/>
        </p:spPr>
      </p:sp>
      <p:sp>
        <p:nvSpPr>
          <p:cNvPr id="22" name="Text 20"/>
          <p:cNvSpPr/>
          <p:nvPr/>
        </p:nvSpPr>
        <p:spPr>
          <a:xfrm>
            <a:off x="6217920" y="2286000"/>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3</a:t>
            </a:r>
            <a:endParaRPr lang="en-US" sz="1170" dirty="0"/>
          </a:p>
        </p:txBody>
      </p:sp>
      <p:sp>
        <p:nvSpPr>
          <p:cNvPr id="23" name="Text 21"/>
          <p:cNvSpPr/>
          <p:nvPr/>
        </p:nvSpPr>
        <p:spPr>
          <a:xfrm>
            <a:off x="6199632" y="2880360"/>
            <a:ext cx="2276856" cy="502920"/>
          </a:xfrm>
          <a:prstGeom prst="rect">
            <a:avLst/>
          </a:prstGeom>
          <a:noFill/>
          <a:ln/>
        </p:spPr>
        <p:txBody>
          <a:bodyPr wrap="square" rtlCol="0" anchor="ctr"/>
          <a:lstStyle/>
          <a:p>
            <a:pPr indent="0" marL="0">
              <a:buNone/>
            </a:pPr>
            <a:r>
              <a:rPr lang="en-US" sz="1250" b="1" dirty="0">
                <a:solidFill>
                  <a:srgbClr val="16323A"/>
                </a:solidFill>
                <a:latin typeface="Calibri" pitchFamily="34" charset="0"/>
                <a:ea typeface="Calibri" pitchFamily="34" charset="-122"/>
                <a:cs typeface="Calibri" pitchFamily="34" charset="-120"/>
              </a:rPr>
              <a:t>Persist Booking</a:t>
            </a:r>
            <a:endParaRPr lang="en-US" sz="1250" dirty="0"/>
          </a:p>
        </p:txBody>
      </p:sp>
      <p:sp>
        <p:nvSpPr>
          <p:cNvPr id="24" name="Text 22"/>
          <p:cNvSpPr/>
          <p:nvPr/>
        </p:nvSpPr>
        <p:spPr>
          <a:xfrm>
            <a:off x="6199632" y="3383280"/>
            <a:ext cx="2276856" cy="1005840"/>
          </a:xfrm>
          <a:prstGeom prst="rect">
            <a:avLst/>
          </a:prstGeom>
          <a:noFill/>
          <a:ln/>
        </p:spPr>
        <p:txBody>
          <a:bodyPr wrap="square" rtlCol="0" anchor="ctr"/>
          <a:lstStyle/>
          <a:p>
            <a:pPr indent="0" marL="0">
              <a:buNone/>
            </a:pPr>
            <a:r>
              <a:rPr lang="en-US" sz="1000" dirty="0">
                <a:solidFill>
                  <a:srgbClr val="51707A"/>
                </a:solidFill>
                <a:latin typeface="Calibri" pitchFamily="34" charset="0"/>
                <a:ea typeface="Calibri" pitchFamily="34" charset="-122"/>
                <a:cs typeface="Calibri" pitchFamily="34" charset="-120"/>
              </a:rPr>
              <a:t>Row inserted with status = pending, payment_status = pending.</a:t>
            </a:r>
            <a:endParaRPr lang="en-US" sz="1000" dirty="0"/>
          </a:p>
        </p:txBody>
      </p:sp>
      <p:sp>
        <p:nvSpPr>
          <p:cNvPr id="25" name="Text 23"/>
          <p:cNvSpPr/>
          <p:nvPr/>
        </p:nvSpPr>
        <p:spPr>
          <a:xfrm>
            <a:off x="8622792" y="3063240"/>
            <a:ext cx="274320" cy="457200"/>
          </a:xfrm>
          <a:prstGeom prst="rect">
            <a:avLst/>
          </a:prstGeom>
          <a:noFill/>
          <a:ln/>
        </p:spPr>
        <p:txBody>
          <a:bodyPr wrap="square"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8778240" y="2103120"/>
            <a:ext cx="2606040" cy="2377440"/>
          </a:xfrm>
          <a:prstGeom prst="roundRect">
            <a:avLst>
              <a:gd name="adj" fmla="val 3846"/>
            </a:avLst>
          </a:prstGeom>
          <a:solidFill>
            <a:srgbClr val="028090"/>
          </a:solidFill>
          <a:ln w="12700">
            <a:solidFill>
              <a:srgbClr val="028090"/>
            </a:solidFill>
            <a:prstDash val="solid"/>
          </a:ln>
        </p:spPr>
      </p:sp>
      <p:sp>
        <p:nvSpPr>
          <p:cNvPr id="27" name="Shape 25"/>
          <p:cNvSpPr/>
          <p:nvPr/>
        </p:nvSpPr>
        <p:spPr>
          <a:xfrm>
            <a:off x="8961120" y="2286000"/>
            <a:ext cx="411480" cy="411480"/>
          </a:xfrm>
          <a:prstGeom prst="ellipse">
            <a:avLst/>
          </a:prstGeom>
          <a:solidFill>
            <a:srgbClr val="FFFFFF"/>
          </a:solidFill>
          <a:ln/>
        </p:spPr>
      </p:sp>
      <p:sp>
        <p:nvSpPr>
          <p:cNvPr id="28" name="Text 26"/>
          <p:cNvSpPr/>
          <p:nvPr/>
        </p:nvSpPr>
        <p:spPr>
          <a:xfrm>
            <a:off x="8961120" y="2286000"/>
            <a:ext cx="411480" cy="411480"/>
          </a:xfrm>
          <a:prstGeom prst="rect">
            <a:avLst/>
          </a:prstGeom>
          <a:noFill/>
          <a:ln/>
        </p:spPr>
        <p:txBody>
          <a:bodyPr wrap="square" rtlCol="0" anchor="ctr"/>
          <a:lstStyle/>
          <a:p>
            <a:pPr algn="ctr" indent="0" marL="0">
              <a:buNone/>
            </a:pPr>
            <a:r>
              <a:rPr lang="en-US" sz="1170" b="1" dirty="0">
                <a:solidFill>
                  <a:srgbClr val="028090"/>
                </a:solidFill>
                <a:latin typeface="Calibri" pitchFamily="34" charset="0"/>
                <a:ea typeface="Calibri" pitchFamily="34" charset="-122"/>
                <a:cs typeface="Calibri" pitchFamily="34" charset="-120"/>
              </a:rPr>
              <a:t>4</a:t>
            </a:r>
            <a:endParaRPr lang="en-US" sz="1170" dirty="0"/>
          </a:p>
        </p:txBody>
      </p:sp>
      <p:sp>
        <p:nvSpPr>
          <p:cNvPr id="29" name="Text 27"/>
          <p:cNvSpPr/>
          <p:nvPr/>
        </p:nvSpPr>
        <p:spPr>
          <a:xfrm>
            <a:off x="8942832" y="2880360"/>
            <a:ext cx="2276856"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Integrity guard</a:t>
            </a:r>
            <a:endParaRPr lang="en-US" sz="1250" dirty="0"/>
          </a:p>
        </p:txBody>
      </p:sp>
      <p:sp>
        <p:nvSpPr>
          <p:cNvPr id="30" name="Text 28"/>
          <p:cNvSpPr/>
          <p:nvPr/>
        </p:nvSpPr>
        <p:spPr>
          <a:xfrm>
            <a:off x="8942832" y="3383280"/>
            <a:ext cx="2276856" cy="1005840"/>
          </a:xfrm>
          <a:prstGeom prst="rect">
            <a:avLst/>
          </a:prstGeom>
          <a:noFill/>
          <a:ln/>
        </p:spPr>
        <p:txBody>
          <a:bodyPr wrap="square" rtlCol="0" anchor="ctr"/>
          <a:lstStyle/>
          <a:p>
            <a:pPr indent="0" marL="0">
              <a:buNone/>
            </a:pPr>
            <a:r>
              <a:rPr lang="en-US" sz="1000" dirty="0">
                <a:solidFill>
                  <a:srgbClr val="E5F3F0"/>
                </a:solidFill>
                <a:latin typeface="Calibri" pitchFamily="34" charset="0"/>
                <a:ea typeface="Calibri" pitchFamily="34" charset="-122"/>
                <a:cs typeface="Calibri" pitchFamily="34" charset="-120"/>
              </a:rPr>
              <a:t>IntegrityError from the DB exclusion constraint is caught and returned as HTTP 409 Conflict.</a:t>
            </a:r>
            <a:endParaRPr lang="en-US" sz="1000" dirty="0"/>
          </a:p>
        </p:txBody>
      </p:sp>
      <p:sp>
        <p:nvSpPr>
          <p:cNvPr id="31" name="Shape 29"/>
          <p:cNvSpPr/>
          <p:nvPr/>
        </p:nvSpPr>
        <p:spPr>
          <a:xfrm>
            <a:off x="548640" y="4709160"/>
            <a:ext cx="11064240" cy="1371600"/>
          </a:xfrm>
          <a:prstGeom prst="roundRect">
            <a:avLst>
              <a:gd name="adj" fmla="val 6667"/>
            </a:avLst>
          </a:prstGeom>
          <a:solidFill>
            <a:srgbClr val="EEF5F4"/>
          </a:solidFill>
          <a:ln w="12700">
            <a:solidFill>
              <a:srgbClr val="EEF5F4"/>
            </a:solidFill>
            <a:prstDash val="solid"/>
          </a:ln>
        </p:spPr>
      </p:sp>
      <p:sp>
        <p:nvSpPr>
          <p:cNvPr id="32" name="Text 30"/>
          <p:cNvSpPr/>
          <p:nvPr/>
        </p:nvSpPr>
        <p:spPr>
          <a:xfrm>
            <a:off x="822960" y="4846320"/>
            <a:ext cx="2743200" cy="274320"/>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STATUS CODES</a:t>
            </a:r>
            <a:endParaRPr lang="en-US" sz="1050" dirty="0"/>
          </a:p>
        </p:txBody>
      </p:sp>
      <p:sp>
        <p:nvSpPr>
          <p:cNvPr id="33" name="Text 31"/>
          <p:cNvSpPr/>
          <p:nvPr/>
        </p:nvSpPr>
        <p:spPr>
          <a:xfrm>
            <a:off x="822960" y="5120640"/>
            <a:ext cx="822960" cy="457200"/>
          </a:xfrm>
          <a:prstGeom prst="rect">
            <a:avLst/>
          </a:prstGeom>
          <a:noFill/>
          <a:ln/>
        </p:spPr>
        <p:txBody>
          <a:bodyPr wrap="square"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201</a:t>
            </a:r>
            <a:endParaRPr lang="en-US" sz="2000" dirty="0"/>
          </a:p>
        </p:txBody>
      </p:sp>
      <p:sp>
        <p:nvSpPr>
          <p:cNvPr id="34" name="Text 32"/>
          <p:cNvSpPr/>
          <p:nvPr/>
        </p:nvSpPr>
        <p:spPr>
          <a:xfrm>
            <a:off x="1600200" y="5175504"/>
            <a:ext cx="1828800" cy="457200"/>
          </a:xfrm>
          <a:prstGeom prst="rect">
            <a:avLst/>
          </a:prstGeom>
          <a:noFill/>
          <a:ln/>
        </p:spPr>
        <p:txBody>
          <a:bodyPr wrap="square" rtlCol="0" anchor="ctr"/>
          <a:lstStyle/>
          <a:p>
            <a:pPr indent="0" marL="0">
              <a:buNone/>
            </a:pPr>
            <a:r>
              <a:rPr lang="en-US" sz="950" dirty="0">
                <a:solidFill>
                  <a:srgbClr val="16323A"/>
                </a:solidFill>
                <a:latin typeface="Calibri" pitchFamily="34" charset="0"/>
                <a:ea typeface="Calibri" pitchFamily="34" charset="-122"/>
                <a:cs typeface="Calibri" pitchFamily="34" charset="-120"/>
              </a:rPr>
              <a:t>Created — booking stored successfully</a:t>
            </a:r>
            <a:endParaRPr lang="en-US" sz="950" dirty="0"/>
          </a:p>
        </p:txBody>
      </p:sp>
      <p:sp>
        <p:nvSpPr>
          <p:cNvPr id="35" name="Text 33"/>
          <p:cNvSpPr/>
          <p:nvPr/>
        </p:nvSpPr>
        <p:spPr>
          <a:xfrm>
            <a:off x="3520440" y="5120640"/>
            <a:ext cx="822960" cy="457200"/>
          </a:xfrm>
          <a:prstGeom prst="rect">
            <a:avLst/>
          </a:prstGeom>
          <a:noFill/>
          <a:ln/>
        </p:spPr>
        <p:txBody>
          <a:bodyPr wrap="square"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404</a:t>
            </a:r>
            <a:endParaRPr lang="en-US" sz="2000" dirty="0"/>
          </a:p>
        </p:txBody>
      </p:sp>
      <p:sp>
        <p:nvSpPr>
          <p:cNvPr id="36" name="Text 34"/>
          <p:cNvSpPr/>
          <p:nvPr/>
        </p:nvSpPr>
        <p:spPr>
          <a:xfrm>
            <a:off x="4297680" y="5175504"/>
            <a:ext cx="1828800" cy="457200"/>
          </a:xfrm>
          <a:prstGeom prst="rect">
            <a:avLst/>
          </a:prstGeom>
          <a:noFill/>
          <a:ln/>
        </p:spPr>
        <p:txBody>
          <a:bodyPr wrap="square" rtlCol="0" anchor="ctr"/>
          <a:lstStyle/>
          <a:p>
            <a:pPr indent="0" marL="0">
              <a:buNone/>
            </a:pPr>
            <a:r>
              <a:rPr lang="en-US" sz="950" dirty="0">
                <a:solidFill>
                  <a:srgbClr val="16323A"/>
                </a:solidFill>
                <a:latin typeface="Calibri" pitchFamily="34" charset="0"/>
                <a:ea typeface="Calibri" pitchFamily="34" charset="-122"/>
                <a:cs typeface="Calibri" pitchFamily="34" charset="-120"/>
              </a:rPr>
              <a:t>LSA not found or inactive</a:t>
            </a:r>
            <a:endParaRPr lang="en-US" sz="950" dirty="0"/>
          </a:p>
        </p:txBody>
      </p:sp>
      <p:sp>
        <p:nvSpPr>
          <p:cNvPr id="37" name="Text 35"/>
          <p:cNvSpPr/>
          <p:nvPr/>
        </p:nvSpPr>
        <p:spPr>
          <a:xfrm>
            <a:off x="6217920" y="5120640"/>
            <a:ext cx="822960" cy="457200"/>
          </a:xfrm>
          <a:prstGeom prst="rect">
            <a:avLst/>
          </a:prstGeom>
          <a:noFill/>
          <a:ln/>
        </p:spPr>
        <p:txBody>
          <a:bodyPr wrap="square"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409</a:t>
            </a:r>
            <a:endParaRPr lang="en-US" sz="2000" dirty="0"/>
          </a:p>
        </p:txBody>
      </p:sp>
      <p:sp>
        <p:nvSpPr>
          <p:cNvPr id="38" name="Text 36"/>
          <p:cNvSpPr/>
          <p:nvPr/>
        </p:nvSpPr>
        <p:spPr>
          <a:xfrm>
            <a:off x="6995160" y="5175504"/>
            <a:ext cx="1828800" cy="457200"/>
          </a:xfrm>
          <a:prstGeom prst="rect">
            <a:avLst/>
          </a:prstGeom>
          <a:noFill/>
          <a:ln/>
        </p:spPr>
        <p:txBody>
          <a:bodyPr wrap="square" rtlCol="0" anchor="ctr"/>
          <a:lstStyle/>
          <a:p>
            <a:pPr indent="0" marL="0">
              <a:buNone/>
            </a:pPr>
            <a:r>
              <a:rPr lang="en-US" sz="950" dirty="0">
                <a:solidFill>
                  <a:srgbClr val="16323A"/>
                </a:solidFill>
                <a:latin typeface="Calibri" pitchFamily="34" charset="0"/>
                <a:ea typeface="Calibri" pitchFamily="34" charset="-122"/>
                <a:cs typeface="Calibri" pitchFamily="34" charset="-120"/>
              </a:rPr>
              <a:t>Overlapping session — exclusion constraint fired</a:t>
            </a:r>
            <a:endParaRPr lang="en-US" sz="950" dirty="0"/>
          </a:p>
        </p:txBody>
      </p:sp>
      <p:sp>
        <p:nvSpPr>
          <p:cNvPr id="39" name="Text 37"/>
          <p:cNvSpPr/>
          <p:nvPr/>
        </p:nvSpPr>
        <p:spPr>
          <a:xfrm>
            <a:off x="8915400" y="5120640"/>
            <a:ext cx="822960" cy="457200"/>
          </a:xfrm>
          <a:prstGeom prst="rect">
            <a:avLst/>
          </a:prstGeom>
          <a:noFill/>
          <a:ln/>
        </p:spPr>
        <p:txBody>
          <a:bodyPr wrap="square"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422</a:t>
            </a:r>
            <a:endParaRPr lang="en-US" sz="2000" dirty="0"/>
          </a:p>
        </p:txBody>
      </p:sp>
      <p:sp>
        <p:nvSpPr>
          <p:cNvPr id="40" name="Text 38"/>
          <p:cNvSpPr/>
          <p:nvPr/>
        </p:nvSpPr>
        <p:spPr>
          <a:xfrm>
            <a:off x="9692640" y="5175504"/>
            <a:ext cx="1828800" cy="457200"/>
          </a:xfrm>
          <a:prstGeom prst="rect">
            <a:avLst/>
          </a:prstGeom>
          <a:noFill/>
          <a:ln/>
        </p:spPr>
        <p:txBody>
          <a:bodyPr wrap="square" rtlCol="0" anchor="ctr"/>
          <a:lstStyle/>
          <a:p>
            <a:pPr indent="0" marL="0">
              <a:buNone/>
            </a:pPr>
            <a:r>
              <a:rPr lang="en-US" sz="950" dirty="0">
                <a:solidFill>
                  <a:srgbClr val="16323A"/>
                </a:solidFill>
                <a:latin typeface="Calibri" pitchFamily="34" charset="0"/>
                <a:ea typeface="Calibri" pitchFamily="34" charset="-122"/>
                <a:cs typeface="Calibri" pitchFamily="34" charset="-120"/>
              </a:rPr>
              <a:t>Payload failed Pydantic validation</a:t>
            </a:r>
            <a:endParaRPr lang="en-US" sz="950" dirty="0"/>
          </a:p>
        </p:txBody>
      </p:sp>
      <p:sp>
        <p:nvSpPr>
          <p:cNvPr id="41" name="Text 39"/>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42" name="Text 4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09 · POKA-YOKE</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Double-Booking Prevention, Two Layers Deep</a:t>
            </a:r>
            <a:endParaRPr lang="en-US" sz="3200" dirty="0"/>
          </a:p>
        </p:txBody>
      </p:sp>
      <p:sp>
        <p:nvSpPr>
          <p:cNvPr id="4" name="Text 2"/>
          <p:cNvSpPr/>
          <p:nvPr/>
        </p:nvSpPr>
        <p:spPr>
          <a:xfrm>
            <a:off x="548640" y="1417320"/>
            <a:ext cx="100584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Mistake-proofing means the system rejects the error — it doesn't rely on anyone remembering to check.</a:t>
            </a:r>
            <a:endParaRPr lang="en-US" sz="1300" dirty="0"/>
          </a:p>
        </p:txBody>
      </p:sp>
      <p:sp>
        <p:nvSpPr>
          <p:cNvPr id="5" name="Shape 3"/>
          <p:cNvSpPr/>
          <p:nvPr/>
        </p:nvSpPr>
        <p:spPr>
          <a:xfrm>
            <a:off x="548640" y="2011680"/>
            <a:ext cx="5394960" cy="4114800"/>
          </a:xfrm>
          <a:prstGeom prst="roundRect">
            <a:avLst>
              <a:gd name="adj" fmla="val 2222"/>
            </a:avLst>
          </a:prstGeom>
          <a:solidFill>
            <a:srgbClr val="FFFFFF"/>
          </a:solidFill>
          <a:ln w="12700">
            <a:solidFill>
              <a:srgbClr val="FFFFFF"/>
            </a:solidFill>
            <a:prstDash val="solid"/>
          </a:ln>
        </p:spPr>
      </p:sp>
      <p:sp>
        <p:nvSpPr>
          <p:cNvPr id="6" name="Shape 4"/>
          <p:cNvSpPr/>
          <p:nvPr/>
        </p:nvSpPr>
        <p:spPr>
          <a:xfrm>
            <a:off x="548640" y="2011680"/>
            <a:ext cx="5394960" cy="4114800"/>
          </a:xfrm>
          <a:prstGeom prst="rect">
            <a:avLst>
              <a:gd name="adj" fmla="val 2222"/>
            </a:avLst>
          </a:prstGeom>
          <a:ln w="12700">
            <a:solidFill>
              <a:srgbClr val="D7E6E4"/>
            </a:solidFill>
            <a:prstDash val="solid"/>
          </a:ln>
        </p:spPr>
      </p:sp>
      <p:sp>
        <p:nvSpPr>
          <p:cNvPr id="7" name="Shape 5"/>
          <p:cNvSpPr/>
          <p:nvPr/>
        </p:nvSpPr>
        <p:spPr>
          <a:xfrm>
            <a:off x="868680" y="2286000"/>
            <a:ext cx="502920" cy="502920"/>
          </a:xfrm>
          <a:prstGeom prst="ellipse">
            <a:avLst/>
          </a:prstGeom>
          <a:solidFill>
            <a:srgbClr val="028090"/>
          </a:solidFill>
          <a:ln/>
        </p:spPr>
      </p:sp>
      <p:sp>
        <p:nvSpPr>
          <p:cNvPr id="8" name="Text 6"/>
          <p:cNvSpPr/>
          <p:nvPr/>
        </p:nvSpPr>
        <p:spPr>
          <a:xfrm>
            <a:off x="868680" y="228600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9" name="Text 7"/>
          <p:cNvSpPr/>
          <p:nvPr/>
        </p:nvSpPr>
        <p:spPr>
          <a:xfrm>
            <a:off x="1508760" y="2331720"/>
            <a:ext cx="4206240" cy="411480"/>
          </a:xfrm>
          <a:prstGeom prst="rect">
            <a:avLst/>
          </a:prstGeom>
          <a:noFill/>
          <a:ln/>
        </p:spPr>
        <p:txBody>
          <a:bodyPr wrap="square" rtlCol="0" anchor="ctr"/>
          <a:lstStyle/>
          <a:p>
            <a:pPr indent="0" marL="0">
              <a:buNone/>
            </a:pPr>
            <a:r>
              <a:rPr lang="en-US" sz="1500" b="1" dirty="0">
                <a:solidFill>
                  <a:srgbClr val="16323A"/>
                </a:solidFill>
                <a:latin typeface="Calibri" pitchFamily="34" charset="0"/>
                <a:ea typeface="Calibri" pitchFamily="34" charset="-122"/>
                <a:cs typeface="Calibri" pitchFamily="34" charset="-120"/>
              </a:rPr>
              <a:t>Application layer</a:t>
            </a:r>
            <a:endParaRPr lang="en-US" sz="1500" dirty="0"/>
          </a:p>
        </p:txBody>
      </p:sp>
      <p:sp>
        <p:nvSpPr>
          <p:cNvPr id="10" name="Text 8"/>
          <p:cNvSpPr/>
          <p:nvPr/>
        </p:nvSpPr>
        <p:spPr>
          <a:xfrm>
            <a:off x="868680" y="2880360"/>
            <a:ext cx="4846320" cy="502920"/>
          </a:xfrm>
          <a:prstGeom prst="rect">
            <a:avLst/>
          </a:prstGeom>
          <a:noFill/>
          <a:ln/>
        </p:spPr>
        <p:txBody>
          <a:bodyPr wrap="square" rtlCol="0" anchor="ctr"/>
          <a:lstStyle/>
          <a:p>
            <a:pPr indent="0" marL="0">
              <a:buNone/>
            </a:pPr>
            <a:r>
              <a:rPr lang="en-US" sz="1150" dirty="0">
                <a:solidFill>
                  <a:srgbClr val="51707A"/>
                </a:solidFill>
                <a:latin typeface="Calibri" pitchFamily="34" charset="0"/>
                <a:ea typeface="Calibri" pitchFamily="34" charset="-122"/>
                <a:cs typeface="Calibri" pitchFamily="34" charset="-120"/>
              </a:rPr>
              <a:t>A Pydantic validator rejects malformed time ranges before any database call.</a:t>
            </a:r>
            <a:endParaRPr lang="en-US" sz="1150" dirty="0"/>
          </a:p>
        </p:txBody>
      </p:sp>
      <p:sp>
        <p:nvSpPr>
          <p:cNvPr id="11" name="Shape 9"/>
          <p:cNvSpPr/>
          <p:nvPr/>
        </p:nvSpPr>
        <p:spPr>
          <a:xfrm>
            <a:off x="868680" y="3429000"/>
            <a:ext cx="4800600" cy="1417320"/>
          </a:xfrm>
          <a:prstGeom prst="roundRect">
            <a:avLst>
              <a:gd name="adj" fmla="val 6452"/>
            </a:avLst>
          </a:prstGeom>
          <a:solidFill>
            <a:srgbClr val="EEF5F4"/>
          </a:solidFill>
          <a:ln w="12700">
            <a:solidFill>
              <a:srgbClr val="EEF5F4"/>
            </a:solidFill>
            <a:prstDash val="solid"/>
          </a:ln>
        </p:spPr>
      </p:sp>
      <p:sp>
        <p:nvSpPr>
          <p:cNvPr id="12" name="Text 10"/>
          <p:cNvSpPr/>
          <p:nvPr/>
        </p:nvSpPr>
        <p:spPr>
          <a:xfrm>
            <a:off x="1051560" y="3566160"/>
            <a:ext cx="4434840" cy="1188720"/>
          </a:xfrm>
          <a:prstGeom prst="rect">
            <a:avLst/>
          </a:prstGeom>
          <a:noFill/>
          <a:ln/>
        </p:spPr>
        <p:txBody>
          <a:bodyPr wrap="square" rtlCol="0" anchor="ctr"/>
          <a:lstStyle/>
          <a:p>
            <a:pPr indent="0" marL="0">
              <a:lnSpc>
                <a:spcPct val="130000"/>
              </a:lnSpc>
              <a:buNone/>
            </a:pPr>
            <a:r>
              <a:rPr lang="en-US" sz="1200" dirty="0">
                <a:solidFill>
                  <a:srgbClr val="16323A"/>
                </a:solidFill>
                <a:latin typeface="Calibri" pitchFamily="34" charset="0"/>
                <a:ea typeface="Calibri" pitchFamily="34" charset="-122"/>
                <a:cs typeface="Calibri" pitchFamily="34" charset="-120"/>
              </a:rPr>
              <a:t>As soon as a booking payload arrives, the end time is checked against the start time. If the end is not after the start, the request is rejected immediately with a 422 response — no row is ever written.</a:t>
            </a:r>
            <a:endParaRPr lang="en-US" sz="1200" dirty="0"/>
          </a:p>
        </p:txBody>
      </p:sp>
      <p:sp>
        <p:nvSpPr>
          <p:cNvPr id="13" name="Text 11"/>
          <p:cNvSpPr/>
          <p:nvPr/>
        </p:nvSpPr>
        <p:spPr>
          <a:xfrm>
            <a:off x="868680" y="4983480"/>
            <a:ext cx="4846320" cy="914400"/>
          </a:xfrm>
          <a:prstGeom prst="rect">
            <a:avLst/>
          </a:prstGeom>
          <a:noFill/>
          <a:ln/>
        </p:spPr>
        <p:txBody>
          <a:bodyPr wrap="square" rtlCol="0" anchor="ctr"/>
          <a:lstStyle/>
          <a:p>
            <a:pPr indent="0" marL="0">
              <a:buNone/>
            </a:pPr>
            <a:r>
              <a:rPr lang="en-US" sz="1100" i="1" dirty="0">
                <a:solidFill>
                  <a:srgbClr val="51707A"/>
                </a:solidFill>
                <a:latin typeface="Calibri" pitchFamily="34" charset="0"/>
                <a:ea typeface="Calibri" pitchFamily="34" charset="-122"/>
                <a:cs typeface="Calibri" pitchFamily="34" charset="-120"/>
              </a:rPr>
              <a:t>Fast to fail, but only guards a single request — not concurrent ones.</a:t>
            </a:r>
            <a:endParaRPr lang="en-US" sz="1100" dirty="0"/>
          </a:p>
        </p:txBody>
      </p:sp>
      <p:sp>
        <p:nvSpPr>
          <p:cNvPr id="14" name="Shape 12"/>
          <p:cNvSpPr/>
          <p:nvPr/>
        </p:nvSpPr>
        <p:spPr>
          <a:xfrm>
            <a:off x="6217920" y="2011680"/>
            <a:ext cx="5394960" cy="4114800"/>
          </a:xfrm>
          <a:prstGeom prst="roundRect">
            <a:avLst>
              <a:gd name="adj" fmla="val 2222"/>
            </a:avLst>
          </a:prstGeom>
          <a:solidFill>
            <a:srgbClr val="0B2545"/>
          </a:solidFill>
          <a:ln w="12700">
            <a:solidFill>
              <a:srgbClr val="0B2545"/>
            </a:solidFill>
            <a:prstDash val="solid"/>
          </a:ln>
        </p:spPr>
      </p:sp>
      <p:sp>
        <p:nvSpPr>
          <p:cNvPr id="15" name="Shape 13"/>
          <p:cNvSpPr/>
          <p:nvPr/>
        </p:nvSpPr>
        <p:spPr>
          <a:xfrm>
            <a:off x="6537960" y="2286000"/>
            <a:ext cx="502920" cy="502920"/>
          </a:xfrm>
          <a:prstGeom prst="ellipse">
            <a:avLst/>
          </a:prstGeom>
          <a:solidFill>
            <a:srgbClr val="02C39A"/>
          </a:solidFill>
          <a:ln/>
        </p:spPr>
      </p:sp>
      <p:sp>
        <p:nvSpPr>
          <p:cNvPr id="16" name="Text 14"/>
          <p:cNvSpPr/>
          <p:nvPr/>
        </p:nvSpPr>
        <p:spPr>
          <a:xfrm>
            <a:off x="6537960" y="2286000"/>
            <a:ext cx="502920" cy="502920"/>
          </a:xfrm>
          <a:prstGeom prst="rect">
            <a:avLst/>
          </a:prstGeom>
          <a:noFill/>
          <a:ln/>
        </p:spPr>
        <p:txBody>
          <a:bodyPr wrap="square" rtlCol="0" anchor="ctr"/>
          <a:lstStyle/>
          <a:p>
            <a:pPr algn="ctr" indent="0" marL="0">
              <a:buNone/>
            </a:pPr>
            <a:r>
              <a:rPr lang="en-US" sz="1430" b="1" dirty="0">
                <a:solidFill>
                  <a:srgbClr val="0B2545"/>
                </a:solidFill>
                <a:latin typeface="Calibri" pitchFamily="34" charset="0"/>
                <a:ea typeface="Calibri" pitchFamily="34" charset="-122"/>
                <a:cs typeface="Calibri" pitchFamily="34" charset="-120"/>
              </a:rPr>
              <a:t>2</a:t>
            </a:r>
            <a:endParaRPr lang="en-US" sz="1430" dirty="0"/>
          </a:p>
        </p:txBody>
      </p:sp>
      <p:sp>
        <p:nvSpPr>
          <p:cNvPr id="17" name="Text 15"/>
          <p:cNvSpPr/>
          <p:nvPr/>
        </p:nvSpPr>
        <p:spPr>
          <a:xfrm>
            <a:off x="7178040" y="2331720"/>
            <a:ext cx="429768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Database layer (final guard)</a:t>
            </a:r>
            <a:endParaRPr lang="en-US" sz="1500" dirty="0"/>
          </a:p>
        </p:txBody>
      </p:sp>
      <p:sp>
        <p:nvSpPr>
          <p:cNvPr id="18" name="Text 16"/>
          <p:cNvSpPr/>
          <p:nvPr/>
        </p:nvSpPr>
        <p:spPr>
          <a:xfrm>
            <a:off x="6537960" y="2880360"/>
            <a:ext cx="4846320" cy="502920"/>
          </a:xfrm>
          <a:prstGeom prst="rect">
            <a:avLst/>
          </a:prstGeom>
          <a:noFill/>
          <a:ln/>
        </p:spPr>
        <p:txBody>
          <a:bodyPr wrap="square" rtlCol="0" anchor="ctr"/>
          <a:lstStyle/>
          <a:p>
            <a:pPr indent="0" marL="0">
              <a:buNone/>
            </a:pPr>
            <a:r>
              <a:rPr lang="en-US" sz="1150" dirty="0">
                <a:solidFill>
                  <a:srgbClr val="BFD8E0"/>
                </a:solidFill>
                <a:latin typeface="Calibri" pitchFamily="34" charset="0"/>
                <a:ea typeface="Calibri" pitchFamily="34" charset="-122"/>
                <a:cs typeface="Calibri" pitchFamily="34" charset="-120"/>
              </a:rPr>
              <a:t>A Postgres EXCLUDE constraint makes overlap physically impossible, even under a race condition.</a:t>
            </a:r>
            <a:endParaRPr lang="en-US" sz="1150" dirty="0"/>
          </a:p>
        </p:txBody>
      </p:sp>
      <p:sp>
        <p:nvSpPr>
          <p:cNvPr id="19" name="Shape 17"/>
          <p:cNvSpPr/>
          <p:nvPr/>
        </p:nvSpPr>
        <p:spPr>
          <a:xfrm>
            <a:off x="6537960" y="3429000"/>
            <a:ext cx="4800600" cy="1554480"/>
          </a:xfrm>
          <a:prstGeom prst="roundRect">
            <a:avLst>
              <a:gd name="adj" fmla="val 5882"/>
            </a:avLst>
          </a:prstGeom>
          <a:solidFill>
            <a:srgbClr val="0F3B5F"/>
          </a:solidFill>
          <a:ln w="12700">
            <a:solidFill>
              <a:srgbClr val="0F3B5F"/>
            </a:solidFill>
            <a:prstDash val="solid"/>
          </a:ln>
        </p:spPr>
      </p:sp>
      <p:sp>
        <p:nvSpPr>
          <p:cNvPr id="20" name="Text 18"/>
          <p:cNvSpPr/>
          <p:nvPr/>
        </p:nvSpPr>
        <p:spPr>
          <a:xfrm>
            <a:off x="6720840" y="3566160"/>
            <a:ext cx="4434840" cy="1325880"/>
          </a:xfrm>
          <a:prstGeom prst="rect">
            <a:avLst/>
          </a:prstGeom>
          <a:noFill/>
          <a:ln/>
        </p:spPr>
        <p:txBody>
          <a:bodyPr wrap="square" rtlCol="0" anchor="ctr"/>
          <a:lstStyle/>
          <a:p>
            <a:pPr indent="0" marL="0">
              <a:lnSpc>
                <a:spcPct val="130000"/>
              </a:lnSpc>
              <a:buNone/>
            </a:pPr>
            <a:r>
              <a:rPr lang="en-US" sz="1200" dirty="0">
                <a:solidFill>
                  <a:srgbClr val="D8F3EE"/>
                </a:solidFill>
                <a:latin typeface="Calibri" pitchFamily="34" charset="0"/>
                <a:ea typeface="Calibri" pitchFamily="34" charset="-122"/>
                <a:cs typeface="Calibri" pitchFamily="34" charset="-120"/>
              </a:rPr>
              <a:t>For the same LSA, the database itself will not allow two bookings whose time ranges overlap while either one is pending or confirmed. Even if two requests arrive at the exact same instant, only one can win.</a:t>
            </a:r>
            <a:endParaRPr lang="en-US" sz="1200" dirty="0"/>
          </a:p>
        </p:txBody>
      </p:sp>
      <p:sp>
        <p:nvSpPr>
          <p:cNvPr id="21" name="Text 19"/>
          <p:cNvSpPr/>
          <p:nvPr/>
        </p:nvSpPr>
        <p:spPr>
          <a:xfrm>
            <a:off x="6537960" y="5120640"/>
            <a:ext cx="4846320" cy="822960"/>
          </a:xfrm>
          <a:prstGeom prst="rect">
            <a:avLst/>
          </a:prstGeom>
          <a:noFill/>
          <a:ln/>
        </p:spPr>
        <p:txBody>
          <a:bodyPr wrap="square" rtlCol="0" anchor="ctr"/>
          <a:lstStyle/>
          <a:p>
            <a:pPr indent="0" marL="0">
              <a:buNone/>
            </a:pPr>
            <a:r>
              <a:rPr lang="en-US" sz="1100" i="1" dirty="0">
                <a:solidFill>
                  <a:srgbClr val="9FB8C4"/>
                </a:solidFill>
                <a:latin typeface="Calibri" pitchFamily="34" charset="0"/>
                <a:ea typeface="Calibri" pitchFamily="34" charset="-122"/>
                <a:cs typeface="Calibri" pitchFamily="34" charset="-120"/>
              </a:rPr>
              <a:t>The conflict is caught in main.py and returned as HTTP 409, so the API still fails clean.</a:t>
            </a:r>
            <a:endParaRPr lang="en-US" sz="1100" dirty="0"/>
          </a:p>
        </p:txBody>
      </p:sp>
      <p:sp>
        <p:nvSpPr>
          <p:cNvPr id="22" name="Text 20"/>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10 · WEBHOOK</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POST /api/v1/payments/webhook</a:t>
            </a:r>
            <a:endParaRPr lang="en-US" sz="3200" dirty="0"/>
          </a:p>
        </p:txBody>
      </p:sp>
      <p:sp>
        <p:nvSpPr>
          <p:cNvPr id="4" name="Text 2"/>
          <p:cNvSpPr/>
          <p:nvPr/>
        </p:nvSpPr>
        <p:spPr>
          <a:xfrm>
            <a:off x="548640" y="1417320"/>
            <a:ext cx="82296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Idempotent event handling drives the booking state machine.</a:t>
            </a:r>
            <a:endParaRPr lang="en-US" sz="1300" dirty="0"/>
          </a:p>
        </p:txBody>
      </p:sp>
      <p:sp>
        <p:nvSpPr>
          <p:cNvPr id="5" name="Shape 3"/>
          <p:cNvSpPr/>
          <p:nvPr/>
        </p:nvSpPr>
        <p:spPr>
          <a:xfrm>
            <a:off x="548640" y="1691640"/>
            <a:ext cx="11064240" cy="1554480"/>
          </a:xfrm>
          <a:prstGeom prst="roundRect">
            <a:avLst>
              <a:gd name="adj" fmla="val 5882"/>
            </a:avLst>
          </a:prstGeom>
          <a:solidFill>
            <a:srgbClr val="EEF5F4"/>
          </a:solidFill>
          <a:ln w="12700">
            <a:solidFill>
              <a:srgbClr val="EEF5F4"/>
            </a:solidFill>
            <a:prstDash val="solid"/>
          </a:ln>
        </p:spPr>
      </p:sp>
      <p:sp>
        <p:nvSpPr>
          <p:cNvPr id="6" name="Text 4"/>
          <p:cNvSpPr/>
          <p:nvPr/>
        </p:nvSpPr>
        <p:spPr>
          <a:xfrm>
            <a:off x="822960" y="1828800"/>
            <a:ext cx="4572000" cy="274320"/>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BOOKING STATUS STATE MACHINE</a:t>
            </a:r>
            <a:endParaRPr lang="en-US" sz="1050" dirty="0"/>
          </a:p>
        </p:txBody>
      </p:sp>
      <p:sp>
        <p:nvSpPr>
          <p:cNvPr id="7" name="Shape 5"/>
          <p:cNvSpPr/>
          <p:nvPr/>
        </p:nvSpPr>
        <p:spPr>
          <a:xfrm>
            <a:off x="822960" y="2240280"/>
            <a:ext cx="3246120" cy="822960"/>
          </a:xfrm>
          <a:prstGeom prst="roundRect">
            <a:avLst>
              <a:gd name="adj" fmla="val 16667"/>
            </a:avLst>
          </a:prstGeom>
          <a:solidFill>
            <a:srgbClr val="FFFFFF"/>
          </a:solidFill>
          <a:ln w="12700">
            <a:solidFill>
              <a:srgbClr val="FFFFFF"/>
            </a:solidFill>
            <a:prstDash val="solid"/>
          </a:ln>
        </p:spPr>
      </p:sp>
      <p:sp>
        <p:nvSpPr>
          <p:cNvPr id="8" name="Shape 6"/>
          <p:cNvSpPr/>
          <p:nvPr/>
        </p:nvSpPr>
        <p:spPr>
          <a:xfrm>
            <a:off x="822960" y="2240280"/>
            <a:ext cx="3246120" cy="822960"/>
          </a:xfrm>
          <a:prstGeom prst="rect">
            <a:avLst>
              <a:gd name="adj" fmla="val 16667"/>
            </a:avLst>
          </a:prstGeom>
          <a:ln w="19050">
            <a:solidFill>
              <a:srgbClr val="51707A"/>
            </a:solidFill>
            <a:prstDash val="solid"/>
          </a:ln>
        </p:spPr>
      </p:sp>
      <p:sp>
        <p:nvSpPr>
          <p:cNvPr id="9" name="Text 7"/>
          <p:cNvSpPr/>
          <p:nvPr/>
        </p:nvSpPr>
        <p:spPr>
          <a:xfrm>
            <a:off x="914400" y="2240280"/>
            <a:ext cx="3063240" cy="822960"/>
          </a:xfrm>
          <a:prstGeom prst="rect">
            <a:avLst/>
          </a:prstGeom>
          <a:noFill/>
          <a:ln/>
        </p:spPr>
        <p:txBody>
          <a:bodyPr wrap="square" rtlCol="0" anchor="ctr"/>
          <a:lstStyle/>
          <a:p>
            <a:pPr algn="ctr" indent="0" marL="0">
              <a:buNone/>
            </a:pPr>
            <a:r>
              <a:rPr lang="en-US" sz="1050" b="1" dirty="0">
                <a:solidFill>
                  <a:srgbClr val="51707A"/>
                </a:solidFill>
                <a:latin typeface="Calibri" pitchFamily="34" charset="0"/>
                <a:ea typeface="Calibri" pitchFamily="34" charset="-122"/>
                <a:cs typeface="Calibri" pitchFamily="34" charset="-120"/>
              </a:rPr>
              <a:t>pending</a:t>
            </a:r>
            <a:endParaRPr lang="en-US" sz="1050" dirty="0"/>
          </a:p>
        </p:txBody>
      </p:sp>
      <p:sp>
        <p:nvSpPr>
          <p:cNvPr id="10" name="Text 8"/>
          <p:cNvSpPr/>
          <p:nvPr/>
        </p:nvSpPr>
        <p:spPr>
          <a:xfrm>
            <a:off x="4069080" y="2468880"/>
            <a:ext cx="27432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4343400" y="2240280"/>
            <a:ext cx="3246120" cy="822960"/>
          </a:xfrm>
          <a:prstGeom prst="roundRect">
            <a:avLst>
              <a:gd name="adj" fmla="val 16667"/>
            </a:avLst>
          </a:prstGeom>
          <a:solidFill>
            <a:srgbClr val="FFFFFF"/>
          </a:solidFill>
          <a:ln w="12700">
            <a:solidFill>
              <a:srgbClr val="FFFFFF"/>
            </a:solidFill>
            <a:prstDash val="solid"/>
          </a:ln>
        </p:spPr>
      </p:sp>
      <p:sp>
        <p:nvSpPr>
          <p:cNvPr id="12" name="Shape 10"/>
          <p:cNvSpPr/>
          <p:nvPr/>
        </p:nvSpPr>
        <p:spPr>
          <a:xfrm>
            <a:off x="4343400" y="2240280"/>
            <a:ext cx="3246120" cy="822960"/>
          </a:xfrm>
          <a:prstGeom prst="rect">
            <a:avLst>
              <a:gd name="adj" fmla="val 16667"/>
            </a:avLst>
          </a:prstGeom>
          <a:ln w="19050">
            <a:solidFill>
              <a:srgbClr val="00A896"/>
            </a:solidFill>
            <a:prstDash val="solid"/>
          </a:ln>
        </p:spPr>
      </p:sp>
      <p:sp>
        <p:nvSpPr>
          <p:cNvPr id="13" name="Text 11"/>
          <p:cNvSpPr/>
          <p:nvPr/>
        </p:nvSpPr>
        <p:spPr>
          <a:xfrm>
            <a:off x="4434840" y="2240280"/>
            <a:ext cx="3063240" cy="822960"/>
          </a:xfrm>
          <a:prstGeom prst="rect">
            <a:avLst/>
          </a:prstGeom>
          <a:noFill/>
          <a:ln/>
        </p:spPr>
        <p:txBody>
          <a:bodyPr wrap="square" rtlCol="0" anchor="ctr"/>
          <a:lstStyle/>
          <a:p>
            <a:pPr algn="ctr" indent="0" marL="0">
              <a:buNone/>
            </a:pPr>
            <a:r>
              <a:rPr lang="en-US" sz="1050" b="1" dirty="0">
                <a:solidFill>
                  <a:srgbClr val="00A896"/>
                </a:solidFill>
                <a:latin typeface="Calibri" pitchFamily="34" charset="0"/>
                <a:ea typeface="Calibri" pitchFamily="34" charset="-122"/>
                <a:cs typeface="Calibri" pitchFamily="34" charset="-120"/>
              </a:rPr>
              <a:t>confirmed</a:t>
            </a:r>
            <a:endParaRPr lang="en-US" sz="1050" dirty="0"/>
          </a:p>
          <a:p>
            <a:pPr algn="ctr" indent="0" marL="0">
              <a:buNone/>
            </a:pPr>
            <a:r>
              <a:rPr lang="en-US" sz="1050" b="1" dirty="0">
                <a:solidFill>
                  <a:srgbClr val="00A896"/>
                </a:solidFill>
                <a:latin typeface="Calibri" pitchFamily="34" charset="0"/>
                <a:ea typeface="Calibri" pitchFamily="34" charset="-122"/>
                <a:cs typeface="Calibri" pitchFamily="34" charset="-120"/>
              </a:rPr>
              <a:t>(payment succeeded)</a:t>
            </a:r>
            <a:endParaRPr lang="en-US" sz="1050" dirty="0"/>
          </a:p>
        </p:txBody>
      </p:sp>
      <p:sp>
        <p:nvSpPr>
          <p:cNvPr id="14" name="Text 12"/>
          <p:cNvSpPr/>
          <p:nvPr/>
        </p:nvSpPr>
        <p:spPr>
          <a:xfrm>
            <a:off x="7589520" y="2468880"/>
            <a:ext cx="27432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7863840" y="2240280"/>
            <a:ext cx="3246120" cy="822960"/>
          </a:xfrm>
          <a:prstGeom prst="roundRect">
            <a:avLst>
              <a:gd name="adj" fmla="val 16667"/>
            </a:avLst>
          </a:prstGeom>
          <a:solidFill>
            <a:srgbClr val="FFFFFF"/>
          </a:solidFill>
          <a:ln w="12700">
            <a:solidFill>
              <a:srgbClr val="FFFFFF"/>
            </a:solidFill>
            <a:prstDash val="solid"/>
          </a:ln>
        </p:spPr>
      </p:sp>
      <p:sp>
        <p:nvSpPr>
          <p:cNvPr id="16" name="Shape 14"/>
          <p:cNvSpPr/>
          <p:nvPr/>
        </p:nvSpPr>
        <p:spPr>
          <a:xfrm>
            <a:off x="7863840" y="2240280"/>
            <a:ext cx="3246120" cy="822960"/>
          </a:xfrm>
          <a:prstGeom prst="rect">
            <a:avLst>
              <a:gd name="adj" fmla="val 16667"/>
            </a:avLst>
          </a:prstGeom>
          <a:ln w="19050">
            <a:solidFill>
              <a:srgbClr val="C0575F"/>
            </a:solidFill>
            <a:prstDash val="solid"/>
          </a:ln>
        </p:spPr>
      </p:sp>
      <p:sp>
        <p:nvSpPr>
          <p:cNvPr id="17" name="Text 15"/>
          <p:cNvSpPr/>
          <p:nvPr/>
        </p:nvSpPr>
        <p:spPr>
          <a:xfrm>
            <a:off x="7955280" y="2240280"/>
            <a:ext cx="3063240" cy="822960"/>
          </a:xfrm>
          <a:prstGeom prst="rect">
            <a:avLst/>
          </a:prstGeom>
          <a:noFill/>
          <a:ln/>
        </p:spPr>
        <p:txBody>
          <a:bodyPr wrap="square" rtlCol="0" anchor="ctr"/>
          <a:lstStyle/>
          <a:p>
            <a:pPr algn="ctr" indent="0" marL="0">
              <a:buNone/>
            </a:pPr>
            <a:r>
              <a:rPr lang="en-US" sz="1050" b="1" dirty="0">
                <a:solidFill>
                  <a:srgbClr val="C0575F"/>
                </a:solidFill>
                <a:latin typeface="Calibri" pitchFamily="34" charset="0"/>
                <a:ea typeface="Calibri" pitchFamily="34" charset="-122"/>
                <a:cs typeface="Calibri" pitchFamily="34" charset="-120"/>
              </a:rPr>
              <a:t>cancelled / failed</a:t>
            </a:r>
            <a:endParaRPr lang="en-US" sz="1050" dirty="0"/>
          </a:p>
          <a:p>
            <a:pPr algn="ctr" indent="0" marL="0">
              <a:buNone/>
            </a:pPr>
            <a:r>
              <a:rPr lang="en-US" sz="1050" b="1" dirty="0">
                <a:solidFill>
                  <a:srgbClr val="C0575F"/>
                </a:solidFill>
                <a:latin typeface="Calibri" pitchFamily="34" charset="0"/>
                <a:ea typeface="Calibri" pitchFamily="34" charset="-122"/>
                <a:cs typeface="Calibri" pitchFamily="34" charset="-120"/>
              </a:rPr>
              <a:t>(payment_status = failed)</a:t>
            </a:r>
            <a:endParaRPr lang="en-US" sz="1050" dirty="0"/>
          </a:p>
        </p:txBody>
      </p:sp>
      <p:sp>
        <p:nvSpPr>
          <p:cNvPr id="18" name="Shape 16"/>
          <p:cNvSpPr/>
          <p:nvPr/>
        </p:nvSpPr>
        <p:spPr>
          <a:xfrm>
            <a:off x="548640" y="3794760"/>
            <a:ext cx="5394960" cy="2331720"/>
          </a:xfrm>
          <a:prstGeom prst="roundRect">
            <a:avLst>
              <a:gd name="adj" fmla="val 3922"/>
            </a:avLst>
          </a:prstGeom>
          <a:solidFill>
            <a:srgbClr val="FFFFFF"/>
          </a:solidFill>
          <a:ln w="12700">
            <a:solidFill>
              <a:srgbClr val="FFFFFF"/>
            </a:solidFill>
            <a:prstDash val="solid"/>
          </a:ln>
        </p:spPr>
      </p:sp>
      <p:sp>
        <p:nvSpPr>
          <p:cNvPr id="19" name="Shape 17"/>
          <p:cNvSpPr/>
          <p:nvPr/>
        </p:nvSpPr>
        <p:spPr>
          <a:xfrm>
            <a:off x="548640" y="3794760"/>
            <a:ext cx="5394960" cy="2331720"/>
          </a:xfrm>
          <a:prstGeom prst="rect">
            <a:avLst>
              <a:gd name="adj" fmla="val 3922"/>
            </a:avLst>
          </a:prstGeom>
          <a:ln w="12700">
            <a:solidFill>
              <a:srgbClr val="D7E6E4"/>
            </a:solidFill>
            <a:prstDash val="solid"/>
          </a:ln>
        </p:spPr>
      </p:sp>
      <p:sp>
        <p:nvSpPr>
          <p:cNvPr id="20" name="Text 18"/>
          <p:cNvSpPr/>
          <p:nvPr/>
        </p:nvSpPr>
        <p:spPr>
          <a:xfrm>
            <a:off x="822960" y="3977640"/>
            <a:ext cx="457200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REPLAY-SAFE BY DESIGN</a:t>
            </a:r>
            <a:endParaRPr lang="en-US" sz="1100" dirty="0"/>
          </a:p>
        </p:txBody>
      </p:sp>
      <p:sp>
        <p:nvSpPr>
          <p:cNvPr id="21" name="Text 19"/>
          <p:cNvSpPr/>
          <p:nvPr/>
        </p:nvSpPr>
        <p:spPr>
          <a:xfrm>
            <a:off x="822960" y="4343400"/>
            <a:ext cx="4937760" cy="1691640"/>
          </a:xfrm>
          <a:prstGeom prst="rect">
            <a:avLst/>
          </a:prstGeom>
          <a:noFill/>
          <a:ln/>
        </p:spPr>
        <p:txBody>
          <a:bodyPr wrap="square" rtlCol="0" anchor="ctr"/>
          <a:lstStyle/>
          <a:p>
            <a:pPr indent="0" marL="0">
              <a:lnSpc>
                <a:spcPct val="135000"/>
              </a:lnSpc>
              <a:buNone/>
            </a:pPr>
            <a:r>
              <a:rPr lang="en-US" sz="1100" dirty="0">
                <a:solidFill>
                  <a:srgbClr val="16323A"/>
                </a:solidFill>
                <a:latin typeface="Calibri" pitchFamily="34" charset="0"/>
                <a:ea typeface="Calibri" pitchFamily="34" charset="-122"/>
                <a:cs typeface="Calibri" pitchFamily="34" charset="-120"/>
              </a:rPr>
              <a:t>• provider_event_id is unique — a resend of the same gateway event is detected before any write.</a:t>
            </a:r>
            <a:endParaRPr lang="en-US" sz="1100" dirty="0"/>
          </a:p>
          <a:p>
            <a:pPr indent="0" marL="0">
              <a:lnSpc>
                <a:spcPct val="135000"/>
              </a:lnSpc>
              <a:buNone/>
            </a:pPr>
            <a:r>
              <a:rPr lang="en-US" sz="1100" dirty="0">
                <a:solidFill>
                  <a:srgbClr val="16323A"/>
                </a:solidFill>
                <a:latin typeface="Calibri" pitchFamily="34" charset="0"/>
                <a:ea typeface="Calibri" pitchFamily="34" charset="-122"/>
                <a:cs typeface="Calibri" pitchFamily="34" charset="-120"/>
              </a:rPr>
              <a:t>• Duplicate events get a friendly "already handled" response instead of a second Payment row.</a:t>
            </a:r>
            <a:endParaRPr lang="en-US" sz="1100" dirty="0"/>
          </a:p>
          <a:p>
            <a:pPr indent="0" marL="0">
              <a:lnSpc>
                <a:spcPct val="135000"/>
              </a:lnSpc>
              <a:buNone/>
            </a:pPr>
            <a:r>
              <a:rPr lang="en-US" sz="1100" dirty="0">
                <a:solidFill>
                  <a:srgbClr val="16323A"/>
                </a:solidFill>
                <a:latin typeface="Calibri" pitchFamily="34" charset="0"/>
                <a:ea typeface="Calibri" pitchFamily="34" charset="-122"/>
                <a:cs typeface="Calibri" pitchFamily="34" charset="-120"/>
              </a:rPr>
              <a:t>• The Payment event is stored, then the Booking status is transitioned — order matters for consistency.</a:t>
            </a:r>
            <a:endParaRPr lang="en-US" sz="1100" dirty="0"/>
          </a:p>
        </p:txBody>
      </p:sp>
      <p:sp>
        <p:nvSpPr>
          <p:cNvPr id="22" name="Shape 20"/>
          <p:cNvSpPr/>
          <p:nvPr/>
        </p:nvSpPr>
        <p:spPr>
          <a:xfrm>
            <a:off x="6217920" y="3794760"/>
            <a:ext cx="5394960" cy="2331720"/>
          </a:xfrm>
          <a:prstGeom prst="roundRect">
            <a:avLst>
              <a:gd name="adj" fmla="val 3922"/>
            </a:avLst>
          </a:prstGeom>
          <a:solidFill>
            <a:srgbClr val="0B2545"/>
          </a:solidFill>
          <a:ln w="12700">
            <a:solidFill>
              <a:srgbClr val="0B2545"/>
            </a:solidFill>
            <a:prstDash val="solid"/>
          </a:ln>
        </p:spPr>
      </p:sp>
      <p:sp>
        <p:nvSpPr>
          <p:cNvPr id="23" name="Text 21"/>
          <p:cNvSpPr/>
          <p:nvPr/>
        </p:nvSpPr>
        <p:spPr>
          <a:xfrm>
            <a:off x="6492240" y="3977640"/>
            <a:ext cx="457200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WHAT THE GATEWAY SENDS</a:t>
            </a:r>
            <a:endParaRPr lang="en-US" sz="1100" dirty="0"/>
          </a:p>
        </p:txBody>
      </p:sp>
      <p:sp>
        <p:nvSpPr>
          <p:cNvPr id="24" name="Shape 22"/>
          <p:cNvSpPr/>
          <p:nvPr/>
        </p:nvSpPr>
        <p:spPr>
          <a:xfrm>
            <a:off x="6492240" y="4343400"/>
            <a:ext cx="274320" cy="274320"/>
          </a:xfrm>
          <a:prstGeom prst="ellipse">
            <a:avLst/>
          </a:prstGeom>
          <a:solidFill>
            <a:srgbClr val="00A896"/>
          </a:solidFill>
          <a:ln/>
        </p:spPr>
      </p:sp>
      <p:sp>
        <p:nvSpPr>
          <p:cNvPr id="25" name="Text 23"/>
          <p:cNvSpPr/>
          <p:nvPr/>
        </p:nvSpPr>
        <p:spPr>
          <a:xfrm>
            <a:off x="6492240" y="4343400"/>
            <a:ext cx="274320" cy="274320"/>
          </a:xfrm>
          <a:prstGeom prst="rect">
            <a:avLst/>
          </a:prstGeom>
          <a:noFill/>
          <a:ln/>
        </p:spPr>
        <p:txBody>
          <a:bodyPr wrap="square"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26" name="Text 24"/>
          <p:cNvSpPr/>
          <p:nvPr/>
        </p:nvSpPr>
        <p:spPr>
          <a:xfrm>
            <a:off x="6858000" y="4297680"/>
            <a:ext cx="155448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Event ID</a:t>
            </a:r>
            <a:endParaRPr lang="en-US" sz="1150" dirty="0"/>
          </a:p>
        </p:txBody>
      </p:sp>
      <p:sp>
        <p:nvSpPr>
          <p:cNvPr id="27" name="Text 25"/>
          <p:cNvSpPr/>
          <p:nvPr/>
        </p:nvSpPr>
        <p:spPr>
          <a:xfrm>
            <a:off x="8412480" y="4297680"/>
            <a:ext cx="3063240" cy="36576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Unique identifier for this payment event</a:t>
            </a:r>
            <a:endParaRPr lang="en-US" sz="1000" dirty="0"/>
          </a:p>
        </p:txBody>
      </p:sp>
      <p:sp>
        <p:nvSpPr>
          <p:cNvPr id="28" name="Shape 26"/>
          <p:cNvSpPr/>
          <p:nvPr/>
        </p:nvSpPr>
        <p:spPr>
          <a:xfrm>
            <a:off x="6492240" y="4745736"/>
            <a:ext cx="274320" cy="274320"/>
          </a:xfrm>
          <a:prstGeom prst="ellipse">
            <a:avLst/>
          </a:prstGeom>
          <a:solidFill>
            <a:srgbClr val="00A896"/>
          </a:solidFill>
          <a:ln/>
        </p:spPr>
      </p:sp>
      <p:sp>
        <p:nvSpPr>
          <p:cNvPr id="29" name="Text 27"/>
          <p:cNvSpPr/>
          <p:nvPr/>
        </p:nvSpPr>
        <p:spPr>
          <a:xfrm>
            <a:off x="6492240" y="4745736"/>
            <a:ext cx="274320" cy="274320"/>
          </a:xfrm>
          <a:prstGeom prst="rect">
            <a:avLst/>
          </a:prstGeom>
          <a:noFill/>
          <a:ln/>
        </p:spPr>
        <p:txBody>
          <a:bodyPr wrap="square"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30" name="Text 28"/>
          <p:cNvSpPr/>
          <p:nvPr/>
        </p:nvSpPr>
        <p:spPr>
          <a:xfrm>
            <a:off x="6858000" y="4700016"/>
            <a:ext cx="155448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Booking ID</a:t>
            </a:r>
            <a:endParaRPr lang="en-US" sz="1150" dirty="0"/>
          </a:p>
        </p:txBody>
      </p:sp>
      <p:sp>
        <p:nvSpPr>
          <p:cNvPr id="31" name="Text 29"/>
          <p:cNvSpPr/>
          <p:nvPr/>
        </p:nvSpPr>
        <p:spPr>
          <a:xfrm>
            <a:off x="8412480" y="4700016"/>
            <a:ext cx="3063240" cy="36576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Which booking the payment belongs to</a:t>
            </a:r>
            <a:endParaRPr lang="en-US" sz="1000" dirty="0"/>
          </a:p>
        </p:txBody>
      </p:sp>
      <p:sp>
        <p:nvSpPr>
          <p:cNvPr id="32" name="Shape 30"/>
          <p:cNvSpPr/>
          <p:nvPr/>
        </p:nvSpPr>
        <p:spPr>
          <a:xfrm>
            <a:off x="6492240" y="5148072"/>
            <a:ext cx="274320" cy="274320"/>
          </a:xfrm>
          <a:prstGeom prst="ellipse">
            <a:avLst/>
          </a:prstGeom>
          <a:solidFill>
            <a:srgbClr val="00A896"/>
          </a:solidFill>
          <a:ln/>
        </p:spPr>
      </p:sp>
      <p:sp>
        <p:nvSpPr>
          <p:cNvPr id="33" name="Text 31"/>
          <p:cNvSpPr/>
          <p:nvPr/>
        </p:nvSpPr>
        <p:spPr>
          <a:xfrm>
            <a:off x="6492240" y="5148072"/>
            <a:ext cx="274320" cy="274320"/>
          </a:xfrm>
          <a:prstGeom prst="rect">
            <a:avLst/>
          </a:prstGeom>
          <a:noFill/>
          <a:ln/>
        </p:spPr>
        <p:txBody>
          <a:bodyPr wrap="square"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34" name="Text 32"/>
          <p:cNvSpPr/>
          <p:nvPr/>
        </p:nvSpPr>
        <p:spPr>
          <a:xfrm>
            <a:off x="6858000" y="5102352"/>
            <a:ext cx="155448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p>
        </p:txBody>
      </p:sp>
      <p:sp>
        <p:nvSpPr>
          <p:cNvPr id="35" name="Text 33"/>
          <p:cNvSpPr/>
          <p:nvPr/>
        </p:nvSpPr>
        <p:spPr>
          <a:xfrm>
            <a:off x="8412480" y="5102352"/>
            <a:ext cx="3063240" cy="36576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succeeded or failed</a:t>
            </a:r>
            <a:endParaRPr lang="en-US" sz="1000" dirty="0"/>
          </a:p>
        </p:txBody>
      </p:sp>
      <p:sp>
        <p:nvSpPr>
          <p:cNvPr id="36" name="Shape 34"/>
          <p:cNvSpPr/>
          <p:nvPr/>
        </p:nvSpPr>
        <p:spPr>
          <a:xfrm>
            <a:off x="6492240" y="5550408"/>
            <a:ext cx="274320" cy="274320"/>
          </a:xfrm>
          <a:prstGeom prst="ellipse">
            <a:avLst/>
          </a:prstGeom>
          <a:solidFill>
            <a:srgbClr val="00A896"/>
          </a:solidFill>
          <a:ln/>
        </p:spPr>
      </p:sp>
      <p:sp>
        <p:nvSpPr>
          <p:cNvPr id="37" name="Text 35"/>
          <p:cNvSpPr/>
          <p:nvPr/>
        </p:nvSpPr>
        <p:spPr>
          <a:xfrm>
            <a:off x="6492240" y="5550408"/>
            <a:ext cx="274320" cy="274320"/>
          </a:xfrm>
          <a:prstGeom prst="rect">
            <a:avLst/>
          </a:prstGeom>
          <a:noFill/>
          <a:ln/>
        </p:spPr>
        <p:txBody>
          <a:bodyPr wrap="square"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38" name="Text 36"/>
          <p:cNvSpPr/>
          <p:nvPr/>
        </p:nvSpPr>
        <p:spPr>
          <a:xfrm>
            <a:off x="6858000" y="5504688"/>
            <a:ext cx="155448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Amount</a:t>
            </a:r>
            <a:endParaRPr lang="en-US" sz="1150" dirty="0"/>
          </a:p>
        </p:txBody>
      </p:sp>
      <p:sp>
        <p:nvSpPr>
          <p:cNvPr id="39" name="Text 37"/>
          <p:cNvSpPr/>
          <p:nvPr/>
        </p:nvSpPr>
        <p:spPr>
          <a:xfrm>
            <a:off x="8412480" y="5504688"/>
            <a:ext cx="3063240" cy="36576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Amount charged</a:t>
            </a:r>
            <a:endParaRPr lang="en-US" sz="1000" dirty="0"/>
          </a:p>
        </p:txBody>
      </p:sp>
      <p:sp>
        <p:nvSpPr>
          <p:cNvPr id="40" name="Text 3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41" name="Text 3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11 · QUALITY</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Automated Testing Strategy</a:t>
            </a:r>
            <a:endParaRPr lang="en-US" sz="3200" dirty="0"/>
          </a:p>
        </p:txBody>
      </p:sp>
      <p:sp>
        <p:nvSpPr>
          <p:cNvPr id="4" name="Text 2"/>
          <p:cNvSpPr/>
          <p:nvPr/>
        </p:nvSpPr>
        <p:spPr>
          <a:xfrm>
            <a:off x="548640" y="1417320"/>
            <a:ext cx="8686800" cy="365760"/>
          </a:xfrm>
          <a:prstGeom prst="rect">
            <a:avLst/>
          </a:prstGeom>
          <a:noFill/>
          <a:ln/>
        </p:spPr>
        <p:txBody>
          <a:bodyPr wrap="square" rtlCol="0" anchor="ctr"/>
          <a:lstStyle/>
          <a:p>
            <a:pPr indent="0" marL="0">
              <a:buNone/>
            </a:pPr>
            <a:r>
              <a:rPr lang="en-US" sz="1300" dirty="0">
                <a:solidFill>
                  <a:srgbClr val="51707A"/>
                </a:solidFill>
                <a:latin typeface="Calibri" pitchFamily="34" charset="0"/>
                <a:ea typeface="Calibri" pitchFamily="34" charset="-122"/>
                <a:cs typeface="Calibri" pitchFamily="34" charset="-120"/>
              </a:rPr>
              <a:t>Pytest + FastAPI's TestClient exercise the API without a running server.</a:t>
            </a:r>
            <a:endParaRPr lang="en-US" sz="1300" dirty="0"/>
          </a:p>
        </p:txBody>
      </p:sp>
      <p:sp>
        <p:nvSpPr>
          <p:cNvPr id="5" name="Shape 3"/>
          <p:cNvSpPr/>
          <p:nvPr/>
        </p:nvSpPr>
        <p:spPr>
          <a:xfrm>
            <a:off x="548640" y="1965960"/>
            <a:ext cx="5760720" cy="4114800"/>
          </a:xfrm>
          <a:prstGeom prst="roundRect">
            <a:avLst>
              <a:gd name="adj" fmla="val 2222"/>
            </a:avLst>
          </a:prstGeom>
          <a:solidFill>
            <a:srgbClr val="FFFFFF"/>
          </a:solidFill>
          <a:ln w="12700">
            <a:solidFill>
              <a:srgbClr val="FFFFFF"/>
            </a:solidFill>
            <a:prstDash val="solid"/>
          </a:ln>
        </p:spPr>
      </p:sp>
      <p:sp>
        <p:nvSpPr>
          <p:cNvPr id="6" name="Shape 4"/>
          <p:cNvSpPr/>
          <p:nvPr/>
        </p:nvSpPr>
        <p:spPr>
          <a:xfrm>
            <a:off x="548640" y="1965960"/>
            <a:ext cx="5760720" cy="4114800"/>
          </a:xfrm>
          <a:prstGeom prst="rect">
            <a:avLst>
              <a:gd name="adj" fmla="val 2222"/>
            </a:avLst>
          </a:prstGeom>
          <a:ln w="12700">
            <a:solidFill>
              <a:srgbClr val="D7E6E4"/>
            </a:solidFill>
            <a:prstDash val="solid"/>
          </a:ln>
        </p:spPr>
      </p:sp>
      <p:sp>
        <p:nvSpPr>
          <p:cNvPr id="7" name="Text 5"/>
          <p:cNvSpPr/>
          <p:nvPr/>
        </p:nvSpPr>
        <p:spPr>
          <a:xfrm>
            <a:off x="822960" y="2148840"/>
            <a:ext cx="5212080" cy="274320"/>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IMPLEMENTED IN backend/tests/test_api.py</a:t>
            </a:r>
            <a:endParaRPr lang="en-US" sz="1050" dirty="0"/>
          </a:p>
        </p:txBody>
      </p:sp>
      <p:sp>
        <p:nvSpPr>
          <p:cNvPr id="8" name="Shape 6"/>
          <p:cNvSpPr/>
          <p:nvPr/>
        </p:nvSpPr>
        <p:spPr>
          <a:xfrm>
            <a:off x="822960" y="2560320"/>
            <a:ext cx="365760" cy="365760"/>
          </a:xfrm>
          <a:prstGeom prst="ellipse">
            <a:avLst/>
          </a:prstGeom>
          <a:solidFill>
            <a:srgbClr val="00A896"/>
          </a:solidFill>
          <a:ln/>
        </p:spPr>
      </p:sp>
      <p:sp>
        <p:nvSpPr>
          <p:cNvPr id="9" name="Text 7"/>
          <p:cNvSpPr/>
          <p:nvPr/>
        </p:nvSpPr>
        <p:spPr>
          <a:xfrm>
            <a:off x="822960" y="256032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0" name="Text 8"/>
          <p:cNvSpPr/>
          <p:nvPr/>
        </p:nvSpPr>
        <p:spPr>
          <a:xfrm>
            <a:off x="1325880" y="2514600"/>
            <a:ext cx="4846320" cy="292608"/>
          </a:xfrm>
          <a:prstGeom prst="rect">
            <a:avLst/>
          </a:prstGeom>
          <a:noFill/>
          <a:ln/>
        </p:spPr>
        <p:txBody>
          <a:bodyPr wrap="square" rtlCol="0" anchor="ctr"/>
          <a:lstStyle/>
          <a:p>
            <a:pPr indent="0" marL="0">
              <a:buNone/>
            </a:pPr>
            <a:r>
              <a:rPr lang="en-US" sz="1200" b="1" dirty="0">
                <a:solidFill>
                  <a:srgbClr val="16323A"/>
                </a:solidFill>
                <a:latin typeface="Courier New" pitchFamily="34" charset="0"/>
                <a:ea typeface="Courier New" pitchFamily="34" charset="-122"/>
                <a:cs typeface="Courier New" pitchFamily="34" charset="-120"/>
              </a:rPr>
              <a:t>test_health_check</a:t>
            </a:r>
            <a:endParaRPr lang="en-US" sz="1200" dirty="0"/>
          </a:p>
        </p:txBody>
      </p:sp>
      <p:sp>
        <p:nvSpPr>
          <p:cNvPr id="11" name="Text 9"/>
          <p:cNvSpPr/>
          <p:nvPr/>
        </p:nvSpPr>
        <p:spPr>
          <a:xfrm>
            <a:off x="1325880" y="2816352"/>
            <a:ext cx="4846320" cy="457200"/>
          </a:xfrm>
          <a:prstGeom prst="rect">
            <a:avLst/>
          </a:prstGeom>
          <a:noFill/>
          <a:ln/>
        </p:spPr>
        <p:txBody>
          <a:bodyPr wrap="square" rtlCol="0" anchor="ctr"/>
          <a:lstStyle/>
          <a:p>
            <a:pPr indent="0" marL="0">
              <a:buNone/>
            </a:pPr>
            <a:r>
              <a:rPr lang="en-US" sz="1050" dirty="0">
                <a:solidFill>
                  <a:srgbClr val="51707A"/>
                </a:solidFill>
                <a:latin typeface="Calibri" pitchFamily="34" charset="0"/>
                <a:ea typeface="Calibri" pitchFamily="34" charset="-122"/>
                <a:cs typeface="Calibri" pitchFamily="34" charset="-120"/>
              </a:rPr>
              <a:t>Confirms GET /health returns 200 and a liveness payload.</a:t>
            </a:r>
            <a:endParaRPr lang="en-US" sz="1050" dirty="0"/>
          </a:p>
        </p:txBody>
      </p:sp>
      <p:sp>
        <p:nvSpPr>
          <p:cNvPr id="12" name="Shape 10"/>
          <p:cNvSpPr/>
          <p:nvPr/>
        </p:nvSpPr>
        <p:spPr>
          <a:xfrm>
            <a:off x="822960" y="3474720"/>
            <a:ext cx="365760" cy="365760"/>
          </a:xfrm>
          <a:prstGeom prst="ellipse">
            <a:avLst/>
          </a:prstGeom>
          <a:solidFill>
            <a:srgbClr val="00A896"/>
          </a:solidFill>
          <a:ln/>
        </p:spPr>
      </p:sp>
      <p:sp>
        <p:nvSpPr>
          <p:cNvPr id="13" name="Text 11"/>
          <p:cNvSpPr/>
          <p:nvPr/>
        </p:nvSpPr>
        <p:spPr>
          <a:xfrm>
            <a:off x="822960" y="347472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4" name="Text 12"/>
          <p:cNvSpPr/>
          <p:nvPr/>
        </p:nvSpPr>
        <p:spPr>
          <a:xfrm>
            <a:off x="1325880" y="3429000"/>
            <a:ext cx="4846320" cy="292608"/>
          </a:xfrm>
          <a:prstGeom prst="rect">
            <a:avLst/>
          </a:prstGeom>
          <a:noFill/>
          <a:ln/>
        </p:spPr>
        <p:txBody>
          <a:bodyPr wrap="square" rtlCol="0" anchor="ctr"/>
          <a:lstStyle/>
          <a:p>
            <a:pPr indent="0" marL="0">
              <a:buNone/>
            </a:pPr>
            <a:r>
              <a:rPr lang="en-US" sz="1200" b="1" dirty="0">
                <a:solidFill>
                  <a:srgbClr val="16323A"/>
                </a:solidFill>
                <a:latin typeface="Courier New" pitchFamily="34" charset="0"/>
                <a:ea typeface="Courier New" pitchFamily="34" charset="-122"/>
                <a:cs typeface="Courier New" pitchFamily="34" charset="-120"/>
              </a:rPr>
              <a:t>test_booking_payload_rejects_invalid_time</a:t>
            </a:r>
            <a:endParaRPr lang="en-US" sz="1200" dirty="0"/>
          </a:p>
        </p:txBody>
      </p:sp>
      <p:sp>
        <p:nvSpPr>
          <p:cNvPr id="15" name="Text 13"/>
          <p:cNvSpPr/>
          <p:nvPr/>
        </p:nvSpPr>
        <p:spPr>
          <a:xfrm>
            <a:off x="1325880" y="3730752"/>
            <a:ext cx="4846320" cy="457200"/>
          </a:xfrm>
          <a:prstGeom prst="rect">
            <a:avLst/>
          </a:prstGeom>
          <a:noFill/>
          <a:ln/>
        </p:spPr>
        <p:txBody>
          <a:bodyPr wrap="square" rtlCol="0" anchor="ctr"/>
          <a:lstStyle/>
          <a:p>
            <a:pPr indent="0" marL="0">
              <a:buNone/>
            </a:pPr>
            <a:r>
              <a:rPr lang="en-US" sz="1050" dirty="0">
                <a:solidFill>
                  <a:srgbClr val="51707A"/>
                </a:solidFill>
                <a:latin typeface="Calibri" pitchFamily="34" charset="0"/>
                <a:ea typeface="Calibri" pitchFamily="34" charset="-122"/>
                <a:cs typeface="Calibri" pitchFamily="34" charset="-120"/>
              </a:rPr>
              <a:t>Confirms a booking with ends_at before starts_at is rejected with 422.</a:t>
            </a:r>
            <a:endParaRPr lang="en-US" sz="1050" dirty="0"/>
          </a:p>
        </p:txBody>
      </p:sp>
      <p:sp>
        <p:nvSpPr>
          <p:cNvPr id="16" name="Shape 14"/>
          <p:cNvSpPr/>
          <p:nvPr/>
        </p:nvSpPr>
        <p:spPr>
          <a:xfrm>
            <a:off x="822960" y="4434840"/>
            <a:ext cx="5212080" cy="1417320"/>
          </a:xfrm>
          <a:prstGeom prst="roundRect">
            <a:avLst>
              <a:gd name="adj" fmla="val 6452"/>
            </a:avLst>
          </a:prstGeom>
          <a:solidFill>
            <a:srgbClr val="EEF5F4"/>
          </a:solidFill>
          <a:ln w="12700">
            <a:solidFill>
              <a:srgbClr val="EEF5F4"/>
            </a:solidFill>
            <a:prstDash val="solid"/>
          </a:ln>
        </p:spPr>
      </p:sp>
      <p:sp>
        <p:nvSpPr>
          <p:cNvPr id="17" name="Text 15"/>
          <p:cNvSpPr/>
          <p:nvPr/>
        </p:nvSpPr>
        <p:spPr>
          <a:xfrm>
            <a:off x="1005840" y="4572000"/>
            <a:ext cx="484632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EXPANDING TO MEET THE 5-CASE BRIEF</a:t>
            </a:r>
            <a:endParaRPr lang="en-US" sz="1000" dirty="0"/>
          </a:p>
        </p:txBody>
      </p:sp>
      <p:sp>
        <p:nvSpPr>
          <p:cNvPr id="18" name="Text 16"/>
          <p:cNvSpPr/>
          <p:nvPr/>
        </p:nvSpPr>
        <p:spPr>
          <a:xfrm>
            <a:off x="1005840" y="4846320"/>
            <a:ext cx="4846320" cy="914400"/>
          </a:xfrm>
          <a:prstGeom prst="rect">
            <a:avLst/>
          </a:prstGeom>
          <a:noFill/>
          <a:ln/>
        </p:spPr>
        <p:txBody>
          <a:bodyPr wrap="square" rtlCol="0" anchor="ctr"/>
          <a:lstStyle/>
          <a:p>
            <a:pPr indent="0" marL="0">
              <a:lnSpc>
                <a:spcPct val="125000"/>
              </a:lnSpc>
              <a:buNone/>
            </a:pPr>
            <a:r>
              <a:rPr lang="en-US" sz="1050" dirty="0">
                <a:solidFill>
                  <a:srgbClr val="16323A"/>
                </a:solidFill>
                <a:latin typeface="Calibri" pitchFamily="34" charset="0"/>
                <a:ea typeface="Calibri" pitchFamily="34" charset="-122"/>
                <a:cs typeface="Calibri" pitchFamily="34" charset="-120"/>
              </a:rPr>
              <a:t>Next additions: overlapping-booking 409 case, webhook idempotent replay, unknown-LSA 404 case, and a successful-booking 201 happy path.</a:t>
            </a:r>
            <a:endParaRPr lang="en-US" sz="1050" dirty="0"/>
          </a:p>
        </p:txBody>
      </p:sp>
      <p:sp>
        <p:nvSpPr>
          <p:cNvPr id="19" name="Shape 17"/>
          <p:cNvSpPr/>
          <p:nvPr/>
        </p:nvSpPr>
        <p:spPr>
          <a:xfrm>
            <a:off x="6675120" y="1965960"/>
            <a:ext cx="4937760" cy="4114800"/>
          </a:xfrm>
          <a:prstGeom prst="roundRect">
            <a:avLst>
              <a:gd name="adj" fmla="val 2222"/>
            </a:avLst>
          </a:prstGeom>
          <a:solidFill>
            <a:srgbClr val="0B2545"/>
          </a:solidFill>
          <a:ln w="12700">
            <a:solidFill>
              <a:srgbClr val="0B2545"/>
            </a:solidFill>
            <a:prstDash val="solid"/>
          </a:ln>
        </p:spPr>
      </p:sp>
      <p:sp>
        <p:nvSpPr>
          <p:cNvPr id="20" name="Text 18"/>
          <p:cNvSpPr/>
          <p:nvPr/>
        </p:nvSpPr>
        <p:spPr>
          <a:xfrm>
            <a:off x="6949440" y="2148840"/>
            <a:ext cx="438912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COVERAGE MAP</a:t>
            </a:r>
            <a:endParaRPr lang="en-US" sz="1100" dirty="0"/>
          </a:p>
        </p:txBody>
      </p:sp>
      <p:sp>
        <p:nvSpPr>
          <p:cNvPr id="21" name="Shape 19"/>
          <p:cNvSpPr/>
          <p:nvPr/>
        </p:nvSpPr>
        <p:spPr>
          <a:xfrm>
            <a:off x="6949440" y="2560320"/>
            <a:ext cx="4389120" cy="1051560"/>
          </a:xfrm>
          <a:prstGeom prst="roundRect">
            <a:avLst>
              <a:gd name="adj" fmla="val 8696"/>
            </a:avLst>
          </a:prstGeom>
          <a:solidFill>
            <a:srgbClr val="0F3B5F"/>
          </a:solidFill>
          <a:ln w="12700">
            <a:solidFill>
              <a:srgbClr val="0F3B5F"/>
            </a:solidFill>
            <a:prstDash val="solid"/>
          </a:ln>
        </p:spPr>
      </p:sp>
      <p:sp>
        <p:nvSpPr>
          <p:cNvPr id="22" name="Text 20"/>
          <p:cNvSpPr/>
          <p:nvPr/>
        </p:nvSpPr>
        <p:spPr>
          <a:xfrm>
            <a:off x="7178040" y="2670048"/>
            <a:ext cx="3931920" cy="274320"/>
          </a:xfrm>
          <a:prstGeom prst="rect">
            <a:avLst/>
          </a:prstGeom>
          <a:noFill/>
          <a:ln/>
        </p:spPr>
        <p:txBody>
          <a:bodyPr wrap="square"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Success path</a:t>
            </a:r>
            <a:endParaRPr lang="en-US" sz="1250" dirty="0"/>
          </a:p>
        </p:txBody>
      </p:sp>
      <p:sp>
        <p:nvSpPr>
          <p:cNvPr id="23" name="Text 21"/>
          <p:cNvSpPr/>
          <p:nvPr/>
        </p:nvSpPr>
        <p:spPr>
          <a:xfrm>
            <a:off x="7178040" y="2999232"/>
            <a:ext cx="3931920" cy="5029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Booking created, LSA search returns results</a:t>
            </a:r>
            <a:endParaRPr lang="en-US" sz="1050" dirty="0"/>
          </a:p>
        </p:txBody>
      </p:sp>
      <p:sp>
        <p:nvSpPr>
          <p:cNvPr id="24" name="Shape 22"/>
          <p:cNvSpPr/>
          <p:nvPr/>
        </p:nvSpPr>
        <p:spPr>
          <a:xfrm>
            <a:off x="6949440" y="3767328"/>
            <a:ext cx="4389120" cy="1051560"/>
          </a:xfrm>
          <a:prstGeom prst="roundRect">
            <a:avLst>
              <a:gd name="adj" fmla="val 8696"/>
            </a:avLst>
          </a:prstGeom>
          <a:solidFill>
            <a:srgbClr val="0F3B5F"/>
          </a:solidFill>
          <a:ln w="12700">
            <a:solidFill>
              <a:srgbClr val="0F3B5F"/>
            </a:solidFill>
            <a:prstDash val="solid"/>
          </a:ln>
        </p:spPr>
      </p:sp>
      <p:sp>
        <p:nvSpPr>
          <p:cNvPr id="25" name="Text 23"/>
          <p:cNvSpPr/>
          <p:nvPr/>
        </p:nvSpPr>
        <p:spPr>
          <a:xfrm>
            <a:off x="7178040" y="3877056"/>
            <a:ext cx="3931920" cy="274320"/>
          </a:xfrm>
          <a:prstGeom prst="rect">
            <a:avLst/>
          </a:prstGeom>
          <a:noFill/>
          <a:ln/>
        </p:spPr>
        <p:txBody>
          <a:bodyPr wrap="square"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Edge case</a:t>
            </a:r>
            <a:endParaRPr lang="en-US" sz="1250" dirty="0"/>
          </a:p>
        </p:txBody>
      </p:sp>
      <p:sp>
        <p:nvSpPr>
          <p:cNvPr id="26" name="Text 24"/>
          <p:cNvSpPr/>
          <p:nvPr/>
        </p:nvSpPr>
        <p:spPr>
          <a:xfrm>
            <a:off x="7178040" y="4206240"/>
            <a:ext cx="3931920" cy="5029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Time-range validation, empty search filters</a:t>
            </a:r>
            <a:endParaRPr lang="en-US" sz="1050" dirty="0"/>
          </a:p>
        </p:txBody>
      </p:sp>
      <p:sp>
        <p:nvSpPr>
          <p:cNvPr id="27" name="Shape 25"/>
          <p:cNvSpPr/>
          <p:nvPr/>
        </p:nvSpPr>
        <p:spPr>
          <a:xfrm>
            <a:off x="6949440" y="4974336"/>
            <a:ext cx="4389120" cy="1051560"/>
          </a:xfrm>
          <a:prstGeom prst="roundRect">
            <a:avLst>
              <a:gd name="adj" fmla="val 8696"/>
            </a:avLst>
          </a:prstGeom>
          <a:solidFill>
            <a:srgbClr val="0F3B5F"/>
          </a:solidFill>
          <a:ln w="12700">
            <a:solidFill>
              <a:srgbClr val="0F3B5F"/>
            </a:solidFill>
            <a:prstDash val="solid"/>
          </a:ln>
        </p:spPr>
      </p:sp>
      <p:sp>
        <p:nvSpPr>
          <p:cNvPr id="28" name="Text 26"/>
          <p:cNvSpPr/>
          <p:nvPr/>
        </p:nvSpPr>
        <p:spPr>
          <a:xfrm>
            <a:off x="7178040" y="5084064"/>
            <a:ext cx="3931920" cy="274320"/>
          </a:xfrm>
          <a:prstGeom prst="rect">
            <a:avLst/>
          </a:prstGeom>
          <a:noFill/>
          <a:ln/>
        </p:spPr>
        <p:txBody>
          <a:bodyPr wrap="square"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Failure path</a:t>
            </a:r>
            <a:endParaRPr lang="en-US" sz="1250" dirty="0"/>
          </a:p>
        </p:txBody>
      </p:sp>
      <p:sp>
        <p:nvSpPr>
          <p:cNvPr id="29" name="Text 27"/>
          <p:cNvSpPr/>
          <p:nvPr/>
        </p:nvSpPr>
        <p:spPr>
          <a:xfrm>
            <a:off x="7178040" y="5413248"/>
            <a:ext cx="3931920" cy="5029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Double-booking conflict, invalid LSA, duplicate webhook</a:t>
            </a:r>
            <a:endParaRPr lang="en-US" sz="1050" dirty="0"/>
          </a:p>
        </p:txBody>
      </p:sp>
      <p:sp>
        <p:nvSpPr>
          <p:cNvPr id="30" name="Text 2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31" name="Text 2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12 · DELIVERY</a:t>
            </a:r>
            <a:endParaRPr lang="en-US" sz="1200" dirty="0"/>
          </a:p>
        </p:txBody>
      </p:sp>
      <p:sp>
        <p:nvSpPr>
          <p:cNvPr id="3" name="Text 1"/>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CI/CD Pipeline &amp; Tech Stack</a:t>
            </a:r>
            <a:endParaRPr lang="en-US" sz="3200" dirty="0"/>
          </a:p>
        </p:txBody>
      </p:sp>
      <p:sp>
        <p:nvSpPr>
          <p:cNvPr id="4" name="Shape 2"/>
          <p:cNvSpPr/>
          <p:nvPr/>
        </p:nvSpPr>
        <p:spPr>
          <a:xfrm>
            <a:off x="548640" y="1554480"/>
            <a:ext cx="5760720" cy="3017520"/>
          </a:xfrm>
          <a:prstGeom prst="roundRect">
            <a:avLst>
              <a:gd name="adj" fmla="val 3030"/>
            </a:avLst>
          </a:prstGeom>
          <a:solidFill>
            <a:srgbClr val="0B2545"/>
          </a:solidFill>
          <a:ln w="12700">
            <a:solidFill>
              <a:srgbClr val="0B2545"/>
            </a:solidFill>
            <a:prstDash val="solid"/>
          </a:ln>
        </p:spPr>
      </p:sp>
      <p:sp>
        <p:nvSpPr>
          <p:cNvPr id="5" name="Text 3"/>
          <p:cNvSpPr/>
          <p:nvPr/>
        </p:nvSpPr>
        <p:spPr>
          <a:xfrm>
            <a:off x="822960" y="1737360"/>
            <a:ext cx="5212080" cy="274320"/>
          </a:xfrm>
          <a:prstGeom prst="rect">
            <a:avLst/>
          </a:prstGeom>
          <a:noFill/>
          <a:ln/>
        </p:spPr>
        <p:txBody>
          <a:bodyPr wrap="square" rtlCol="0" anchor="ctr"/>
          <a:lstStyle/>
          <a:p>
            <a:pPr indent="0" marL="0">
              <a:buNone/>
            </a:pPr>
            <a:r>
              <a:rPr lang="en-US" sz="1100" b="1" spc="50" kern="0" dirty="0">
                <a:solidFill>
                  <a:srgbClr val="02C39A"/>
                </a:solidFill>
                <a:latin typeface="Calibri" pitchFamily="34" charset="0"/>
                <a:ea typeface="Calibri" pitchFamily="34" charset="-122"/>
                <a:cs typeface="Calibri" pitchFamily="34" charset="-120"/>
              </a:rPr>
              <a:t>GITHUB ACTIONS PIPELINE</a:t>
            </a:r>
            <a:endParaRPr lang="en-US" sz="1100" dirty="0"/>
          </a:p>
        </p:txBody>
      </p:sp>
      <p:sp>
        <p:nvSpPr>
          <p:cNvPr id="6" name="Shape 4"/>
          <p:cNvSpPr/>
          <p:nvPr/>
        </p:nvSpPr>
        <p:spPr>
          <a:xfrm>
            <a:off x="822960" y="2148840"/>
            <a:ext cx="347472" cy="347472"/>
          </a:xfrm>
          <a:prstGeom prst="ellipse">
            <a:avLst/>
          </a:prstGeom>
          <a:solidFill>
            <a:srgbClr val="00A896"/>
          </a:solidFill>
          <a:ln/>
        </p:spPr>
      </p:sp>
      <p:sp>
        <p:nvSpPr>
          <p:cNvPr id="7" name="Text 5"/>
          <p:cNvSpPr/>
          <p:nvPr/>
        </p:nvSpPr>
        <p:spPr>
          <a:xfrm>
            <a:off x="822960" y="2148840"/>
            <a:ext cx="347472" cy="347472"/>
          </a:xfrm>
          <a:prstGeom prst="rect">
            <a:avLst/>
          </a:prstGeom>
          <a:noFill/>
          <a:ln/>
        </p:spPr>
        <p:txBody>
          <a:bodyPr wrap="square" rtlCol="0" anchor="ctr"/>
          <a:lstStyle/>
          <a:p>
            <a:pPr algn="ctr" indent="0" marL="0">
              <a:buNone/>
            </a:pPr>
            <a:r>
              <a:rPr lang="en-US" sz="988" b="1" dirty="0">
                <a:solidFill>
                  <a:srgbClr val="0B2545"/>
                </a:solidFill>
                <a:latin typeface="Calibri" pitchFamily="34" charset="0"/>
                <a:ea typeface="Calibri" pitchFamily="34" charset="-122"/>
                <a:cs typeface="Calibri" pitchFamily="34" charset="-120"/>
              </a:rPr>
              <a:t>1</a:t>
            </a:r>
            <a:endParaRPr lang="en-US" sz="988" dirty="0"/>
          </a:p>
        </p:txBody>
      </p:sp>
      <p:sp>
        <p:nvSpPr>
          <p:cNvPr id="8" name="Text 6"/>
          <p:cNvSpPr/>
          <p:nvPr/>
        </p:nvSpPr>
        <p:spPr>
          <a:xfrm>
            <a:off x="1280160" y="2093976"/>
            <a:ext cx="493776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Trigger</a:t>
            </a:r>
            <a:endParaRPr lang="en-US" sz="1250" dirty="0"/>
          </a:p>
        </p:txBody>
      </p:sp>
      <p:sp>
        <p:nvSpPr>
          <p:cNvPr id="9" name="Text 7"/>
          <p:cNvSpPr/>
          <p:nvPr/>
        </p:nvSpPr>
        <p:spPr>
          <a:xfrm>
            <a:off x="1280160" y="2368296"/>
            <a:ext cx="4937760" cy="32004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Runs on every push and every pull request</a:t>
            </a:r>
            <a:endParaRPr lang="en-US" sz="1000" dirty="0"/>
          </a:p>
        </p:txBody>
      </p:sp>
      <p:sp>
        <p:nvSpPr>
          <p:cNvPr id="10" name="Shape 8"/>
          <p:cNvSpPr/>
          <p:nvPr/>
        </p:nvSpPr>
        <p:spPr>
          <a:xfrm>
            <a:off x="822960" y="2770632"/>
            <a:ext cx="347472" cy="347472"/>
          </a:xfrm>
          <a:prstGeom prst="ellipse">
            <a:avLst/>
          </a:prstGeom>
          <a:solidFill>
            <a:srgbClr val="00A896"/>
          </a:solidFill>
          <a:ln/>
        </p:spPr>
      </p:sp>
      <p:sp>
        <p:nvSpPr>
          <p:cNvPr id="11" name="Text 9"/>
          <p:cNvSpPr/>
          <p:nvPr/>
        </p:nvSpPr>
        <p:spPr>
          <a:xfrm>
            <a:off x="822960" y="2770632"/>
            <a:ext cx="347472" cy="347472"/>
          </a:xfrm>
          <a:prstGeom prst="rect">
            <a:avLst/>
          </a:prstGeom>
          <a:noFill/>
          <a:ln/>
        </p:spPr>
        <p:txBody>
          <a:bodyPr wrap="square" rtlCol="0" anchor="ctr"/>
          <a:lstStyle/>
          <a:p>
            <a:pPr algn="ctr" indent="0" marL="0">
              <a:buNone/>
            </a:pPr>
            <a:r>
              <a:rPr lang="en-US" sz="988" b="1" dirty="0">
                <a:solidFill>
                  <a:srgbClr val="0B2545"/>
                </a:solidFill>
                <a:latin typeface="Calibri" pitchFamily="34" charset="0"/>
                <a:ea typeface="Calibri" pitchFamily="34" charset="-122"/>
                <a:cs typeface="Calibri" pitchFamily="34" charset="-120"/>
              </a:rPr>
              <a:t>2</a:t>
            </a:r>
            <a:endParaRPr lang="en-US" sz="988" dirty="0"/>
          </a:p>
        </p:txBody>
      </p:sp>
      <p:sp>
        <p:nvSpPr>
          <p:cNvPr id="12" name="Text 10"/>
          <p:cNvSpPr/>
          <p:nvPr/>
        </p:nvSpPr>
        <p:spPr>
          <a:xfrm>
            <a:off x="1280160" y="2715768"/>
            <a:ext cx="493776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Set up Python 3.12</a:t>
            </a:r>
            <a:endParaRPr lang="en-US" sz="1250" dirty="0"/>
          </a:p>
        </p:txBody>
      </p:sp>
      <p:sp>
        <p:nvSpPr>
          <p:cNvPr id="13" name="Text 11"/>
          <p:cNvSpPr/>
          <p:nvPr/>
        </p:nvSpPr>
        <p:spPr>
          <a:xfrm>
            <a:off x="1280160" y="2990088"/>
            <a:ext cx="4937760" cy="32004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Fresh Ubuntu runner, backend/ as the working directory</a:t>
            </a:r>
            <a:endParaRPr lang="en-US" sz="1000" dirty="0"/>
          </a:p>
        </p:txBody>
      </p:sp>
      <p:sp>
        <p:nvSpPr>
          <p:cNvPr id="14" name="Shape 12"/>
          <p:cNvSpPr/>
          <p:nvPr/>
        </p:nvSpPr>
        <p:spPr>
          <a:xfrm>
            <a:off x="822960" y="3392424"/>
            <a:ext cx="347472" cy="347472"/>
          </a:xfrm>
          <a:prstGeom prst="ellipse">
            <a:avLst/>
          </a:prstGeom>
          <a:solidFill>
            <a:srgbClr val="00A896"/>
          </a:solidFill>
          <a:ln/>
        </p:spPr>
      </p:sp>
      <p:sp>
        <p:nvSpPr>
          <p:cNvPr id="15" name="Text 13"/>
          <p:cNvSpPr/>
          <p:nvPr/>
        </p:nvSpPr>
        <p:spPr>
          <a:xfrm>
            <a:off x="822960" y="3392424"/>
            <a:ext cx="347472" cy="347472"/>
          </a:xfrm>
          <a:prstGeom prst="rect">
            <a:avLst/>
          </a:prstGeom>
          <a:noFill/>
          <a:ln/>
        </p:spPr>
        <p:txBody>
          <a:bodyPr wrap="square" rtlCol="0" anchor="ctr"/>
          <a:lstStyle/>
          <a:p>
            <a:pPr algn="ctr" indent="0" marL="0">
              <a:buNone/>
            </a:pPr>
            <a:r>
              <a:rPr lang="en-US" sz="988" b="1" dirty="0">
                <a:solidFill>
                  <a:srgbClr val="0B2545"/>
                </a:solidFill>
                <a:latin typeface="Calibri" pitchFamily="34" charset="0"/>
                <a:ea typeface="Calibri" pitchFamily="34" charset="-122"/>
                <a:cs typeface="Calibri" pitchFamily="34" charset="-120"/>
              </a:rPr>
              <a:t>3</a:t>
            </a:r>
            <a:endParaRPr lang="en-US" sz="988" dirty="0"/>
          </a:p>
        </p:txBody>
      </p:sp>
      <p:sp>
        <p:nvSpPr>
          <p:cNvPr id="16" name="Text 14"/>
          <p:cNvSpPr/>
          <p:nvPr/>
        </p:nvSpPr>
        <p:spPr>
          <a:xfrm>
            <a:off x="1280160" y="3337560"/>
            <a:ext cx="493776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Install dependencies</a:t>
            </a:r>
            <a:endParaRPr lang="en-US" sz="1250" dirty="0"/>
          </a:p>
        </p:txBody>
      </p:sp>
      <p:sp>
        <p:nvSpPr>
          <p:cNvPr id="17" name="Text 15"/>
          <p:cNvSpPr/>
          <p:nvPr/>
        </p:nvSpPr>
        <p:spPr>
          <a:xfrm>
            <a:off x="1280160" y="3611880"/>
            <a:ext cx="4937760" cy="32004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pip install from requirements.txt</a:t>
            </a:r>
            <a:endParaRPr lang="en-US" sz="1000" dirty="0"/>
          </a:p>
        </p:txBody>
      </p:sp>
      <p:sp>
        <p:nvSpPr>
          <p:cNvPr id="18" name="Shape 16"/>
          <p:cNvSpPr/>
          <p:nvPr/>
        </p:nvSpPr>
        <p:spPr>
          <a:xfrm>
            <a:off x="822960" y="4014216"/>
            <a:ext cx="347472" cy="347472"/>
          </a:xfrm>
          <a:prstGeom prst="ellipse">
            <a:avLst/>
          </a:prstGeom>
          <a:solidFill>
            <a:srgbClr val="00A896"/>
          </a:solidFill>
          <a:ln/>
        </p:spPr>
      </p:sp>
      <p:sp>
        <p:nvSpPr>
          <p:cNvPr id="19" name="Text 17"/>
          <p:cNvSpPr/>
          <p:nvPr/>
        </p:nvSpPr>
        <p:spPr>
          <a:xfrm>
            <a:off x="822960" y="4014216"/>
            <a:ext cx="347472" cy="347472"/>
          </a:xfrm>
          <a:prstGeom prst="rect">
            <a:avLst/>
          </a:prstGeom>
          <a:noFill/>
          <a:ln/>
        </p:spPr>
        <p:txBody>
          <a:bodyPr wrap="square" rtlCol="0" anchor="ctr"/>
          <a:lstStyle/>
          <a:p>
            <a:pPr algn="ctr" indent="0" marL="0">
              <a:buNone/>
            </a:pPr>
            <a:r>
              <a:rPr lang="en-US" sz="988" b="1" dirty="0">
                <a:solidFill>
                  <a:srgbClr val="0B2545"/>
                </a:solidFill>
                <a:latin typeface="Calibri" pitchFamily="34" charset="0"/>
                <a:ea typeface="Calibri" pitchFamily="34" charset="-122"/>
                <a:cs typeface="Calibri" pitchFamily="34" charset="-120"/>
              </a:rPr>
              <a:t>4</a:t>
            </a:r>
            <a:endParaRPr lang="en-US" sz="988" dirty="0"/>
          </a:p>
        </p:txBody>
      </p:sp>
      <p:sp>
        <p:nvSpPr>
          <p:cNvPr id="20" name="Text 18"/>
          <p:cNvSpPr/>
          <p:nvPr/>
        </p:nvSpPr>
        <p:spPr>
          <a:xfrm>
            <a:off x="1280160" y="3959352"/>
            <a:ext cx="4937760" cy="2743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Run the test suite</a:t>
            </a:r>
            <a:endParaRPr lang="en-US" sz="1250" dirty="0"/>
          </a:p>
        </p:txBody>
      </p:sp>
      <p:sp>
        <p:nvSpPr>
          <p:cNvPr id="21" name="Text 19"/>
          <p:cNvSpPr/>
          <p:nvPr/>
        </p:nvSpPr>
        <p:spPr>
          <a:xfrm>
            <a:off x="1280160" y="4233672"/>
            <a:ext cx="4937760" cy="320040"/>
          </a:xfrm>
          <a:prstGeom prst="rect">
            <a:avLst/>
          </a:prstGeom>
          <a:noFill/>
          <a:ln/>
        </p:spPr>
        <p:txBody>
          <a:bodyPr wrap="square" rtlCol="0" anchor="ctr"/>
          <a:lstStyle/>
          <a:p>
            <a:pPr indent="0" marL="0">
              <a:buNone/>
            </a:pPr>
            <a:r>
              <a:rPr lang="en-US" sz="1000" dirty="0">
                <a:solidFill>
                  <a:srgbClr val="BFD8E0"/>
                </a:solidFill>
                <a:latin typeface="Calibri" pitchFamily="34" charset="0"/>
                <a:ea typeface="Calibri" pitchFamily="34" charset="-122"/>
                <a:cs typeface="Calibri" pitchFamily="34" charset="-120"/>
              </a:rPr>
              <a:t>pytest must pass for the job to succeed</a:t>
            </a:r>
            <a:endParaRPr lang="en-US" sz="1000" dirty="0"/>
          </a:p>
        </p:txBody>
      </p:sp>
      <p:sp>
        <p:nvSpPr>
          <p:cNvPr id="22" name="Shape 20"/>
          <p:cNvSpPr/>
          <p:nvPr/>
        </p:nvSpPr>
        <p:spPr>
          <a:xfrm>
            <a:off x="548640" y="4709160"/>
            <a:ext cx="5760720" cy="1417320"/>
          </a:xfrm>
          <a:prstGeom prst="roundRect">
            <a:avLst>
              <a:gd name="adj" fmla="val 6452"/>
            </a:avLst>
          </a:prstGeom>
          <a:solidFill>
            <a:srgbClr val="EEF5F4"/>
          </a:solidFill>
          <a:ln w="12700">
            <a:solidFill>
              <a:srgbClr val="EEF5F4"/>
            </a:solidFill>
            <a:prstDash val="solid"/>
          </a:ln>
        </p:spPr>
      </p:sp>
      <p:sp>
        <p:nvSpPr>
          <p:cNvPr id="23" name="Text 21"/>
          <p:cNvSpPr/>
          <p:nvPr/>
        </p:nvSpPr>
        <p:spPr>
          <a:xfrm>
            <a:off x="822960" y="4846320"/>
            <a:ext cx="5212080" cy="457200"/>
          </a:xfrm>
          <a:prstGeom prst="rect">
            <a:avLst/>
          </a:prstGeom>
          <a:noFill/>
          <a:ln/>
        </p:spPr>
        <p:txBody>
          <a:bodyPr wrap="square" rtlCol="0" anchor="ctr"/>
          <a:lstStyle/>
          <a:p>
            <a:pPr indent="0" marL="0">
              <a:buNone/>
            </a:pPr>
            <a:r>
              <a:rPr lang="en-US" sz="1200" b="1" dirty="0">
                <a:solidFill>
                  <a:srgbClr val="16323A"/>
                </a:solidFill>
                <a:latin typeface="Calibri" pitchFamily="34" charset="0"/>
                <a:ea typeface="Calibri" pitchFamily="34" charset="-122"/>
                <a:cs typeface="Calibri" pitchFamily="34" charset="-120"/>
              </a:rPr>
              <a:t>Runs on every push and pull request — pytest must pass before a branch is trusted for review.</a:t>
            </a:r>
            <a:endParaRPr lang="en-US" sz="1200" dirty="0"/>
          </a:p>
        </p:txBody>
      </p:sp>
      <p:sp>
        <p:nvSpPr>
          <p:cNvPr id="24" name="Text 22"/>
          <p:cNvSpPr/>
          <p:nvPr/>
        </p:nvSpPr>
        <p:spPr>
          <a:xfrm>
            <a:off x="822960" y="5303520"/>
            <a:ext cx="5212080" cy="731520"/>
          </a:xfrm>
          <a:prstGeom prst="rect">
            <a:avLst/>
          </a:prstGeom>
          <a:noFill/>
          <a:ln/>
        </p:spPr>
        <p:txBody>
          <a:bodyPr wrap="square" rtlCol="0" anchor="ctr"/>
          <a:lstStyle/>
          <a:p>
            <a:pPr indent="0" marL="0">
              <a:buNone/>
            </a:pPr>
            <a:r>
              <a:rPr lang="en-US" sz="1050" dirty="0">
                <a:solidFill>
                  <a:srgbClr val="51707A"/>
                </a:solidFill>
                <a:latin typeface="Calibri" pitchFamily="34" charset="0"/>
                <a:ea typeface="Calibri" pitchFamily="34" charset="-122"/>
                <a:cs typeface="Calibri" pitchFamily="34" charset="-120"/>
              </a:rPr>
              <a:t>This is the operational half of documentation discipline: reviewers see test status directly on the PR, not just in a README claim.</a:t>
            </a:r>
            <a:endParaRPr lang="en-US" sz="1050" dirty="0"/>
          </a:p>
        </p:txBody>
      </p:sp>
      <p:sp>
        <p:nvSpPr>
          <p:cNvPr id="25" name="Shape 23"/>
          <p:cNvSpPr/>
          <p:nvPr/>
        </p:nvSpPr>
        <p:spPr>
          <a:xfrm>
            <a:off x="6675120" y="1554480"/>
            <a:ext cx="4937760" cy="4572000"/>
          </a:xfrm>
          <a:prstGeom prst="roundRect">
            <a:avLst>
              <a:gd name="adj" fmla="val 2000"/>
            </a:avLst>
          </a:prstGeom>
          <a:solidFill>
            <a:srgbClr val="FFFFFF"/>
          </a:solidFill>
          <a:ln w="12700">
            <a:solidFill>
              <a:srgbClr val="FFFFFF"/>
            </a:solidFill>
            <a:prstDash val="solid"/>
          </a:ln>
        </p:spPr>
      </p:sp>
      <p:sp>
        <p:nvSpPr>
          <p:cNvPr id="26" name="Shape 24"/>
          <p:cNvSpPr/>
          <p:nvPr/>
        </p:nvSpPr>
        <p:spPr>
          <a:xfrm>
            <a:off x="6675120" y="1554480"/>
            <a:ext cx="4937760" cy="4572000"/>
          </a:xfrm>
          <a:prstGeom prst="rect">
            <a:avLst>
              <a:gd name="adj" fmla="val 2000"/>
            </a:avLst>
          </a:prstGeom>
          <a:ln w="12700">
            <a:solidFill>
              <a:srgbClr val="D7E6E4"/>
            </a:solidFill>
            <a:prstDash val="solid"/>
          </a:ln>
        </p:spPr>
      </p:sp>
      <p:sp>
        <p:nvSpPr>
          <p:cNvPr id="27" name="Text 25"/>
          <p:cNvSpPr/>
          <p:nvPr/>
        </p:nvSpPr>
        <p:spPr>
          <a:xfrm>
            <a:off x="6949440" y="1737360"/>
            <a:ext cx="438912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TECH STACK</a:t>
            </a:r>
            <a:endParaRPr lang="en-US" sz="1100" dirty="0"/>
          </a:p>
        </p:txBody>
      </p:sp>
      <p:sp>
        <p:nvSpPr>
          <p:cNvPr id="28" name="Shape 26"/>
          <p:cNvSpPr/>
          <p:nvPr/>
        </p:nvSpPr>
        <p:spPr>
          <a:xfrm>
            <a:off x="6949440" y="2148840"/>
            <a:ext cx="292608" cy="292608"/>
          </a:xfrm>
          <a:prstGeom prst="ellipse">
            <a:avLst/>
          </a:prstGeom>
          <a:solidFill>
            <a:srgbClr val="00A896"/>
          </a:solidFill>
          <a:ln/>
        </p:spPr>
      </p:sp>
      <p:sp>
        <p:nvSpPr>
          <p:cNvPr id="29" name="Text 27"/>
          <p:cNvSpPr/>
          <p:nvPr/>
        </p:nvSpPr>
        <p:spPr>
          <a:xfrm>
            <a:off x="6949440" y="2148840"/>
            <a:ext cx="292608" cy="292608"/>
          </a:xfrm>
          <a:prstGeom prst="rect">
            <a:avLst/>
          </a:prstGeom>
          <a:noFill/>
          <a:ln/>
        </p:spPr>
        <p:txBody>
          <a:bodyPr wrap="square" rtlCol="0" anchor="ctr"/>
          <a:lstStyle/>
          <a:p>
            <a:pPr algn="ctr" indent="0" marL="0">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30" name="Text 28"/>
          <p:cNvSpPr/>
          <p:nvPr/>
        </p:nvSpPr>
        <p:spPr>
          <a:xfrm>
            <a:off x="7360920" y="2075688"/>
            <a:ext cx="1828800" cy="438912"/>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FastAPI 0.115</a:t>
            </a:r>
            <a:endParaRPr lang="en-US" sz="1150" dirty="0"/>
          </a:p>
        </p:txBody>
      </p:sp>
      <p:sp>
        <p:nvSpPr>
          <p:cNvPr id="31" name="Text 29"/>
          <p:cNvSpPr/>
          <p:nvPr/>
        </p:nvSpPr>
        <p:spPr>
          <a:xfrm>
            <a:off x="9189720" y="2075688"/>
            <a:ext cx="2331720" cy="438912"/>
          </a:xfrm>
          <a:prstGeom prst="rect">
            <a:avLst/>
          </a:prstGeom>
          <a:noFill/>
          <a:ln/>
        </p:spPr>
        <p:txBody>
          <a:bodyPr wrap="square" rtlCol="0" anchor="ctr"/>
          <a:lstStyle/>
          <a:p>
            <a:pPr indent="0" marL="0">
              <a:buNone/>
            </a:pPr>
            <a:r>
              <a:rPr lang="en-US" sz="950" dirty="0">
                <a:solidFill>
                  <a:srgbClr val="51707A"/>
                </a:solidFill>
                <a:latin typeface="Calibri" pitchFamily="34" charset="0"/>
                <a:ea typeface="Calibri" pitchFamily="34" charset="-122"/>
                <a:cs typeface="Calibri" pitchFamily="34" charset="-120"/>
              </a:rPr>
              <a:t>Async-ready web framework, auto OpenAPI docs</a:t>
            </a:r>
            <a:endParaRPr lang="en-US" sz="950" dirty="0"/>
          </a:p>
        </p:txBody>
      </p:sp>
      <p:sp>
        <p:nvSpPr>
          <p:cNvPr id="32" name="Shape 30"/>
          <p:cNvSpPr/>
          <p:nvPr/>
        </p:nvSpPr>
        <p:spPr>
          <a:xfrm>
            <a:off x="6949440" y="2770632"/>
            <a:ext cx="292608" cy="292608"/>
          </a:xfrm>
          <a:prstGeom prst="ellipse">
            <a:avLst/>
          </a:prstGeom>
          <a:solidFill>
            <a:srgbClr val="00A896"/>
          </a:solidFill>
          <a:ln/>
        </p:spPr>
      </p:sp>
      <p:sp>
        <p:nvSpPr>
          <p:cNvPr id="33" name="Text 31"/>
          <p:cNvSpPr/>
          <p:nvPr/>
        </p:nvSpPr>
        <p:spPr>
          <a:xfrm>
            <a:off x="6949440" y="2770632"/>
            <a:ext cx="292608" cy="292608"/>
          </a:xfrm>
          <a:prstGeom prst="rect">
            <a:avLst/>
          </a:prstGeom>
          <a:noFill/>
          <a:ln/>
        </p:spPr>
        <p:txBody>
          <a:bodyPr wrap="square" rtlCol="0" anchor="ctr"/>
          <a:lstStyle/>
          <a:p>
            <a:pPr algn="ctr" indent="0" marL="0">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34" name="Text 32"/>
          <p:cNvSpPr/>
          <p:nvPr/>
        </p:nvSpPr>
        <p:spPr>
          <a:xfrm>
            <a:off x="7360920" y="2697480"/>
            <a:ext cx="1828800" cy="438912"/>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SQLAlchemy 2.0</a:t>
            </a:r>
            <a:endParaRPr lang="en-US" sz="1150" dirty="0"/>
          </a:p>
        </p:txBody>
      </p:sp>
      <p:sp>
        <p:nvSpPr>
          <p:cNvPr id="35" name="Text 33"/>
          <p:cNvSpPr/>
          <p:nvPr/>
        </p:nvSpPr>
        <p:spPr>
          <a:xfrm>
            <a:off x="9189720" y="2697480"/>
            <a:ext cx="2331720" cy="438912"/>
          </a:xfrm>
          <a:prstGeom prst="rect">
            <a:avLst/>
          </a:prstGeom>
          <a:noFill/>
          <a:ln/>
        </p:spPr>
        <p:txBody>
          <a:bodyPr wrap="square" rtlCol="0" anchor="ctr"/>
          <a:lstStyle/>
          <a:p>
            <a:pPr indent="0" marL="0">
              <a:buNone/>
            </a:pPr>
            <a:r>
              <a:rPr lang="en-US" sz="950" dirty="0">
                <a:solidFill>
                  <a:srgbClr val="51707A"/>
                </a:solidFill>
                <a:latin typeface="Calibri" pitchFamily="34" charset="0"/>
                <a:ea typeface="Calibri" pitchFamily="34" charset="-122"/>
                <a:cs typeface="Calibri" pitchFamily="34" charset="-120"/>
              </a:rPr>
              <a:t>Typed ORM with Mapped[] column declarations</a:t>
            </a:r>
            <a:endParaRPr lang="en-US" sz="950" dirty="0"/>
          </a:p>
        </p:txBody>
      </p:sp>
      <p:sp>
        <p:nvSpPr>
          <p:cNvPr id="36" name="Shape 34"/>
          <p:cNvSpPr/>
          <p:nvPr/>
        </p:nvSpPr>
        <p:spPr>
          <a:xfrm>
            <a:off x="6949440" y="3392424"/>
            <a:ext cx="292608" cy="292608"/>
          </a:xfrm>
          <a:prstGeom prst="ellipse">
            <a:avLst/>
          </a:prstGeom>
          <a:solidFill>
            <a:srgbClr val="00A896"/>
          </a:solidFill>
          <a:ln/>
        </p:spPr>
      </p:sp>
      <p:sp>
        <p:nvSpPr>
          <p:cNvPr id="37" name="Text 35"/>
          <p:cNvSpPr/>
          <p:nvPr/>
        </p:nvSpPr>
        <p:spPr>
          <a:xfrm>
            <a:off x="6949440" y="3392424"/>
            <a:ext cx="292608" cy="292608"/>
          </a:xfrm>
          <a:prstGeom prst="rect">
            <a:avLst/>
          </a:prstGeom>
          <a:noFill/>
          <a:ln/>
        </p:spPr>
        <p:txBody>
          <a:bodyPr wrap="square" rtlCol="0" anchor="ctr"/>
          <a:lstStyle/>
          <a:p>
            <a:pPr algn="ctr" indent="0" marL="0">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38" name="Text 36"/>
          <p:cNvSpPr/>
          <p:nvPr/>
        </p:nvSpPr>
        <p:spPr>
          <a:xfrm>
            <a:off x="7360920" y="3319272"/>
            <a:ext cx="1828800" cy="438912"/>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Pydantic 2.10</a:t>
            </a:r>
            <a:endParaRPr lang="en-US" sz="1150" dirty="0"/>
          </a:p>
        </p:txBody>
      </p:sp>
      <p:sp>
        <p:nvSpPr>
          <p:cNvPr id="39" name="Text 37"/>
          <p:cNvSpPr/>
          <p:nvPr/>
        </p:nvSpPr>
        <p:spPr>
          <a:xfrm>
            <a:off x="9189720" y="3319272"/>
            <a:ext cx="2331720" cy="438912"/>
          </a:xfrm>
          <a:prstGeom prst="rect">
            <a:avLst/>
          </a:prstGeom>
          <a:noFill/>
          <a:ln/>
        </p:spPr>
        <p:txBody>
          <a:bodyPr wrap="square" rtlCol="0" anchor="ctr"/>
          <a:lstStyle/>
          <a:p>
            <a:pPr indent="0" marL="0">
              <a:buNone/>
            </a:pPr>
            <a:r>
              <a:rPr lang="en-US" sz="950" dirty="0">
                <a:solidFill>
                  <a:srgbClr val="51707A"/>
                </a:solidFill>
                <a:latin typeface="Calibri" pitchFamily="34" charset="0"/>
                <a:ea typeface="Calibri" pitchFamily="34" charset="-122"/>
                <a:cs typeface="Calibri" pitchFamily="34" charset="-120"/>
              </a:rPr>
              <a:t>Request/response validation &amp; serialization</a:t>
            </a:r>
            <a:endParaRPr lang="en-US" sz="950" dirty="0"/>
          </a:p>
        </p:txBody>
      </p:sp>
      <p:sp>
        <p:nvSpPr>
          <p:cNvPr id="40" name="Shape 38"/>
          <p:cNvSpPr/>
          <p:nvPr/>
        </p:nvSpPr>
        <p:spPr>
          <a:xfrm>
            <a:off x="6949440" y="4014216"/>
            <a:ext cx="292608" cy="292608"/>
          </a:xfrm>
          <a:prstGeom prst="ellipse">
            <a:avLst/>
          </a:prstGeom>
          <a:solidFill>
            <a:srgbClr val="00A896"/>
          </a:solidFill>
          <a:ln/>
        </p:spPr>
      </p:sp>
      <p:sp>
        <p:nvSpPr>
          <p:cNvPr id="41" name="Text 39"/>
          <p:cNvSpPr/>
          <p:nvPr/>
        </p:nvSpPr>
        <p:spPr>
          <a:xfrm>
            <a:off x="6949440" y="4014216"/>
            <a:ext cx="292608" cy="292608"/>
          </a:xfrm>
          <a:prstGeom prst="rect">
            <a:avLst/>
          </a:prstGeom>
          <a:noFill/>
          <a:ln/>
        </p:spPr>
        <p:txBody>
          <a:bodyPr wrap="square" rtlCol="0" anchor="ctr"/>
          <a:lstStyle/>
          <a:p>
            <a:pPr algn="ctr" indent="0" marL="0">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42" name="Text 40"/>
          <p:cNvSpPr/>
          <p:nvPr/>
        </p:nvSpPr>
        <p:spPr>
          <a:xfrm>
            <a:off x="7360920" y="3941064"/>
            <a:ext cx="1828800" cy="438912"/>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PostgreSQL (Supabase)</a:t>
            </a:r>
            <a:endParaRPr lang="en-US" sz="1150" dirty="0"/>
          </a:p>
        </p:txBody>
      </p:sp>
      <p:sp>
        <p:nvSpPr>
          <p:cNvPr id="43" name="Text 41"/>
          <p:cNvSpPr/>
          <p:nvPr/>
        </p:nvSpPr>
        <p:spPr>
          <a:xfrm>
            <a:off x="9189720" y="3941064"/>
            <a:ext cx="2331720" cy="438912"/>
          </a:xfrm>
          <a:prstGeom prst="rect">
            <a:avLst/>
          </a:prstGeom>
          <a:noFill/>
          <a:ln/>
        </p:spPr>
        <p:txBody>
          <a:bodyPr wrap="square" rtlCol="0" anchor="ctr"/>
          <a:lstStyle/>
          <a:p>
            <a:pPr indent="0" marL="0">
              <a:buNone/>
            </a:pPr>
            <a:r>
              <a:rPr lang="en-US" sz="950" dirty="0">
                <a:solidFill>
                  <a:srgbClr val="51707A"/>
                </a:solidFill>
                <a:latin typeface="Calibri" pitchFamily="34" charset="0"/>
                <a:ea typeface="Calibri" pitchFamily="34" charset="-122"/>
                <a:cs typeface="Calibri" pitchFamily="34" charset="-120"/>
              </a:rPr>
              <a:t>Production DB with exclusion constraints &amp; RLS</a:t>
            </a:r>
            <a:endParaRPr lang="en-US" sz="950" dirty="0"/>
          </a:p>
        </p:txBody>
      </p:sp>
      <p:sp>
        <p:nvSpPr>
          <p:cNvPr id="44" name="Shape 42"/>
          <p:cNvSpPr/>
          <p:nvPr/>
        </p:nvSpPr>
        <p:spPr>
          <a:xfrm>
            <a:off x="6949440" y="4636008"/>
            <a:ext cx="292608" cy="292608"/>
          </a:xfrm>
          <a:prstGeom prst="ellipse">
            <a:avLst/>
          </a:prstGeom>
          <a:solidFill>
            <a:srgbClr val="00A896"/>
          </a:solidFill>
          <a:ln/>
        </p:spPr>
      </p:sp>
      <p:sp>
        <p:nvSpPr>
          <p:cNvPr id="45" name="Text 43"/>
          <p:cNvSpPr/>
          <p:nvPr/>
        </p:nvSpPr>
        <p:spPr>
          <a:xfrm>
            <a:off x="6949440" y="4636008"/>
            <a:ext cx="292608" cy="292608"/>
          </a:xfrm>
          <a:prstGeom prst="rect">
            <a:avLst/>
          </a:prstGeom>
          <a:noFill/>
          <a:ln/>
        </p:spPr>
        <p:txBody>
          <a:bodyPr wrap="square" rtlCol="0" anchor="ctr"/>
          <a:lstStyle/>
          <a:p>
            <a:pPr algn="ctr" indent="0" marL="0">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46" name="Text 44"/>
          <p:cNvSpPr/>
          <p:nvPr/>
        </p:nvSpPr>
        <p:spPr>
          <a:xfrm>
            <a:off x="7360920" y="4562856"/>
            <a:ext cx="1828800" cy="438912"/>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pytest 8.3</a:t>
            </a:r>
            <a:endParaRPr lang="en-US" sz="1150" dirty="0"/>
          </a:p>
        </p:txBody>
      </p:sp>
      <p:sp>
        <p:nvSpPr>
          <p:cNvPr id="47" name="Text 45"/>
          <p:cNvSpPr/>
          <p:nvPr/>
        </p:nvSpPr>
        <p:spPr>
          <a:xfrm>
            <a:off x="9189720" y="4562856"/>
            <a:ext cx="2331720" cy="438912"/>
          </a:xfrm>
          <a:prstGeom prst="rect">
            <a:avLst/>
          </a:prstGeom>
          <a:noFill/>
          <a:ln/>
        </p:spPr>
        <p:txBody>
          <a:bodyPr wrap="square" rtlCol="0" anchor="ctr"/>
          <a:lstStyle/>
          <a:p>
            <a:pPr indent="0" marL="0">
              <a:buNone/>
            </a:pPr>
            <a:r>
              <a:rPr lang="en-US" sz="950" dirty="0">
                <a:solidFill>
                  <a:srgbClr val="51707A"/>
                </a:solidFill>
                <a:latin typeface="Calibri" pitchFamily="34" charset="0"/>
                <a:ea typeface="Calibri" pitchFamily="34" charset="-122"/>
                <a:cs typeface="Calibri" pitchFamily="34" charset="-120"/>
              </a:rPr>
              <a:t>Test runner used in CI</a:t>
            </a:r>
            <a:endParaRPr lang="en-US" sz="950" dirty="0"/>
          </a:p>
        </p:txBody>
      </p:sp>
      <p:sp>
        <p:nvSpPr>
          <p:cNvPr id="48" name="Shape 46"/>
          <p:cNvSpPr/>
          <p:nvPr/>
        </p:nvSpPr>
        <p:spPr>
          <a:xfrm>
            <a:off x="6949440" y="5257800"/>
            <a:ext cx="292608" cy="292608"/>
          </a:xfrm>
          <a:prstGeom prst="ellipse">
            <a:avLst/>
          </a:prstGeom>
          <a:solidFill>
            <a:srgbClr val="00A896"/>
          </a:solidFill>
          <a:ln/>
        </p:spPr>
      </p:sp>
      <p:sp>
        <p:nvSpPr>
          <p:cNvPr id="49" name="Text 47"/>
          <p:cNvSpPr/>
          <p:nvPr/>
        </p:nvSpPr>
        <p:spPr>
          <a:xfrm>
            <a:off x="6949440" y="5257800"/>
            <a:ext cx="292608" cy="292608"/>
          </a:xfrm>
          <a:prstGeom prst="rect">
            <a:avLst/>
          </a:prstGeom>
          <a:noFill/>
          <a:ln/>
        </p:spPr>
        <p:txBody>
          <a:bodyPr wrap="square" rtlCol="0" anchor="ctr"/>
          <a:lstStyle/>
          <a:p>
            <a:pPr algn="ctr" indent="0" marL="0">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50" name="Text 48"/>
          <p:cNvSpPr/>
          <p:nvPr/>
        </p:nvSpPr>
        <p:spPr>
          <a:xfrm>
            <a:off x="7360920" y="5184648"/>
            <a:ext cx="1828800" cy="438912"/>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GitHub Actions</a:t>
            </a:r>
            <a:endParaRPr lang="en-US" sz="1150" dirty="0"/>
          </a:p>
        </p:txBody>
      </p:sp>
      <p:sp>
        <p:nvSpPr>
          <p:cNvPr id="51" name="Text 49"/>
          <p:cNvSpPr/>
          <p:nvPr/>
        </p:nvSpPr>
        <p:spPr>
          <a:xfrm>
            <a:off x="9189720" y="5184648"/>
            <a:ext cx="2331720" cy="438912"/>
          </a:xfrm>
          <a:prstGeom prst="rect">
            <a:avLst/>
          </a:prstGeom>
          <a:noFill/>
          <a:ln/>
        </p:spPr>
        <p:txBody>
          <a:bodyPr wrap="square" rtlCol="0" anchor="ctr"/>
          <a:lstStyle/>
          <a:p>
            <a:pPr indent="0" marL="0">
              <a:buNone/>
            </a:pPr>
            <a:r>
              <a:rPr lang="en-US" sz="950" dirty="0">
                <a:solidFill>
                  <a:srgbClr val="51707A"/>
                </a:solidFill>
                <a:latin typeface="Calibri" pitchFamily="34" charset="0"/>
                <a:ea typeface="Calibri" pitchFamily="34" charset="-122"/>
                <a:cs typeface="Calibri" pitchFamily="34" charset="-120"/>
              </a:rPr>
              <a:t>Automated test pipeline on push / PR</a:t>
            </a:r>
            <a:endParaRPr lang="en-US" sz="950" dirty="0"/>
          </a:p>
        </p:txBody>
      </p:sp>
      <p:sp>
        <p:nvSpPr>
          <p:cNvPr id="52" name="Text 50"/>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1707A"/>
                </a:solidFill>
                <a:latin typeface="Calibri" pitchFamily="34" charset="0"/>
                <a:ea typeface="Calibri" pitchFamily="34" charset="-122"/>
                <a:cs typeface="Calibri" pitchFamily="34" charset="-120"/>
              </a:rPr>
              <a:t>HaboConnect — Python Backend Developer Project</a:t>
            </a:r>
            <a:endParaRPr lang="en-US" sz="900" dirty="0"/>
          </a:p>
        </p:txBody>
      </p:sp>
      <p:sp>
        <p:nvSpPr>
          <p:cNvPr id="53" name="Text 5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170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0F3B5F"/>
          </a:solidFill>
          <a:ln/>
        </p:spPr>
      </p:sp>
      <p:sp>
        <p:nvSpPr>
          <p:cNvPr id="3" name="Shape 1"/>
          <p:cNvSpPr/>
          <p:nvPr/>
        </p:nvSpPr>
        <p:spPr>
          <a:xfrm>
            <a:off x="-1463040" y="4206240"/>
            <a:ext cx="4023360" cy="4023360"/>
          </a:xfrm>
          <a:prstGeom prst="ellipse">
            <a:avLst/>
          </a:prstGeom>
          <a:solidFill>
            <a:srgbClr val="0E3555"/>
          </a:solidFill>
          <a:ln/>
        </p:spPr>
      </p:sp>
      <p:sp>
        <p:nvSpPr>
          <p:cNvPr id="4" name="Text 2"/>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13 · WRAP-UP</a:t>
            </a:r>
            <a:endParaRPr lang="en-US" sz="1200" dirty="0"/>
          </a:p>
        </p:txBody>
      </p:sp>
      <p:sp>
        <p:nvSpPr>
          <p:cNvPr id="5" name="Text 3"/>
          <p:cNvSpPr/>
          <p:nvPr/>
        </p:nvSpPr>
        <p:spPr>
          <a:xfrm>
            <a:off x="548640" y="777240"/>
            <a:ext cx="106070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Repository, Documentation &amp; Thank You</a:t>
            </a:r>
            <a:endParaRPr lang="en-US" sz="3200" dirty="0"/>
          </a:p>
        </p:txBody>
      </p:sp>
      <p:sp>
        <p:nvSpPr>
          <p:cNvPr id="6" name="Shape 4"/>
          <p:cNvSpPr/>
          <p:nvPr/>
        </p:nvSpPr>
        <p:spPr>
          <a:xfrm>
            <a:off x="548640" y="1645920"/>
            <a:ext cx="6400800" cy="1920240"/>
          </a:xfrm>
          <a:prstGeom prst="roundRect">
            <a:avLst>
              <a:gd name="adj" fmla="val 5714"/>
            </a:avLst>
          </a:prstGeom>
          <a:solidFill>
            <a:srgbClr val="0F3B5F"/>
          </a:solidFill>
          <a:ln w="12700">
            <a:solidFill>
              <a:srgbClr val="0F3B5F"/>
            </a:solidFill>
            <a:prstDash val="solid"/>
          </a:ln>
        </p:spPr>
      </p:sp>
      <p:sp>
        <p:nvSpPr>
          <p:cNvPr id="7" name="Text 5"/>
          <p:cNvSpPr/>
          <p:nvPr/>
        </p:nvSpPr>
        <p:spPr>
          <a:xfrm>
            <a:off x="822960" y="1828800"/>
            <a:ext cx="566928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REPOSITORY</a:t>
            </a:r>
            <a:endParaRPr lang="en-US" sz="1100" dirty="0"/>
          </a:p>
        </p:txBody>
      </p:sp>
      <p:sp>
        <p:nvSpPr>
          <p:cNvPr id="8" name="Text 6"/>
          <p:cNvSpPr/>
          <p:nvPr/>
        </p:nvSpPr>
        <p:spPr>
          <a:xfrm>
            <a:off x="822960" y="2148840"/>
            <a:ext cx="5669280"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github.com/Sakshi04bari/HaboConnect</a:t>
            </a:r>
            <a:endParaRPr lang="en-US" sz="1800" dirty="0"/>
          </a:p>
        </p:txBody>
      </p:sp>
      <p:sp>
        <p:nvSpPr>
          <p:cNvPr id="9" name="Text 7"/>
          <p:cNvSpPr/>
          <p:nvPr/>
        </p:nvSpPr>
        <p:spPr>
          <a:xfrm>
            <a:off x="822960" y="2606040"/>
            <a:ext cx="5852160" cy="777240"/>
          </a:xfrm>
          <a:prstGeom prst="rect">
            <a:avLst/>
          </a:prstGeom>
          <a:noFill/>
          <a:ln/>
        </p:spPr>
        <p:txBody>
          <a:bodyPr wrap="square" rtlCol="0" anchor="ctr"/>
          <a:lstStyle/>
          <a:p>
            <a:pPr indent="0" marL="0">
              <a:buNone/>
            </a:pPr>
            <a:r>
              <a:rPr lang="en-US" sz="1150" dirty="0">
                <a:solidFill>
                  <a:srgbClr val="BFD8E0"/>
                </a:solidFill>
                <a:latin typeface="Calibri" pitchFamily="34" charset="0"/>
                <a:ea typeface="Calibri" pitchFamily="34" charset="-122"/>
                <a:cs typeface="Calibri" pitchFamily="34" charset="-120"/>
              </a:rPr>
              <a:t>Includes backend/ (FastAPI service), Supabase migration SQL, and a GitHub Actions test workflow.</a:t>
            </a:r>
            <a:endParaRPr lang="en-US" sz="1150" dirty="0"/>
          </a:p>
        </p:txBody>
      </p:sp>
      <p:sp>
        <p:nvSpPr>
          <p:cNvPr id="10" name="Shape 8"/>
          <p:cNvSpPr/>
          <p:nvPr/>
        </p:nvSpPr>
        <p:spPr>
          <a:xfrm>
            <a:off x="548640" y="3749040"/>
            <a:ext cx="6400800" cy="2377440"/>
          </a:xfrm>
          <a:prstGeom prst="roundRect">
            <a:avLst>
              <a:gd name="adj" fmla="val 4615"/>
            </a:avLst>
          </a:prstGeom>
          <a:solidFill>
            <a:srgbClr val="0F3B5F"/>
          </a:solidFill>
          <a:ln w="12700">
            <a:solidFill>
              <a:srgbClr val="0F3B5F"/>
            </a:solidFill>
            <a:prstDash val="solid"/>
          </a:ln>
        </p:spPr>
      </p:sp>
      <p:sp>
        <p:nvSpPr>
          <p:cNvPr id="11" name="Text 9"/>
          <p:cNvSpPr/>
          <p:nvPr/>
        </p:nvSpPr>
        <p:spPr>
          <a:xfrm>
            <a:off x="822960" y="3931920"/>
            <a:ext cx="566928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README HIGHLIGHTS</a:t>
            </a:r>
            <a:endParaRPr lang="en-US" sz="1100" dirty="0"/>
          </a:p>
        </p:txBody>
      </p:sp>
      <p:sp>
        <p:nvSpPr>
          <p:cNvPr id="12" name="Text 10"/>
          <p:cNvSpPr/>
          <p:nvPr/>
        </p:nvSpPr>
        <p:spPr>
          <a:xfrm>
            <a:off x="822960" y="4251960"/>
            <a:ext cx="5852160" cy="1737360"/>
          </a:xfrm>
          <a:prstGeom prst="rect">
            <a:avLst/>
          </a:prstGeom>
          <a:noFill/>
          <a:ln/>
        </p:spPr>
        <p:txBody>
          <a:bodyPr wrap="square" rtlCol="0" anchor="ctr"/>
          <a:lstStyle/>
          <a:p>
            <a:pPr indent="0" marL="0">
              <a:lnSpc>
                <a:spcPct val="135000"/>
              </a:lnSpc>
              <a:buNone/>
            </a:pPr>
            <a:r>
              <a:rPr lang="en-US" sz="1150" dirty="0">
                <a:solidFill>
                  <a:srgbClr val="CADCFC"/>
                </a:solidFill>
                <a:latin typeface="Calibri" pitchFamily="34" charset="0"/>
                <a:ea typeface="Calibri" pitchFamily="34" charset="-122"/>
                <a:cs typeface="Calibri" pitchFamily="34" charset="-120"/>
              </a:rPr>
              <a:t>• Local setup: venv → pip install -r requirements.txt → uvicorn app.main:app --reload</a:t>
            </a:r>
            <a:endParaRPr lang="en-US" sz="1150" dirty="0"/>
          </a:p>
          <a:p>
            <a:pPr indent="0" marL="0">
              <a:lnSpc>
                <a:spcPct val="135000"/>
              </a:lnSpc>
              <a:buNone/>
            </a:pPr>
            <a:r>
              <a:rPr lang="en-US" sz="1150" dirty="0">
                <a:solidFill>
                  <a:srgbClr val="CADCFC"/>
                </a:solidFill>
                <a:latin typeface="Calibri" pitchFamily="34" charset="0"/>
                <a:ea typeface="Calibri" pitchFamily="34" charset="-122"/>
                <a:cs typeface="Calibri" pitchFamily="34" charset="-120"/>
              </a:rPr>
              <a:t>• SUPABASE_DB_URL switches from local SQLite to hosted Postgres</a:t>
            </a:r>
            <a:endParaRPr lang="en-US" sz="1150" dirty="0"/>
          </a:p>
          <a:p>
            <a:pPr indent="0" marL="0">
              <a:lnSpc>
                <a:spcPct val="135000"/>
              </a:lnSpc>
              <a:buNone/>
            </a:pPr>
            <a:r>
              <a:rPr lang="en-US" sz="1150" dirty="0">
                <a:solidFill>
                  <a:srgbClr val="CADCFC"/>
                </a:solidFill>
                <a:latin typeface="Calibri" pitchFamily="34" charset="0"/>
                <a:ea typeface="Calibri" pitchFamily="34" charset="-122"/>
                <a:cs typeface="Calibri" pitchFamily="34" charset="-120"/>
              </a:rPr>
              <a:t>• Endpoint reference, design-choice rationale, and pytest instructions included</a:t>
            </a:r>
            <a:endParaRPr lang="en-US" sz="1150" dirty="0"/>
          </a:p>
        </p:txBody>
      </p:sp>
      <p:sp>
        <p:nvSpPr>
          <p:cNvPr id="13" name="Shape 11"/>
          <p:cNvSpPr/>
          <p:nvPr/>
        </p:nvSpPr>
        <p:spPr>
          <a:xfrm>
            <a:off x="7269480" y="1645920"/>
            <a:ext cx="4343400" cy="4480560"/>
          </a:xfrm>
          <a:prstGeom prst="roundRect">
            <a:avLst>
              <a:gd name="adj" fmla="val 2947"/>
            </a:avLst>
          </a:prstGeom>
          <a:solidFill>
            <a:srgbClr val="028090"/>
          </a:solidFill>
          <a:ln w="12700">
            <a:solidFill>
              <a:srgbClr val="028090"/>
            </a:solidFill>
            <a:prstDash val="solid"/>
          </a:ln>
        </p:spPr>
      </p:sp>
      <p:sp>
        <p:nvSpPr>
          <p:cNvPr id="14" name="Text 12"/>
          <p:cNvSpPr/>
          <p:nvPr/>
        </p:nvSpPr>
        <p:spPr>
          <a:xfrm>
            <a:off x="7543800" y="1965960"/>
            <a:ext cx="3794760" cy="45720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5" name="Text 13"/>
          <p:cNvSpPr/>
          <p:nvPr/>
        </p:nvSpPr>
        <p:spPr>
          <a:xfrm>
            <a:off x="7543800" y="2514600"/>
            <a:ext cx="3794760" cy="822960"/>
          </a:xfrm>
          <a:prstGeom prst="rect">
            <a:avLst/>
          </a:prstGeom>
          <a:noFill/>
          <a:ln/>
        </p:spPr>
        <p:txBody>
          <a:bodyPr wrap="square" rtlCol="0" anchor="ctr"/>
          <a:lstStyle/>
          <a:p>
            <a:pPr indent="0" marL="0">
              <a:buNone/>
            </a:pPr>
            <a:r>
              <a:rPr lang="en-US" sz="1250" dirty="0">
                <a:solidFill>
                  <a:srgbClr val="E5F3F0"/>
                </a:solidFill>
                <a:latin typeface="Calibri" pitchFamily="34" charset="0"/>
                <a:ea typeface="Calibri" pitchFamily="34" charset="-122"/>
                <a:cs typeface="Calibri" pitchFamily="34" charset="-120"/>
              </a:rPr>
              <a:t>Questions welcome — happy to walk through any endpoint, migration, or design trade-off live.</a:t>
            </a:r>
            <a:endParaRPr lang="en-US" sz="1250" dirty="0"/>
          </a:p>
        </p:txBody>
      </p:sp>
      <p:sp>
        <p:nvSpPr>
          <p:cNvPr id="16" name="Shape 14"/>
          <p:cNvSpPr/>
          <p:nvPr/>
        </p:nvSpPr>
        <p:spPr>
          <a:xfrm>
            <a:off x="7543800" y="3520440"/>
            <a:ext cx="3291840" cy="0"/>
          </a:xfrm>
          <a:prstGeom prst="line">
            <a:avLst/>
          </a:prstGeom>
          <a:noFill/>
          <a:ln w="12700">
            <a:solidFill>
              <a:srgbClr val="FFFFFF">
                <a:alpha val="40000"/>
              </a:srgbClr>
            </a:solidFill>
            <a:prstDash val="solid"/>
          </a:ln>
        </p:spPr>
      </p:sp>
      <p:sp>
        <p:nvSpPr>
          <p:cNvPr id="17" name="Text 15"/>
          <p:cNvSpPr/>
          <p:nvPr/>
        </p:nvSpPr>
        <p:spPr>
          <a:xfrm>
            <a:off x="7543800" y="3749040"/>
            <a:ext cx="3794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Sakshi Bari</a:t>
            </a:r>
            <a:endParaRPr lang="en-US" sz="1500" dirty="0"/>
          </a:p>
        </p:txBody>
      </p:sp>
      <p:sp>
        <p:nvSpPr>
          <p:cNvPr id="18" name="Text 16"/>
          <p:cNvSpPr/>
          <p:nvPr/>
        </p:nvSpPr>
        <p:spPr>
          <a:xfrm>
            <a:off x="7543800" y="4114800"/>
            <a:ext cx="3794760" cy="320040"/>
          </a:xfrm>
          <a:prstGeom prst="rect">
            <a:avLst/>
          </a:prstGeom>
          <a:noFill/>
          <a:ln/>
        </p:spPr>
        <p:txBody>
          <a:bodyPr wrap="square" rtlCol="0" anchor="ctr"/>
          <a:lstStyle/>
          <a:p>
            <a:pPr indent="0" marL="0">
              <a:buNone/>
            </a:pPr>
            <a:r>
              <a:rPr lang="en-US" sz="1200" dirty="0">
                <a:solidFill>
                  <a:srgbClr val="E5F3F0"/>
                </a:solidFill>
                <a:latin typeface="Calibri" pitchFamily="34" charset="0"/>
                <a:ea typeface="Calibri" pitchFamily="34" charset="-122"/>
                <a:cs typeface="Calibri" pitchFamily="34" charset="-120"/>
              </a:rPr>
              <a:t>sakshibari04@gmail.com</a:t>
            </a:r>
            <a:endParaRPr lang="en-US" sz="1200" dirty="0"/>
          </a:p>
        </p:txBody>
      </p:sp>
      <p:sp>
        <p:nvSpPr>
          <p:cNvPr id="19" name="Text 17"/>
          <p:cNvSpPr/>
          <p:nvPr/>
        </p:nvSpPr>
        <p:spPr>
          <a:xfrm>
            <a:off x="7543800" y="4892040"/>
            <a:ext cx="3794760" cy="320040"/>
          </a:xfrm>
          <a:prstGeom prst="rect">
            <a:avLst/>
          </a:prstGeom>
          <a:noFill/>
          <a:ln/>
        </p:spPr>
        <p:txBody>
          <a:bodyPr wrap="square" rtlCol="0" anchor="ctr"/>
          <a:lstStyle/>
          <a:p>
            <a:pPr indent="0" marL="0">
              <a:buNone/>
            </a:pPr>
            <a:r>
              <a:rPr lang="en-US" sz="1100" i="1" dirty="0">
                <a:solidFill>
                  <a:srgbClr val="E5F3F0"/>
                </a:solidFill>
                <a:latin typeface="Calibri" pitchFamily="34" charset="0"/>
                <a:ea typeface="Calibri" pitchFamily="34" charset="-122"/>
                <a:cs typeface="Calibri" pitchFamily="34" charset="-120"/>
              </a:rPr>
              <a:t>Applying for: Python Backend Developer</a:t>
            </a:r>
            <a:endParaRPr lang="en-US" sz="1100" dirty="0"/>
          </a:p>
        </p:txBody>
      </p:sp>
      <p:sp>
        <p:nvSpPr>
          <p:cNvPr id="20" name="Text 1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FB8C4"/>
                </a:solidFill>
                <a:latin typeface="Calibri" pitchFamily="34" charset="0"/>
                <a:ea typeface="Calibri" pitchFamily="34" charset="-122"/>
                <a:cs typeface="Calibri" pitchFamily="34" charset="-120"/>
              </a:rPr>
              <a:t>HaboConnect — Python Backend Developer Project</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FB8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2026-08-11T10:38:31Z</dcterms:created>
  <dcterms:modified xsi:type="dcterms:W3CDTF">2026-08-11T10:38:31Z</dcterms:modified>
</cp:coreProperties>
</file>